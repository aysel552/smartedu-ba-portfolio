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embeddedFontLs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68HCtRwR3ZBHKSolAKAZEmLX0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44B5CF-B015-4B1A-9FFF-A14D9581E6F3}">
  <a:tblStyle styleId="{BA44B5CF-B015-4B1A-9FFF-A14D9581E6F3}"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Italic.fntdata"/><Relationship Id="rId25" Type="http://schemas.openxmlformats.org/officeDocument/2006/relationships/font" Target="fonts/RobotoMono-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Salam. Biz birinci qrupuq və SmartEdu case-i üzərində işləmişik — bu, təlim mərkəzləri üçün rəqəmsal kurs və sertifikat idarəetmə platformasıdır. Komandamız dörd nəfərdən ibarətdir: mən Elmira, ITBA lead və texniki-API analitiki; Aysel AS-IS proses analizini, Vüsalə TO-BE proses analizini, Alimə isə tələblər və QA hissəsini aparıb. Müdafiə üçün hazırladığımız artefaktlar sağda göstərilib: Business Requirements Document, Texniki Sənəd Paketi, AS-IS və TO-BE BPMN diaqramları, Requirements Traceability Matrix, test case kataloqu və UAT ssenariləri. Təqdimatı biznes problemindən başlayıb texniki həllə və test validasiyasına qədər ardıcıl şəkildə aparacağıq.</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Komanda dörd nəfərdən ibarətdir və məsuliyyətlər RACI matrisi ilə bölünüb: mən texniki analiz və API tərəfini, Aysel AS-IS prosesini, Vüsalə TO-BE prosesini, Alimə isə tələblər və QA hissəsini aparıb. Case olaraq SmartEdu-nu seçmişik. Biznes konteksti belədir: təlim mərkəzində kurs qeydiyyatı, davamiyyət, qiymətləndirmə və sertifikatlaşdırma hazırda Excel, WhatsApp və e-mail üzərindən manual idarə olunur. Əsas istifadəçilər üç roldur — tələbə, müəllim və administrator. Əsas proses zənciri: kurs yaradılır, ona sessiya təyin olunur, tələbə qeydiyyatdan keçir, davamiyyət və qiymətləndirmə qeyd olunur, nəticədə sertifikat verilir. Scope-a on üç funksional sahə daxildir. Ödəniş, mobil tətbiq, LMS inteqrasiyası, HR, AI tövsiyə və production deployment isə şüurlu şəkildə kənarda saxlanılıb — bu, cari mərhələnin fokusunu qorumaq üçündür.</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Problemi bir cümlə ilə formalaşdıraq: bu dörd proses vahid sistem üzərindən idarə olunmur, məlumat Excel fayllarında və yazışmalarda parçalanıb, capacity, prerequisite və sertifikat uyğunluğu isə əl ilə yoxlanılır. Nəticəsi gecikmə, səhv riski, təkrarlanan məlumat və görünürlüyün olmamasıdır. Biznes ehtiyacı buradan çıxır — dörd prosesi vahid, izlənilə bilən və avtomatlaşdırılmış platformada birləşdirmək. Bu ehtiyacı yeddi business need kimi kataloqlaşdırmışıq; burada dördünü göstərmişik. Uğur meyarları ölçülə bilən şəkildə müəyyən edilib: manual əməliyyatların azalması, avtomatik yoxlamalar, avtomatik sertifikat uyğunluğu və self-service izləmə. Fərziyyələr də açıq yazılıb — məsələn, tarixi məlumatların tam miqrasiyası və multi-tenant arxitektura cari scope-da deyil.</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AS-IS prosesini BPMN 2.0 ilə modelləşdirmişik. Diaqramda üç lane var: tələbə, administrator və müəllim. Tələbə WhatsApp və ya e-mail ilə müraciət edir; administrator müraciəti manual qəbul edir, kursda boş yer olub-olmadığını ayrıca Excel faylından yoxlayır, prerequisite şərtini əl ilə yoxlayır və qeydiyyatı Excel-ə yazır. Müəllim davamiyyəti ayrı cədvəldə saxlayır, qiymətləndirmə nəticələrini e-mail ilə göndərir. Sertifikat uyğunluğunu isə administrator müxtəlif faylları müqayisə edərək manual hesablayır. Buradan altı pain point çıxarmışıq. Kök səbəbləri Fishbone analizi ilə üç istiqamətə yığmışıq: proses tərəfində manual icra və handoff, texnologiya tərəfində mərkəzləşdirilmiş platforma və avtomatik qayda mexanizminin olmaması, məlumat tərəfində isə vahid mənbənin olmaması. Diqqət yetirin — bunlar simptom deyil, kök səbəbdir; TO-BE həllimiz məhz onlara cavab verir.</a:t>
            </a:r>
            <a:endParaRPr/>
          </a:p>
        </p:txBody>
      </p:sp>
      <p:sp>
        <p:nvSpPr>
          <p:cNvPr id="101" name="Google Shape;10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Stakeholder registrində on bir maraqlı tərəf var; burada qərara təsir edən beşini göstərmişik. Administrator həm təsir, həm maraq baxımından ən güclü tərəfdir — o, əsas key user-dir. Müəllim və tələbə orta təsir, güclü maraq qrupundadır. Məhsul sahibi və layihə meneceri isə qərar və koordinasiya tərəfindədir. Elicitation planında dörd metod seçmişik. Business interview — çünki AS-IS-in real axınını yalnız icraçıdan öyrənmək olar. Document analysis — mövcud Excel faylları prosesin faktiki vəziyyətini göstərir. Observation — sənəddə görünməyən addımları aşkarlamaq üçün. Və process modeling — BPMN ilə pain point-ləri vizual təsdiqləmək üçün. Aşağıda hər üç rola verdiyimiz açar suallar var. Risklər tərəfində əsas məqam odur ki, capacity və pass score kimi parametrləri Business Owner təsdiqləməlidir, legacy data üçün isə ayrıca migration planı tələb olunur.</a:t>
            </a:r>
            <a:endParaRPr/>
          </a:p>
        </p:txBody>
      </p:sp>
      <p:sp>
        <p:nvSpPr>
          <p:cNvPr id="138" name="Google Shape;1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TO-BE prosesində axın tamamilə dəyişir. Administrator kursu yaradır və əsas parametrləri — capacity, pass score, minimum davamiyyət və prerequisite — təyin edir. Tələbə yalnız OPEN statuslu kursları görür və özü qeydiyyat sorğusu göndərir. Bu andan sistem dörd yoxlamanı avtomatik aparır: registration window açıqdırmı, capacity dolubmu, eyni course instance üzrə aktiv qeydiyyat varmı və prerequisite ödənilibmi. Hamısı keçərsə, enrollment ACTIVE olur. Müəllim yalnız özünə təyin olunmuş sessiya üzrə davamiyyət və qiymətləndirmə daxil edir; sistem PASSED və ya FAILED-i pass score əsasında avtomatik təyin edir. Sonra sertifikat uyğunluğu hesablanır və elektron sertifikat unikal verification code ilə yaradılır. Sağ aşağıda status lifecycle-lar var — bunlar həm BPMN-də, həm də data modelində eyni şəkildə tətbiq olunur, yəni model və proses bir-birinə uyğundur.</a:t>
            </a:r>
            <a:endParaRPr/>
          </a:p>
        </p:txBody>
      </p:sp>
      <p:sp>
        <p:nvSpPr>
          <p:cNvPr id="199" name="Google Shape;1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Tələblər üç səviyyədə sənədləşdirilib. Funksional tələblər rol üzrə kodlanıb: FR-ADM administrator, FR-TCH müəllim, FR-STU tələbə üçün. Burada dörd kritik tələb var — məsələn, FR-STU-04 tələbəyə yalnız açıq və boş yeri olan kursları göstərməyi, FR-ADM-07 isə capacity-nin mövcud aktiv qeydiyyat sayından aşağı endirilməsinin qarşısını almağı tələb edir. Ortada user story-lər var; onlar epic-lərə qruplaşdırılıb. Sağda isə acceptance criteria Given-When-Then formatında yazılıb. Məsələn, AC-04: kataloqda müxtəlif statuslu kurslar olsa da, tələbə yalnız OPEN statuslu kursları görməlidir. AC-05 dolu instance-ın göstərilməməsini, AC-06 isə prerequisite ödənilmədikdə qeydiyyatın rədd edilməsini tələb edir. Tam siyahı BRD-nin on birinci bölməsindədir — burada yalnız açar nümunələri göstərmişik.</a:t>
            </a:r>
            <a:endParaRPr/>
          </a:p>
        </p:txBody>
      </p:sp>
      <p:sp>
        <p:nvSpPr>
          <p:cNvPr id="222" name="Google Shape;22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Biznes qaydaları kataloqunda iyirmi doqquz BR var; burada ən kritik yeddisini seçmişik. Enrollment yalnız OPEN kurs üçün mümkündür, aktiv qeydiyyat sayı capacity-ni keçə bilməz, eyni tələbənin eyni instance üzrə yalnız bir aktiv qeydiyyatı ola bilər, prerequisite ödənilməlidir, bal pass score ilə müqayisə edilir, hər sertifikat üçün unikal kod yaradılır və müəllim yalnız öz sessiyasına müdaxilə edə bilir. Ortada validasiya məntiqi entity üzrə qruplaşdırılıb — məcburi sahələr, enum-lar, FK yoxlamaları və biznes şərtləri. Sağda isə edge case kataloqundan altı ssenari var. Ən maraqlısı EC-01-dir: iki tələbə eyni anda son boş yerə sorğu göndərəndə capacity qaydası tətbiq səviyyəsində deyil, tranzaksiya və database səviyyəsində işləməlidir — əks halda race condition yaranır. EC-08 isə davamiyyət qeydi olmayan enrollment üçün sıfıra bölünmə problemini NULLIF ilə həll edir.</a:t>
            </a:r>
            <a:endParaRPr/>
          </a:p>
        </p:txBody>
      </p:sp>
      <p:sp>
        <p:nvSpPr>
          <p:cNvPr id="272" name="Google Shape;27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Texniki dizayn iki hissədən ibarətdir. Solda data model var — on entity, hamısında UUID primary key. USER əsas identifikasiya cədvəlidir, STUDENT və TEACHER ona bağlanır. COURSE kataloqdur və pass score ilə minimum davamiyyət faizini saxlayır; COURSE_INSTANCE isə konkret sessiyadır — capacity və təyin olunmuş müəllim buradadır. Modelin mərkəzi ENROLLMENT-dir: attendance bir-çox, assessment result bir-bir, certificate isə bir-sıfır-bir münasibətdə ona bağlanır. AUDIT_LOG bütün kritik dəyişiklikləri qeydə alır. Sağda API dizaynı var. Supabase REST API istifadə olunur; metod seçimi məntiqlidir — yeni resurs üçün POST, status dəyişikliyi üçün PATCH, çünki tam resurs əvəzlənmir. Aşağıda POST /enrollments üçün real request və eyni tələbə ikinci dəfə yazılmağa çalışdıqda alınan 409 Conflict cavabı göstərilib. Diqqət yetirin — bu, BR-008 qaydasının database səviyyəsində unique constraint kimi işlədiyinin sübutudur.</a:t>
            </a:r>
            <a:endParaRPr/>
          </a:p>
        </p:txBody>
      </p:sp>
      <p:sp>
        <p:nvSpPr>
          <p:cNvPr id="349" name="Google Shape;34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Texniki dizayn iki hissədən ibarətdir. Solda data model var — on entity, hamısında UUID primary key. USER əsas identifikasiya cədvəlidir, STUDENT və TEACHER ona bağlanır. COURSE kataloqdur və pass score ilə minimum davamiyyət faizini saxlayır; COURSE_INSTANCE isə konkret sessiyadır — capacity və təyin olunmuş müəllim buradadır. Modelin mərkəzi ENROLLMENT-dir: attendance bir-çox, assessment result bir-bir, certificate isə bir-sıfır-bir münasibətdə ona bağlanır. AUDIT_LOG bütün kritik dəyişiklikləri qeydə alır. Sağda API dizaynı var. Supabase REST API istifadə olunur; metod seçimi məntiqlidir — yeni resurs üçün POST, status dəyişikliyi üçün PATCH, çünki tam resurs əvəzlənmir. Aşağıda POST /enrollments üçün real request və eyni tələbə ikinci dəfə yazılmağa çalışdıqda alınan 409 Conflict cavabı göstərilib. Diqqət yetirin — bu, BR-008 qaydasının database səviyyəsində unique constraint kimi işlədiyinin sübutudur.</a:t>
            </a:r>
            <a:endParaRPr/>
          </a:p>
        </p:txBody>
      </p:sp>
      <p:sp>
        <p:nvSpPr>
          <p:cNvPr id="444" name="Google Shape;44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f756a1cb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f756a1cb8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g3f756a1cb8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Texniki dizayn iki hissədən ibarətdir. Solda data model var — on entity, hamısında UUID primary key. USER əsas identifikasiya cədvəlidir, STUDENT və TEACHER ona bağlanır. COURSE kataloqdur və pass score ilə minimum davamiyyət faizini saxlayır; COURSE_INSTANCE isə konkret sessiyadır — capacity və təyin olunmuş müəllim buradadır. Modelin mərkəzi ENROLLMENT-dir: attendance bir-çox, assessment result bir-bir, certificate isə bir-sıfır-bir münasibətdə ona bağlanır. AUDIT_LOG bütün kritik dəyişiklikləri qeydə alır. Sağda API dizaynı var. Supabase REST API istifadə olunur; metod seçimi məntiqlidir — yeni resurs üçün POST, status dəyişikliyi üçün PATCH, çünki tam resurs əvəzlənmir. Aşağıda POST /enrollments üçün real request və eyni tələbə ikinci dəfə yazılmağa çalışdıqda alınan 409 Conflict cavabı göstərilib. Diqqət yetirin — bu, BR-008 qaydasının database səviyyəsində unique constraint kimi işlədiyinin sübutudur.</a:t>
            </a:r>
            <a:endParaRPr/>
          </a:p>
        </p:txBody>
      </p:sp>
      <p:sp>
        <p:nvSpPr>
          <p:cNvPr id="464" name="Google Shape;46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Texniki dizayn iki hissədən ibarətdir. Solda data model var — on entity, hamısında UUID primary key. USER əsas identifikasiya cədvəlidir, STUDENT və TEACHER ona bağlanır. COURSE kataloqdur və pass score ilə minimum davamiyyət faizini saxlayır; COURSE_INSTANCE isə konkret sessiyadır — capacity və təyin olunmuş müəllim buradadır. Modelin mərkəzi ENROLLMENT-dir: attendance bir-çox, assessment result bir-bir, certificate isə bir-sıfır-bir münasibətdə ona bağlanır. AUDIT_LOG bütün kritik dəyişiklikləri qeydə alır. Sağda API dizaynı var. Supabase REST API istifadə olunur; metod seçimi məntiqlidir — yeni resurs üçün POST, status dəyişikliyi üçün PATCH, çünki tam resurs əvəzlənmir. Aşağıda POST /enrollments üçün real request və eyni tələbə ikinci dəfə yazılmağa çalışdıqda alınan 409 Conflict cavabı göstərilib. Diqqət yetirin — bu, BR-008 qaydasının database səviyyəsində unique constraint kimi işlədiyinin sübutudur.</a:t>
            </a:r>
            <a:endParaRPr/>
          </a:p>
        </p:txBody>
      </p:sp>
      <p:sp>
        <p:nvSpPr>
          <p:cNvPr id="478" name="Google Shape;47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Təhlükəsizlik üç təbəqədən ibarətdir: JWT autentifikasiya, rol əsaslı authorization və database səviyyəsində Row Level Security. Sonuncu ən vacibdir — auth.uid() dəyəri ilə sətir səviyyəsində ownership yoxlanılır, yəni API təbəqəsi keçilsə belə, baza icazəsiz sətri qaytarmır. Sərhədlər aydındır: student yalnız öz məlumatlarını, teacher yalnız təyin olunmuş sessiyaları, admin administrativ çıxışı, public isə yalnız verilmiş sertifikatın yoxlanılmasını əldə edir. Error kataloqu real Supabase və PostgreSQL cavabları üzərində qurulub — bunlar Postman-la test edilmiş faktiki response-lardır. İyirmi üç min beş yüz beş kodu duplicate enrollment-i, qırx iki min beş yüz bir RLS pozuntusunu, PGRST303 isə müddəti bitmiş tokeni göstərir. Test paketində otuz beş test case, on beş UAT ssenarisi və altmış üç sətirlik RTM var; giriş və çıxış meyarları da müəyyən edilib.</a:t>
            </a:r>
            <a:endParaRPr/>
          </a:p>
        </p:txBody>
      </p:sp>
      <p:sp>
        <p:nvSpPr>
          <p:cNvPr id="491" name="Google Shape;49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İzlənilirlik bizim üçün formal tələb deyil, praktik alətdir. Requirements Traceability Matrix altmış üç sətirdən ibarətdir və zəncir belədir: biznes ehtiyacı, biznes qaydası, funksional tələb, user story, texniki təsir və test case. Ekranda dörd sətir göstərmişik — hamısı BN-01 biznes ehtiyacına bağlıdır. Altmış üç sətrin hamısı tam izlənilirlik statusundadır, natamam traceability sıfırdır. Sağda impact analysis nümunəsi var. Fərz edək ki, capacity qaydası, yəni BR-001 dəyişir. Matrisdən bir baxışla görürük ki, bu, FR-ADM-07 tələbinə, POST /enrollments və PATCH /course_instances endpoint-lərinə, COURSE_INSTANCE.capacity sahəsinə, TC-13 test case-inə və MOD-COURSE-MGMT modulun aid edir. Yəni dəyişikliyin qiymətləndirilməsi saatlarla deyil, dəqiqələrlə ölçülür — bu, RTM-in real biznes dəyəridir.</a:t>
            </a:r>
            <a:endParaRPr/>
          </a:p>
        </p:txBody>
      </p:sp>
      <p:sp>
        <p:nvSpPr>
          <p:cNvPr id="549" name="Google Shape;5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Yekunda AS-IS və TO-BE arasındakı fərqi dörd istiqamətdə ümumiləşdirək. Əvvəl məlumat Excel fayllarında, WhatsApp və e-maildə parçalanmışdı — indi vahid relational bazadadır. Əvvəl capacity və prerequisite əl ilə yoxlanılırdı — indi registration window, capacity, duplicate və prerequisite avtomatik yoxlanılır. Əvvəl sertifikat uyğunluğu fayllar müqayisə edilərək hesablanırdı — indi sistem hesablayır və elektron sertifikat unikal verification code ilə verilir. Əvvəl tələbə heç bir status görə bilmirdi — indi self-service portalda hər şeyi özü izləyir. Biznes dəyəri sağda sadalanıb: manual iş və məlumat təkrarının azalması, proseslərin sürətlənməsi, qaydalara uyğunluğun sistem səviyyəsində təmin olunması, səhv riskinin azalması, şəffaflıq, self-service və audit imkanı. Bir cümlə ilə: SmartEdu parçalanmış manual kurs idarəetməsini mərkəzləşdirilmiş, avtomatlaşdırılmış və izlənilə bilən rəqəmsal platformaya çevirir.</a:t>
            </a:r>
            <a:endParaRPr/>
          </a:p>
        </p:txBody>
      </p:sp>
      <p:sp>
        <p:nvSpPr>
          <p:cNvPr id="617" name="Google Shape;61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Təqdimatımız burada başa çatır. Qısaca xülasə edim: biznes problemindən başladıq, AS-IS prosesini BPMN ilə modelləşdirdik, pain point-lərin kök səbəblərini Fishbone analizi ilə müəyyən etdik, TO-BE həllini qurduq, tələbləri user story və acceptance criteria səviyyəsinə qədər dəqiqləşdirdik, biznes qaydalarını data model və API dizaynına bağladıq, təhlükəsizlik və error handling-i real nümunələrlə göstərdik və hər şeyi izlənilirlik matrisi ilə test case-lərə qədər əlaqələndirdik. Diqqətinizə görə təşəkkür edirik — suallarınızı gözləyirik.</a:t>
            </a:r>
            <a:endParaRPr/>
          </a:p>
        </p:txBody>
      </p:sp>
      <p:sp>
        <p:nvSpPr>
          <p:cNvPr id="657" name="Google Shape;65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F"/>
        </a:solidFill>
      </p:bgPr>
    </p:bg>
    <p:spTree>
      <p:nvGrpSpPr>
        <p:cNvPr id="15" name="Shape 15"/>
        <p:cNvGrpSpPr/>
        <p:nvPr/>
      </p:nvGrpSpPr>
      <p:grpSpPr>
        <a:xfrm>
          <a:off x="0" y="0"/>
          <a:ext cx="0" cy="0"/>
          <a:chOff x="0" y="0"/>
          <a:chExt cx="0" cy="0"/>
        </a:xfrm>
      </p:grpSpPr>
      <p:sp>
        <p:nvSpPr>
          <p:cNvPr id="16" name="Google Shape;16;p1"/>
          <p:cNvSpPr/>
          <p:nvPr/>
        </p:nvSpPr>
        <p:spPr>
          <a:xfrm>
            <a:off x="685800" y="576072"/>
            <a:ext cx="2560320" cy="329184"/>
          </a:xfrm>
          <a:prstGeom prst="roundRect">
            <a:avLst>
              <a:gd fmla="val 25000" name="adj"/>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576072"/>
            <a:ext cx="256032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IT BUSINESS ANALYSIS COURSE</a:t>
            </a:r>
            <a:endParaRPr b="0" i="0" sz="850" u="none" cap="none" strike="noStrike">
              <a:solidFill>
                <a:schemeClr val="dk1"/>
              </a:solidFill>
              <a:latin typeface="Calibri"/>
              <a:ea typeface="Calibri"/>
              <a:cs typeface="Calibri"/>
              <a:sym typeface="Calibri"/>
            </a:endParaRPr>
          </a:p>
        </p:txBody>
      </p:sp>
      <p:sp>
        <p:nvSpPr>
          <p:cNvPr id="18" name="Google Shape;18;p1"/>
          <p:cNvSpPr/>
          <p:nvPr/>
        </p:nvSpPr>
        <p:spPr>
          <a:xfrm>
            <a:off x="685800" y="1353312"/>
            <a:ext cx="78638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4200"/>
              <a:buFont typeface="Arial"/>
              <a:buNone/>
            </a:pPr>
            <a:r>
              <a:rPr b="1" i="0" lang="en-US" sz="4200" u="none" cap="none" strike="noStrike">
                <a:solidFill>
                  <a:srgbClr val="232A46"/>
                </a:solidFill>
                <a:latin typeface="Arial"/>
                <a:ea typeface="Arial"/>
                <a:cs typeface="Arial"/>
                <a:sym typeface="Arial"/>
              </a:rPr>
              <a:t>Final Project Defense</a:t>
            </a:r>
            <a:endParaRPr b="0" i="0" sz="4200" u="none" cap="none" strike="noStrike">
              <a:solidFill>
                <a:schemeClr val="dk1"/>
              </a:solidFill>
              <a:latin typeface="Calibri"/>
              <a:ea typeface="Calibri"/>
              <a:cs typeface="Calibri"/>
              <a:sym typeface="Calibri"/>
            </a:endParaRPr>
          </a:p>
        </p:txBody>
      </p:sp>
      <p:sp>
        <p:nvSpPr>
          <p:cNvPr id="19" name="Google Shape;19;p1"/>
          <p:cNvSpPr/>
          <p:nvPr/>
        </p:nvSpPr>
        <p:spPr>
          <a:xfrm>
            <a:off x="685800" y="2103120"/>
            <a:ext cx="7863840" cy="4206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6BF0"/>
              </a:buClr>
              <a:buSzPts val="2100"/>
              <a:buFont typeface="Calibri"/>
              <a:buNone/>
            </a:pPr>
            <a:r>
              <a:rPr b="0" i="0" lang="en-US" sz="2100" u="none" cap="none" strike="noStrike">
                <a:solidFill>
                  <a:srgbClr val="7C6BF0"/>
                </a:solidFill>
                <a:latin typeface="Calibri"/>
                <a:ea typeface="Calibri"/>
                <a:cs typeface="Calibri"/>
                <a:sym typeface="Calibri"/>
              </a:rPr>
              <a:t>SmartEdu — Digital Course &amp; Certification Management Platform</a:t>
            </a:r>
            <a:endParaRPr b="0" i="0" sz="2100" u="none" cap="none" strike="noStrike">
              <a:solidFill>
                <a:schemeClr val="dk1"/>
              </a:solidFill>
              <a:latin typeface="Calibri"/>
              <a:ea typeface="Calibri"/>
              <a:cs typeface="Calibri"/>
              <a:sym typeface="Calibri"/>
            </a:endParaRPr>
          </a:p>
        </p:txBody>
      </p:sp>
      <p:sp>
        <p:nvSpPr>
          <p:cNvPr id="20" name="Google Shape;20;p1"/>
          <p:cNvSpPr/>
          <p:nvPr/>
        </p:nvSpPr>
        <p:spPr>
          <a:xfrm>
            <a:off x="685800" y="2834640"/>
            <a:ext cx="7863840" cy="7315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Group: 1   •   Case: SmartEdu</a:t>
            </a:r>
            <a:endParaRPr b="0" i="0" sz="1350" u="none" cap="none" strike="noStrike">
              <a:solidFill>
                <a:schemeClr val="dk1"/>
              </a:solidFill>
              <a:latin typeface="Calibri"/>
              <a:ea typeface="Calibri"/>
              <a:cs typeface="Calibri"/>
              <a:sym typeface="Calibri"/>
            </a:endParaRPr>
          </a:p>
          <a:p>
            <a:pPr indent="0" lvl="0" marL="0" marR="0" rtl="0" algn="l">
              <a:lnSpc>
                <a:spcPct val="125000"/>
              </a:lnSpc>
              <a:spcBef>
                <a:spcPts val="400"/>
              </a:spcBef>
              <a:spcAft>
                <a:spcPts val="0"/>
              </a:spcAft>
              <a:buClr>
                <a:srgbClr val="1B2333"/>
              </a:buClr>
              <a:buSzPts val="1350"/>
              <a:buFont typeface="Calibri"/>
              <a:buNone/>
            </a:pPr>
            <a:r>
              <a:rPr b="0" i="0" lang="en-US" sz="1350" u="none" cap="none" strike="noStrike">
                <a:solidFill>
                  <a:srgbClr val="1B2333"/>
                </a:solidFill>
                <a:latin typeface="Calibri"/>
                <a:ea typeface="Calibri"/>
                <a:cs typeface="Calibri"/>
                <a:sym typeface="Calibri"/>
              </a:rPr>
              <a:t>Defense date: 18  August 2026</a:t>
            </a:r>
            <a:endParaRPr b="0" i="0" sz="1350" u="none" cap="none" strike="noStrike">
              <a:solidFill>
                <a:schemeClr val="dk1"/>
              </a:solidFill>
              <a:latin typeface="Calibri"/>
              <a:ea typeface="Calibri"/>
              <a:cs typeface="Calibri"/>
              <a:sym typeface="Calibri"/>
            </a:endParaRPr>
          </a:p>
        </p:txBody>
      </p:sp>
      <p:sp>
        <p:nvSpPr>
          <p:cNvPr id="21" name="Google Shape;21;p1"/>
          <p:cNvSpPr/>
          <p:nvPr/>
        </p:nvSpPr>
        <p:spPr>
          <a:xfrm>
            <a:off x="685800" y="3840480"/>
            <a:ext cx="4937760" cy="201168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1B2333"/>
              </a:buClr>
              <a:buSzPts val="1100"/>
              <a:buFont typeface="Calibri"/>
              <a:buNone/>
            </a:pPr>
            <a:r>
              <a:rPr b="1" i="0" lang="en-US" sz="1300" u="none" cap="none" strike="noStrike">
                <a:solidFill>
                  <a:srgbClr val="1B2333"/>
                </a:solidFill>
                <a:latin typeface="Calibri"/>
                <a:ea typeface="Calibri"/>
                <a:cs typeface="Calibri"/>
                <a:sym typeface="Calibri"/>
              </a:rPr>
              <a:t>Elmira Məmmədzadə</a:t>
            </a:r>
            <a:endParaRPr b="0" i="0" sz="13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6E7480"/>
              </a:buClr>
              <a:buSzPts val="1100"/>
              <a:buFont typeface="Calibri"/>
              <a:buNone/>
            </a:pPr>
            <a:r>
              <a:rPr b="0" i="0" lang="en-US" sz="1300" u="none" cap="none" strike="noStrike">
                <a:solidFill>
                  <a:srgbClr val="6E7480"/>
                </a:solidFill>
                <a:latin typeface="Calibri"/>
                <a:ea typeface="Calibri"/>
                <a:cs typeface="Calibri"/>
                <a:sym typeface="Calibri"/>
              </a:rPr>
              <a:t>  ITBA Lead </a:t>
            </a:r>
            <a:r>
              <a:rPr b="0" i="0" lang="en-US" sz="1300" u="none" cap="none" strike="noStrike">
                <a:solidFill>
                  <a:srgbClr val="666666"/>
                </a:solidFill>
                <a:latin typeface="Calibri"/>
                <a:ea typeface="Calibri"/>
                <a:cs typeface="Calibri"/>
                <a:sym typeface="Calibri"/>
              </a:rPr>
              <a:t>/ Coordinator </a:t>
            </a:r>
            <a:endParaRPr b="0" i="0" sz="1300" u="none" cap="none" strike="noStrike">
              <a:solidFill>
                <a:srgbClr val="666666"/>
              </a:solidFill>
              <a:latin typeface="Calibri"/>
              <a:ea typeface="Calibri"/>
              <a:cs typeface="Calibri"/>
              <a:sym typeface="Calibri"/>
            </a:endParaRPr>
          </a:p>
          <a:p>
            <a:pPr indent="0" lvl="0" marL="0" marR="0" rtl="0" algn="l">
              <a:lnSpc>
                <a:spcPct val="106000"/>
              </a:lnSpc>
              <a:spcBef>
                <a:spcPts val="300"/>
              </a:spcBef>
              <a:spcAft>
                <a:spcPts val="0"/>
              </a:spcAft>
              <a:buClr>
                <a:srgbClr val="1B2333"/>
              </a:buClr>
              <a:buSzPts val="1100"/>
              <a:buFont typeface="Calibri"/>
              <a:buNone/>
            </a:pPr>
            <a:r>
              <a:rPr b="1" i="0" lang="en-US" sz="1300" u="none" cap="none" strike="noStrike">
                <a:solidFill>
                  <a:srgbClr val="1B2333"/>
                </a:solidFill>
                <a:latin typeface="Calibri"/>
                <a:ea typeface="Calibri"/>
                <a:cs typeface="Calibri"/>
                <a:sym typeface="Calibri"/>
              </a:rPr>
              <a:t>Aysel Abbasəliyeva</a:t>
            </a:r>
            <a:endParaRPr b="0" i="0" sz="13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6E7480"/>
              </a:buClr>
              <a:buSzPts val="1100"/>
              <a:buFont typeface="Calibri"/>
              <a:buNone/>
            </a:pPr>
            <a:r>
              <a:rPr b="0" i="0" lang="en-US" sz="1300" u="none" cap="none" strike="noStrike">
                <a:solidFill>
                  <a:srgbClr val="6E7480"/>
                </a:solidFill>
                <a:latin typeface="Calibri"/>
                <a:ea typeface="Calibri"/>
                <a:cs typeface="Calibri"/>
                <a:sym typeface="Calibri"/>
              </a:rPr>
              <a:t>  Technical  Analyst</a:t>
            </a:r>
            <a:endParaRPr b="0" i="0" sz="1300" u="none" cap="none" strike="noStrike">
              <a:solidFill>
                <a:schemeClr val="dk1"/>
              </a:solidFill>
              <a:latin typeface="Calibri"/>
              <a:ea typeface="Calibri"/>
              <a:cs typeface="Calibri"/>
              <a:sym typeface="Calibri"/>
            </a:endParaRPr>
          </a:p>
          <a:p>
            <a:pPr indent="0" lvl="0" marL="0" marR="0" rtl="0" algn="l">
              <a:lnSpc>
                <a:spcPct val="106000"/>
              </a:lnSpc>
              <a:spcBef>
                <a:spcPts val="300"/>
              </a:spcBef>
              <a:spcAft>
                <a:spcPts val="0"/>
              </a:spcAft>
              <a:buClr>
                <a:srgbClr val="1B2333"/>
              </a:buClr>
              <a:buSzPts val="1100"/>
              <a:buFont typeface="Calibri"/>
              <a:buNone/>
            </a:pPr>
            <a:r>
              <a:rPr b="1" i="0" lang="en-US" sz="1300" u="none" cap="none" strike="noStrike">
                <a:solidFill>
                  <a:srgbClr val="1B2333"/>
                </a:solidFill>
                <a:latin typeface="Calibri"/>
                <a:ea typeface="Calibri"/>
                <a:cs typeface="Calibri"/>
                <a:sym typeface="Calibri"/>
              </a:rPr>
              <a:t>Vüsalə Həsənzadə</a:t>
            </a:r>
            <a:endParaRPr b="0" i="0" sz="13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6E7480"/>
              </a:buClr>
              <a:buSzPts val="1100"/>
              <a:buFont typeface="Calibri"/>
              <a:buNone/>
            </a:pPr>
            <a:r>
              <a:rPr b="0" i="0" lang="en-US" sz="1300" u="none" cap="none" strike="noStrike">
                <a:solidFill>
                  <a:srgbClr val="6E7480"/>
                </a:solidFill>
                <a:latin typeface="Calibri"/>
                <a:ea typeface="Calibri"/>
                <a:cs typeface="Calibri"/>
                <a:sym typeface="Calibri"/>
              </a:rPr>
              <a:t>   Process Analyst</a:t>
            </a:r>
            <a:endParaRPr b="0" i="0" sz="1300" u="none" cap="none" strike="noStrike">
              <a:solidFill>
                <a:schemeClr val="dk1"/>
              </a:solidFill>
              <a:latin typeface="Calibri"/>
              <a:ea typeface="Calibri"/>
              <a:cs typeface="Calibri"/>
              <a:sym typeface="Calibri"/>
            </a:endParaRPr>
          </a:p>
          <a:p>
            <a:pPr indent="0" lvl="0" marL="0" marR="0" rtl="0" algn="l">
              <a:lnSpc>
                <a:spcPct val="106000"/>
              </a:lnSpc>
              <a:spcBef>
                <a:spcPts val="300"/>
              </a:spcBef>
              <a:spcAft>
                <a:spcPts val="0"/>
              </a:spcAft>
              <a:buClr>
                <a:srgbClr val="1B2333"/>
              </a:buClr>
              <a:buSzPts val="1100"/>
              <a:buFont typeface="Calibri"/>
              <a:buNone/>
            </a:pPr>
            <a:r>
              <a:rPr b="1" i="0" lang="en-US" sz="1300" u="none" cap="none" strike="noStrike">
                <a:solidFill>
                  <a:srgbClr val="1B2333"/>
                </a:solidFill>
                <a:latin typeface="Calibri"/>
                <a:ea typeface="Calibri"/>
                <a:cs typeface="Calibri"/>
                <a:sym typeface="Calibri"/>
              </a:rPr>
              <a:t>Alimə Kərimova</a:t>
            </a:r>
            <a:endParaRPr b="0" i="0" sz="13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6E7480"/>
              </a:buClr>
              <a:buSzPts val="1100"/>
              <a:buFont typeface="Calibri"/>
              <a:buNone/>
            </a:pPr>
            <a:r>
              <a:rPr b="0" i="0" lang="en-US" sz="1300" u="none" cap="none" strike="noStrike">
                <a:solidFill>
                  <a:srgbClr val="6E7480"/>
                </a:solidFill>
                <a:latin typeface="Calibri"/>
                <a:ea typeface="Calibri"/>
                <a:cs typeface="Calibri"/>
                <a:sym typeface="Calibri"/>
              </a:rPr>
              <a:t>   Requirements &amp; QA Analyst</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7466375" y="3749050"/>
            <a:ext cx="4311900" cy="1737300"/>
          </a:xfrm>
          <a:prstGeom prst="roundRect">
            <a:avLst>
              <a:gd fmla="val 3684"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8001000" y="3895344"/>
            <a:ext cx="33375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6BFF"/>
              </a:buClr>
              <a:buSzPts val="1050"/>
              <a:buFont typeface="Arial"/>
              <a:buNone/>
            </a:pPr>
            <a:r>
              <a:rPr b="1" i="0" lang="en-US" sz="1250" u="none" cap="none" strike="noStrike">
                <a:solidFill>
                  <a:srgbClr val="2F6BFF"/>
                </a:solidFill>
                <a:latin typeface="Arial"/>
                <a:ea typeface="Arial"/>
                <a:cs typeface="Arial"/>
                <a:sym typeface="Arial"/>
              </a:rPr>
              <a:t>Təqdim edilən artefaktlar</a:t>
            </a:r>
            <a:endParaRPr b="0" i="0" sz="1250" u="none" cap="none" strike="noStrike">
              <a:solidFill>
                <a:schemeClr val="dk1"/>
              </a:solidFill>
              <a:latin typeface="Calibri"/>
              <a:ea typeface="Calibri"/>
              <a:cs typeface="Calibri"/>
              <a:sym typeface="Calibri"/>
            </a:endParaRPr>
          </a:p>
        </p:txBody>
      </p:sp>
      <p:sp>
        <p:nvSpPr>
          <p:cNvPr id="24" name="Google Shape;24;p1"/>
          <p:cNvSpPr/>
          <p:nvPr/>
        </p:nvSpPr>
        <p:spPr>
          <a:xfrm>
            <a:off x="7681450" y="4242825"/>
            <a:ext cx="3994200" cy="1097400"/>
          </a:xfrm>
          <a:prstGeom prst="rect">
            <a:avLst/>
          </a:prstGeom>
          <a:noFill/>
          <a:ln>
            <a:noFill/>
          </a:ln>
        </p:spPr>
        <p:txBody>
          <a:bodyPr anchorCtr="0" anchor="t" bIns="0" lIns="0" spcFirstLastPara="1" rIns="0" wrap="square" tIns="0">
            <a:noAutofit/>
          </a:bodyPr>
          <a:lstStyle/>
          <a:p>
            <a:pPr indent="-152400" lvl="0" marL="152400" marR="0" rtl="0" algn="l">
              <a:lnSpc>
                <a:spcPct val="100000"/>
              </a:lnSpc>
              <a:spcBef>
                <a:spcPts val="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Business Requirements Document — v1.1</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Texniki Sənəd Paketi — ERD, SQL, API, OpenAPI, Security</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BPMN 2.0 — AS-IS və TO-BE</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RTM, Test Case Kataloqu və UAT ssenariləri</a:t>
            </a:r>
            <a:endParaRPr b="0" i="0" sz="114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29" name="Shape 29"/>
        <p:cNvGrpSpPr/>
        <p:nvPr/>
      </p:nvGrpSpPr>
      <p:grpSpPr>
        <a:xfrm>
          <a:off x="0" y="0"/>
          <a:ext cx="0" cy="0"/>
          <a:chOff x="0" y="0"/>
          <a:chExt cx="0" cy="0"/>
        </a:xfrm>
      </p:grpSpPr>
      <p:sp>
        <p:nvSpPr>
          <p:cNvPr id="30" name="Google Shape;30;p2"/>
          <p:cNvSpPr/>
          <p:nvPr/>
        </p:nvSpPr>
        <p:spPr>
          <a:xfrm>
            <a:off x="0" y="0"/>
            <a:ext cx="12191700" cy="13710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640080" y="402336"/>
            <a:ext cx="109116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3200" u="none" cap="none" strike="noStrike">
                <a:solidFill>
                  <a:srgbClr val="232A46"/>
                </a:solidFill>
                <a:latin typeface="Arial"/>
                <a:ea typeface="Arial"/>
                <a:cs typeface="Arial"/>
                <a:sym typeface="Arial"/>
              </a:rPr>
              <a:t>01 — Team &amp; Case Scope</a:t>
            </a:r>
            <a:endParaRPr b="0" i="0" sz="3200" u="none" cap="none" strike="noStrike">
              <a:solidFill>
                <a:schemeClr val="dk1"/>
              </a:solidFill>
              <a:latin typeface="Calibri"/>
              <a:ea typeface="Calibri"/>
              <a:cs typeface="Calibri"/>
              <a:sym typeface="Calibri"/>
            </a:endParaRPr>
          </a:p>
        </p:txBody>
      </p:sp>
      <p:sp>
        <p:nvSpPr>
          <p:cNvPr id="32" name="Google Shape;32;p2"/>
          <p:cNvSpPr/>
          <p:nvPr/>
        </p:nvSpPr>
        <p:spPr>
          <a:xfrm>
            <a:off x="640080" y="914400"/>
            <a:ext cx="1091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600" u="none" cap="none" strike="noStrike">
                <a:solidFill>
                  <a:srgbClr val="8B909C"/>
                </a:solidFill>
                <a:latin typeface="Calibri"/>
                <a:ea typeface="Calibri"/>
                <a:cs typeface="Calibri"/>
                <a:sym typeface="Calibri"/>
              </a:rPr>
              <a:t>Komanda, seçilmiş case və əhatə dairəsinin sərhədləri.</a:t>
            </a:r>
            <a:endParaRPr b="0" i="0" sz="1600" u="none" cap="none" strike="noStrike">
              <a:solidFill>
                <a:schemeClr val="dk1"/>
              </a:solidFill>
              <a:latin typeface="Calibri"/>
              <a:ea typeface="Calibri"/>
              <a:cs typeface="Calibri"/>
              <a:sym typeface="Calibri"/>
            </a:endParaRPr>
          </a:p>
        </p:txBody>
      </p:sp>
      <p:sp>
        <p:nvSpPr>
          <p:cNvPr id="33" name="Google Shape;33;p2"/>
          <p:cNvSpPr/>
          <p:nvPr/>
        </p:nvSpPr>
        <p:spPr>
          <a:xfrm>
            <a:off x="640080" y="1417320"/>
            <a:ext cx="3456300" cy="452640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 name="Google Shape;34;p2"/>
          <p:cNvSpPr/>
          <p:nvPr/>
        </p:nvSpPr>
        <p:spPr>
          <a:xfrm>
            <a:off x="822960" y="1545336"/>
            <a:ext cx="3090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600" u="none" cap="none" strike="noStrike">
                <a:solidFill>
                  <a:srgbClr val="232A46"/>
                </a:solidFill>
                <a:latin typeface="Arial"/>
                <a:ea typeface="Arial"/>
                <a:cs typeface="Arial"/>
                <a:sym typeface="Arial"/>
              </a:rPr>
              <a:t>Team Members</a:t>
            </a:r>
            <a:endParaRPr b="0" i="0" sz="1600" u="none" cap="none" strike="noStrike">
              <a:solidFill>
                <a:schemeClr val="dk1"/>
              </a:solidFill>
              <a:latin typeface="Calibri"/>
              <a:ea typeface="Calibri"/>
              <a:cs typeface="Calibri"/>
              <a:sym typeface="Calibri"/>
            </a:endParaRPr>
          </a:p>
        </p:txBody>
      </p:sp>
      <p:sp>
        <p:nvSpPr>
          <p:cNvPr id="35" name="Google Shape;35;p2"/>
          <p:cNvSpPr/>
          <p:nvPr/>
        </p:nvSpPr>
        <p:spPr>
          <a:xfrm>
            <a:off x="822960" y="1947672"/>
            <a:ext cx="32100" cy="40230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 name="Google Shape;36;p2"/>
          <p:cNvSpPr/>
          <p:nvPr/>
        </p:nvSpPr>
        <p:spPr>
          <a:xfrm>
            <a:off x="969264" y="1892808"/>
            <a:ext cx="29079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1020"/>
              <a:buFont typeface="Calibri"/>
              <a:buNone/>
            </a:pPr>
            <a:r>
              <a:rPr b="1" i="0" lang="en-US" sz="1600" u="none" cap="none" strike="noStrike">
                <a:solidFill>
                  <a:srgbClr val="232A46"/>
                </a:solidFill>
                <a:latin typeface="Calibri"/>
                <a:ea typeface="Calibri"/>
                <a:cs typeface="Calibri"/>
                <a:sym typeface="Calibri"/>
              </a:rPr>
              <a:t>Elmira Məmmədzadə</a:t>
            </a:r>
            <a:endParaRPr b="0" i="0" sz="1600" u="none" cap="none" strike="noStrike">
              <a:solidFill>
                <a:schemeClr val="dk1"/>
              </a:solidFill>
              <a:latin typeface="Calibri"/>
              <a:ea typeface="Calibri"/>
              <a:cs typeface="Calibri"/>
              <a:sym typeface="Calibri"/>
            </a:endParaRPr>
          </a:p>
        </p:txBody>
      </p:sp>
      <p:sp>
        <p:nvSpPr>
          <p:cNvPr id="37" name="Google Shape;37;p2"/>
          <p:cNvSpPr/>
          <p:nvPr/>
        </p:nvSpPr>
        <p:spPr>
          <a:xfrm>
            <a:off x="969264" y="2130552"/>
            <a:ext cx="292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400" u="none" cap="none" strike="noStrike">
                <a:solidFill>
                  <a:srgbClr val="6E7480"/>
                </a:solidFill>
                <a:latin typeface="Calibri"/>
                <a:ea typeface="Calibri"/>
                <a:cs typeface="Calibri"/>
                <a:sym typeface="Calibri"/>
              </a:rPr>
              <a:t>ITBA Lead / Coordinator</a:t>
            </a:r>
            <a:endParaRPr b="0" i="0" sz="1400" u="none" cap="none" strike="noStrike">
              <a:solidFill>
                <a:schemeClr val="dk1"/>
              </a:solidFill>
              <a:latin typeface="Calibri"/>
              <a:ea typeface="Calibri"/>
              <a:cs typeface="Calibri"/>
              <a:sym typeface="Calibri"/>
            </a:endParaRPr>
          </a:p>
        </p:txBody>
      </p:sp>
      <p:sp>
        <p:nvSpPr>
          <p:cNvPr id="38" name="Google Shape;38;p2"/>
          <p:cNvSpPr/>
          <p:nvPr/>
        </p:nvSpPr>
        <p:spPr>
          <a:xfrm>
            <a:off x="822960" y="2606040"/>
            <a:ext cx="32100" cy="40230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 name="Google Shape;39;p2"/>
          <p:cNvSpPr/>
          <p:nvPr/>
        </p:nvSpPr>
        <p:spPr>
          <a:xfrm>
            <a:off x="969264" y="2551176"/>
            <a:ext cx="29079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1020"/>
              <a:buFont typeface="Calibri"/>
              <a:buNone/>
            </a:pPr>
            <a:r>
              <a:rPr b="1" i="0" lang="en-US" sz="1600" u="none" cap="none" strike="noStrike">
                <a:solidFill>
                  <a:srgbClr val="232A46"/>
                </a:solidFill>
                <a:latin typeface="Calibri"/>
                <a:ea typeface="Calibri"/>
                <a:cs typeface="Calibri"/>
                <a:sym typeface="Calibri"/>
              </a:rPr>
              <a:t>Aysel Abbasəliyeva</a:t>
            </a:r>
            <a:endParaRPr b="0" i="0" sz="1600" u="none" cap="none" strike="noStrike">
              <a:solidFill>
                <a:schemeClr val="dk1"/>
              </a:solidFill>
              <a:latin typeface="Calibri"/>
              <a:ea typeface="Calibri"/>
              <a:cs typeface="Calibri"/>
              <a:sym typeface="Calibri"/>
            </a:endParaRPr>
          </a:p>
        </p:txBody>
      </p:sp>
      <p:sp>
        <p:nvSpPr>
          <p:cNvPr id="40" name="Google Shape;40;p2"/>
          <p:cNvSpPr/>
          <p:nvPr/>
        </p:nvSpPr>
        <p:spPr>
          <a:xfrm>
            <a:off x="969264" y="2788920"/>
            <a:ext cx="292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400" u="none" cap="none" strike="noStrike">
                <a:solidFill>
                  <a:srgbClr val="6E7480"/>
                </a:solidFill>
                <a:latin typeface="Calibri"/>
                <a:ea typeface="Calibri"/>
                <a:cs typeface="Calibri"/>
                <a:sym typeface="Calibri"/>
              </a:rPr>
              <a:t>Technical  Analyst</a:t>
            </a:r>
            <a:endParaRPr b="0" i="0" sz="1400" u="none" cap="none" strike="noStrike">
              <a:solidFill>
                <a:schemeClr val="dk1"/>
              </a:solidFill>
              <a:latin typeface="Calibri"/>
              <a:ea typeface="Calibri"/>
              <a:cs typeface="Calibri"/>
              <a:sym typeface="Calibri"/>
            </a:endParaRPr>
          </a:p>
        </p:txBody>
      </p:sp>
      <p:sp>
        <p:nvSpPr>
          <p:cNvPr id="41" name="Google Shape;41;p2"/>
          <p:cNvSpPr/>
          <p:nvPr/>
        </p:nvSpPr>
        <p:spPr>
          <a:xfrm>
            <a:off x="822960" y="3264408"/>
            <a:ext cx="32100" cy="40230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 name="Google Shape;42;p2"/>
          <p:cNvSpPr/>
          <p:nvPr/>
        </p:nvSpPr>
        <p:spPr>
          <a:xfrm>
            <a:off x="969264" y="3209544"/>
            <a:ext cx="29079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1020"/>
              <a:buFont typeface="Calibri"/>
              <a:buNone/>
            </a:pPr>
            <a:r>
              <a:rPr b="1" i="0" lang="en-US" sz="1600" u="none" cap="none" strike="noStrike">
                <a:solidFill>
                  <a:srgbClr val="232A46"/>
                </a:solidFill>
                <a:latin typeface="Calibri"/>
                <a:ea typeface="Calibri"/>
                <a:cs typeface="Calibri"/>
                <a:sym typeface="Calibri"/>
              </a:rPr>
              <a:t>Vüsalə Həsənzadə</a:t>
            </a:r>
            <a:endParaRPr b="0" i="0" sz="1600" u="none" cap="none" strike="noStrike">
              <a:solidFill>
                <a:schemeClr val="dk1"/>
              </a:solidFill>
              <a:latin typeface="Calibri"/>
              <a:ea typeface="Calibri"/>
              <a:cs typeface="Calibri"/>
              <a:sym typeface="Calibri"/>
            </a:endParaRPr>
          </a:p>
        </p:txBody>
      </p:sp>
      <p:sp>
        <p:nvSpPr>
          <p:cNvPr id="43" name="Google Shape;43;p2"/>
          <p:cNvSpPr/>
          <p:nvPr/>
        </p:nvSpPr>
        <p:spPr>
          <a:xfrm>
            <a:off x="969264" y="3447288"/>
            <a:ext cx="292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400" u="none" cap="none" strike="noStrike">
                <a:solidFill>
                  <a:srgbClr val="6E7480"/>
                </a:solidFill>
                <a:latin typeface="Calibri"/>
                <a:ea typeface="Calibri"/>
                <a:cs typeface="Calibri"/>
                <a:sym typeface="Calibri"/>
              </a:rPr>
              <a:t>Process Analyst</a:t>
            </a:r>
            <a:endParaRPr b="0" i="0" sz="1400" u="none" cap="none" strike="noStrike">
              <a:solidFill>
                <a:schemeClr val="dk1"/>
              </a:solidFill>
              <a:latin typeface="Calibri"/>
              <a:ea typeface="Calibri"/>
              <a:cs typeface="Calibri"/>
              <a:sym typeface="Calibri"/>
            </a:endParaRPr>
          </a:p>
        </p:txBody>
      </p:sp>
      <p:sp>
        <p:nvSpPr>
          <p:cNvPr id="44" name="Google Shape;44;p2"/>
          <p:cNvSpPr/>
          <p:nvPr/>
        </p:nvSpPr>
        <p:spPr>
          <a:xfrm>
            <a:off x="822960" y="3922776"/>
            <a:ext cx="32100" cy="40230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 name="Google Shape;45;p2"/>
          <p:cNvSpPr/>
          <p:nvPr/>
        </p:nvSpPr>
        <p:spPr>
          <a:xfrm>
            <a:off x="969264" y="3867912"/>
            <a:ext cx="29079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1020"/>
              <a:buFont typeface="Calibri"/>
              <a:buNone/>
            </a:pPr>
            <a:r>
              <a:rPr b="1" i="0" lang="en-US" sz="1600" u="none" cap="none" strike="noStrike">
                <a:solidFill>
                  <a:srgbClr val="232A46"/>
                </a:solidFill>
                <a:latin typeface="Calibri"/>
                <a:ea typeface="Calibri"/>
                <a:cs typeface="Calibri"/>
                <a:sym typeface="Calibri"/>
              </a:rPr>
              <a:t>Alimə Kərimova</a:t>
            </a:r>
            <a:endParaRPr b="0" i="0" sz="1600" u="none" cap="none" strike="noStrike">
              <a:solidFill>
                <a:schemeClr val="dk1"/>
              </a:solidFill>
              <a:latin typeface="Calibri"/>
              <a:ea typeface="Calibri"/>
              <a:cs typeface="Calibri"/>
              <a:sym typeface="Calibri"/>
            </a:endParaRPr>
          </a:p>
        </p:txBody>
      </p:sp>
      <p:sp>
        <p:nvSpPr>
          <p:cNvPr id="46" name="Google Shape;46;p2"/>
          <p:cNvSpPr/>
          <p:nvPr/>
        </p:nvSpPr>
        <p:spPr>
          <a:xfrm>
            <a:off x="969264" y="4105656"/>
            <a:ext cx="292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400" u="none" cap="none" strike="noStrike">
                <a:solidFill>
                  <a:srgbClr val="6E7480"/>
                </a:solidFill>
                <a:latin typeface="Calibri"/>
                <a:ea typeface="Calibri"/>
                <a:cs typeface="Calibri"/>
                <a:sym typeface="Calibri"/>
              </a:rPr>
              <a:t>Requirements &amp; QA Analyst</a:t>
            </a:r>
            <a:endParaRPr b="0" i="0" sz="1400" u="none" cap="none" strike="noStrike">
              <a:solidFill>
                <a:schemeClr val="dk1"/>
              </a:solidFill>
              <a:latin typeface="Calibri"/>
              <a:ea typeface="Calibri"/>
              <a:cs typeface="Calibri"/>
              <a:sym typeface="Calibri"/>
            </a:endParaRPr>
          </a:p>
        </p:txBody>
      </p:sp>
      <p:sp>
        <p:nvSpPr>
          <p:cNvPr id="47" name="Google Shape;47;p2"/>
          <p:cNvSpPr/>
          <p:nvPr/>
        </p:nvSpPr>
        <p:spPr>
          <a:xfrm>
            <a:off x="822960" y="4727448"/>
            <a:ext cx="30906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80"/>
              <a:buFont typeface="Calibri"/>
              <a:buNone/>
            </a:pPr>
            <a:r>
              <a:rPr b="0" i="1" lang="en-US" sz="1200" u="none" cap="none" strike="noStrike">
                <a:solidFill>
                  <a:srgbClr val="8B909C"/>
                </a:solidFill>
                <a:latin typeface="Calibri"/>
                <a:ea typeface="Calibri"/>
                <a:cs typeface="Calibri"/>
                <a:sym typeface="Calibri"/>
              </a:rPr>
              <a:t>RACI matrisi BRD-nin “Sənəd haqqında məlumat” bölməsində sənədləşdirilib.</a:t>
            </a:r>
            <a:endParaRPr b="0" i="0" sz="1200" u="none" cap="none" strike="noStrike">
              <a:solidFill>
                <a:schemeClr val="dk1"/>
              </a:solidFill>
              <a:latin typeface="Calibri"/>
              <a:ea typeface="Calibri"/>
              <a:cs typeface="Calibri"/>
              <a:sym typeface="Calibri"/>
            </a:endParaRPr>
          </a:p>
        </p:txBody>
      </p:sp>
      <p:sp>
        <p:nvSpPr>
          <p:cNvPr id="48" name="Google Shape;48;p2"/>
          <p:cNvSpPr/>
          <p:nvPr/>
        </p:nvSpPr>
        <p:spPr>
          <a:xfrm>
            <a:off x="4361688" y="1417320"/>
            <a:ext cx="3456300" cy="452640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 name="Google Shape;49;p2"/>
          <p:cNvSpPr/>
          <p:nvPr/>
        </p:nvSpPr>
        <p:spPr>
          <a:xfrm>
            <a:off x="4544568" y="1545336"/>
            <a:ext cx="3090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600" u="none" cap="none" strike="noStrike">
                <a:solidFill>
                  <a:srgbClr val="232A46"/>
                </a:solidFill>
                <a:latin typeface="Arial"/>
                <a:ea typeface="Arial"/>
                <a:cs typeface="Arial"/>
                <a:sym typeface="Arial"/>
              </a:rPr>
              <a:t>Case Overview</a:t>
            </a:r>
            <a:endParaRPr b="0" i="0" sz="1600" u="none" cap="none" strike="noStrike">
              <a:solidFill>
                <a:schemeClr val="dk1"/>
              </a:solidFill>
              <a:latin typeface="Calibri"/>
              <a:ea typeface="Calibri"/>
              <a:cs typeface="Calibri"/>
              <a:sym typeface="Calibri"/>
            </a:endParaRPr>
          </a:p>
        </p:txBody>
      </p:sp>
      <p:sp>
        <p:nvSpPr>
          <p:cNvPr id="50" name="Google Shape;50;p2"/>
          <p:cNvSpPr/>
          <p:nvPr/>
        </p:nvSpPr>
        <p:spPr>
          <a:xfrm>
            <a:off x="4544575" y="1892800"/>
            <a:ext cx="3123900" cy="3840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32A46"/>
              </a:buClr>
              <a:buSzPts val="1100"/>
              <a:buFont typeface="Calibri"/>
              <a:buNone/>
            </a:pPr>
            <a:r>
              <a:rPr b="1" i="0" lang="en-US" sz="1600" u="none" cap="none" strike="noStrike">
                <a:solidFill>
                  <a:srgbClr val="232A46"/>
                </a:solidFill>
                <a:latin typeface="Calibri"/>
                <a:ea typeface="Calibri"/>
                <a:cs typeface="Calibri"/>
                <a:sym typeface="Calibri"/>
              </a:rPr>
              <a:t>SmartEdu</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8B909C"/>
              </a:buClr>
              <a:buSzPts val="920"/>
              <a:buFont typeface="Calibri"/>
              <a:buNone/>
            </a:pPr>
            <a:r>
              <a:rPr b="0" i="0" lang="en-US" sz="1400" u="none" cap="none" strike="noStrike">
                <a:solidFill>
                  <a:srgbClr val="8B909C"/>
                </a:solidFill>
                <a:latin typeface="Calibri"/>
                <a:ea typeface="Calibri"/>
                <a:cs typeface="Calibri"/>
                <a:sym typeface="Calibri"/>
              </a:rPr>
              <a:t>Digital Course &amp; Certification Management Platform</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800"/>
              </a:spcBef>
              <a:spcAft>
                <a:spcPts val="0"/>
              </a:spcAft>
              <a:buClr>
                <a:srgbClr val="2F6BFF"/>
              </a:buClr>
              <a:buSzPts val="960"/>
              <a:buFont typeface="Calibri"/>
              <a:buNone/>
            </a:pPr>
            <a:r>
              <a:rPr b="1" i="0" lang="en-US" sz="1400" u="none" cap="none" strike="noStrike">
                <a:solidFill>
                  <a:srgbClr val="2F6BFF"/>
                </a:solidFill>
                <a:latin typeface="Calibri"/>
                <a:ea typeface="Calibri"/>
                <a:cs typeface="Calibri"/>
                <a:sym typeface="Calibri"/>
              </a:rPr>
              <a:t>Biznes konteksti</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6E7480"/>
              </a:buClr>
              <a:buSzPts val="939"/>
              <a:buFont typeface="Calibri"/>
              <a:buNone/>
            </a:pPr>
            <a:r>
              <a:rPr b="0" i="0" lang="en-US" sz="1400" u="none" cap="none" strike="noStrike">
                <a:solidFill>
                  <a:srgbClr val="6E7480"/>
                </a:solidFill>
                <a:latin typeface="Calibri"/>
                <a:ea typeface="Calibri"/>
                <a:cs typeface="Calibri"/>
                <a:sym typeface="Calibri"/>
              </a:rPr>
              <a:t>Təlim mərkəzində kurs qeydiyyatı, davamiyyət, qiymətləndirmə və sertifikatlaşdırma hazırda Excel, WhatsApp və e-mail üzərindən manual idarə olunur.</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800"/>
              </a:spcBef>
              <a:spcAft>
                <a:spcPts val="0"/>
              </a:spcAft>
              <a:buClr>
                <a:srgbClr val="2F6BFF"/>
              </a:buClr>
              <a:buSzPts val="960"/>
              <a:buFont typeface="Calibri"/>
              <a:buNone/>
            </a:pPr>
            <a:r>
              <a:rPr b="1" i="0" lang="en-US" sz="1400" u="none" cap="none" strike="noStrike">
                <a:solidFill>
                  <a:srgbClr val="2F6BFF"/>
                </a:solidFill>
                <a:latin typeface="Calibri"/>
                <a:ea typeface="Calibri"/>
                <a:cs typeface="Calibri"/>
                <a:sym typeface="Calibri"/>
              </a:rPr>
              <a:t>Əsas istifadəçilər</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6E7480"/>
              </a:buClr>
              <a:buSzPts val="939"/>
              <a:buFont typeface="Calibri"/>
              <a:buNone/>
            </a:pPr>
            <a:r>
              <a:rPr b="0" i="0" lang="en-US" sz="1400" u="none" cap="none" strike="noStrike">
                <a:solidFill>
                  <a:srgbClr val="6E7480"/>
                </a:solidFill>
                <a:latin typeface="Calibri"/>
                <a:ea typeface="Calibri"/>
                <a:cs typeface="Calibri"/>
                <a:sym typeface="Calibri"/>
              </a:rPr>
              <a:t>Student  ·  Teacher  ·  Administrator</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800"/>
              </a:spcBef>
              <a:spcAft>
                <a:spcPts val="0"/>
              </a:spcAft>
              <a:buClr>
                <a:srgbClr val="2F6BFF"/>
              </a:buClr>
              <a:buSzPts val="960"/>
              <a:buFont typeface="Calibri"/>
              <a:buNone/>
            </a:pPr>
            <a:r>
              <a:rPr b="1" i="0" lang="en-US" sz="1400" u="none" cap="none" strike="noStrike">
                <a:solidFill>
                  <a:srgbClr val="2F6BFF"/>
                </a:solidFill>
                <a:latin typeface="Calibri"/>
                <a:ea typeface="Calibri"/>
                <a:cs typeface="Calibri"/>
                <a:sym typeface="Calibri"/>
              </a:rPr>
              <a:t>Əsas proses</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6E7480"/>
              </a:buClr>
              <a:buSzPts val="939"/>
              <a:buFont typeface="Calibri"/>
              <a:buNone/>
            </a:pPr>
            <a:r>
              <a:rPr b="0" i="0" lang="en-US" sz="1400" u="none" cap="none" strike="noStrike">
                <a:solidFill>
                  <a:srgbClr val="6E7480"/>
                </a:solidFill>
                <a:latin typeface="Calibri"/>
                <a:ea typeface="Calibri"/>
                <a:cs typeface="Calibri"/>
                <a:sym typeface="Calibri"/>
              </a:rPr>
              <a:t>Course → Course Instance → Enrollment → Attendance → Assessment Result → Certificate</a:t>
            </a:r>
            <a:endParaRPr b="0" i="0" sz="1600" u="none" cap="none" strike="noStrike">
              <a:solidFill>
                <a:schemeClr val="dk1"/>
              </a:solidFill>
              <a:latin typeface="Calibri"/>
              <a:ea typeface="Calibri"/>
              <a:cs typeface="Calibri"/>
              <a:sym typeface="Calibri"/>
            </a:endParaRPr>
          </a:p>
        </p:txBody>
      </p:sp>
      <p:sp>
        <p:nvSpPr>
          <p:cNvPr id="51" name="Google Shape;51;p2"/>
          <p:cNvSpPr/>
          <p:nvPr/>
        </p:nvSpPr>
        <p:spPr>
          <a:xfrm>
            <a:off x="8083325" y="1417325"/>
            <a:ext cx="3948254" cy="464970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p2"/>
          <p:cNvSpPr/>
          <p:nvPr/>
        </p:nvSpPr>
        <p:spPr>
          <a:xfrm>
            <a:off x="8266176" y="1545336"/>
            <a:ext cx="3090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600" u="none" cap="none" strike="noStrike">
                <a:solidFill>
                  <a:srgbClr val="232A46"/>
                </a:solidFill>
                <a:latin typeface="Arial"/>
                <a:ea typeface="Arial"/>
                <a:cs typeface="Arial"/>
                <a:sym typeface="Arial"/>
              </a:rPr>
              <a:t>Scope / Out of Scope</a:t>
            </a:r>
            <a:endParaRPr b="0" i="0" sz="1600" u="none" cap="none" strike="noStrike">
              <a:solidFill>
                <a:schemeClr val="dk1"/>
              </a:solidFill>
              <a:latin typeface="Calibri"/>
              <a:ea typeface="Calibri"/>
              <a:cs typeface="Calibri"/>
              <a:sym typeface="Calibri"/>
            </a:endParaRPr>
          </a:p>
        </p:txBody>
      </p:sp>
      <p:sp>
        <p:nvSpPr>
          <p:cNvPr id="53" name="Google Shape;53;p2"/>
          <p:cNvSpPr/>
          <p:nvPr/>
        </p:nvSpPr>
        <p:spPr>
          <a:xfrm>
            <a:off x="8266176" y="1874520"/>
            <a:ext cx="960000" cy="219600"/>
          </a:xfrm>
          <a:prstGeom prst="roundRect">
            <a:avLst>
              <a:gd fmla="val 20833" name="adj"/>
            </a:avLst>
          </a:prstGeom>
          <a:solidFill>
            <a:srgbClr val="E7EFFF"/>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 name="Google Shape;54;p2"/>
          <p:cNvSpPr/>
          <p:nvPr/>
        </p:nvSpPr>
        <p:spPr>
          <a:xfrm>
            <a:off x="8266176" y="1874520"/>
            <a:ext cx="9600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820"/>
              <a:buFont typeface="Calibri"/>
              <a:buNone/>
            </a:pPr>
            <a:r>
              <a:rPr b="1" i="0" lang="en-US" sz="1100" u="none" cap="none" strike="noStrike">
                <a:solidFill>
                  <a:srgbClr val="1E4FD0"/>
                </a:solidFill>
                <a:latin typeface="Calibri"/>
                <a:ea typeface="Calibri"/>
                <a:cs typeface="Calibri"/>
                <a:sym typeface="Calibri"/>
              </a:rPr>
              <a:t>IN SCOPE</a:t>
            </a:r>
            <a:endParaRPr b="0" i="0" sz="1100" u="none" cap="none" strike="noStrike">
              <a:solidFill>
                <a:schemeClr val="dk1"/>
              </a:solidFill>
              <a:latin typeface="Calibri"/>
              <a:ea typeface="Calibri"/>
              <a:cs typeface="Calibri"/>
              <a:sym typeface="Calibri"/>
            </a:endParaRPr>
          </a:p>
        </p:txBody>
      </p:sp>
      <p:sp>
        <p:nvSpPr>
          <p:cNvPr id="55" name="Google Shape;55;p2"/>
          <p:cNvSpPr/>
          <p:nvPr/>
        </p:nvSpPr>
        <p:spPr>
          <a:xfrm>
            <a:off x="8284475" y="2257025"/>
            <a:ext cx="3072300" cy="1521000"/>
          </a:xfrm>
          <a:prstGeom prst="rect">
            <a:avLst/>
          </a:prstGeom>
          <a:noFill/>
          <a:ln>
            <a:noFill/>
          </a:ln>
        </p:spPr>
        <p:txBody>
          <a:bodyPr anchorCtr="0" anchor="t" bIns="0" lIns="0" spcFirstLastPara="1" rIns="0" wrap="square" tIns="0">
            <a:noAutofit/>
          </a:bodyPr>
          <a:lstStyle/>
          <a:p>
            <a:pPr indent="-317500" lvl="0" marL="457200" marR="0" rtl="0" algn="l">
              <a:lnSpc>
                <a:spcPct val="115000"/>
              </a:lnSpc>
              <a:spcBef>
                <a:spcPts val="1200"/>
              </a:spcBef>
              <a:spcAft>
                <a:spcPts val="0"/>
              </a:spcAft>
              <a:buClr>
                <a:schemeClr val="dk1"/>
              </a:buClr>
              <a:buSzPts val="1400"/>
              <a:buFont typeface="Arial"/>
              <a:buChar char="•"/>
            </a:pPr>
            <a:r>
              <a:rPr b="0" i="0" lang="en-US" sz="1600" u="none" cap="none" strike="noStrike">
                <a:solidFill>
                  <a:srgbClr val="6E7480"/>
                </a:solidFill>
                <a:latin typeface="Calibri"/>
                <a:ea typeface="Calibri"/>
                <a:cs typeface="Calibri"/>
                <a:sym typeface="Calibri"/>
              </a:rPr>
              <a:t>Kurs və istifadəçi idarəetməsi</a:t>
            </a:r>
            <a:endParaRPr b="0" i="0" sz="1600" u="none" cap="none" strike="noStrike">
              <a:solidFill>
                <a:srgbClr val="6E7480"/>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rgbClr val="6E7480"/>
                </a:solidFill>
                <a:latin typeface="Calibri"/>
                <a:ea typeface="Calibri"/>
                <a:cs typeface="Calibri"/>
                <a:sym typeface="Calibri"/>
              </a:rPr>
              <a:t>Onlayn qeydiyyat və yer sayı</a:t>
            </a:r>
            <a:endParaRPr b="0" i="0" sz="1600" u="none" cap="none" strike="noStrike">
              <a:solidFill>
                <a:srgbClr val="6E7480"/>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rgbClr val="6E7480"/>
                </a:solidFill>
                <a:latin typeface="Calibri"/>
                <a:ea typeface="Calibri"/>
                <a:cs typeface="Calibri"/>
                <a:sym typeface="Calibri"/>
              </a:rPr>
              <a:t>Davamiyyət və qiymətləndirmə</a:t>
            </a:r>
            <a:endParaRPr b="0" i="0" sz="1600" u="none" cap="none" strike="noStrike">
              <a:solidFill>
                <a:srgbClr val="6E7480"/>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rgbClr val="6E7480"/>
                </a:solidFill>
                <a:latin typeface="Calibri"/>
                <a:ea typeface="Calibri"/>
                <a:cs typeface="Calibri"/>
                <a:sym typeface="Calibri"/>
              </a:rPr>
              <a:t>Sertifikat və doğrulama</a:t>
            </a:r>
            <a:endParaRPr b="0" i="0" sz="1600" u="none" cap="none" strike="noStrike">
              <a:solidFill>
                <a:srgbClr val="6E7480"/>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rgbClr val="6E7480"/>
                </a:solidFill>
                <a:latin typeface="Calibri"/>
                <a:ea typeface="Calibri"/>
                <a:cs typeface="Calibri"/>
                <a:sym typeface="Calibri"/>
              </a:rPr>
              <a:t>Tələbə izləmə və hesabatlıq</a:t>
            </a:r>
            <a:endParaRPr b="0" i="0" sz="1600" u="none" cap="none" strike="noStrike">
              <a:solidFill>
                <a:srgbClr val="6E7480"/>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rgbClr val="6E7480"/>
                </a:solidFill>
                <a:latin typeface="Calibri"/>
                <a:ea typeface="Calibri"/>
                <a:cs typeface="Calibri"/>
                <a:sym typeface="Calibri"/>
              </a:rPr>
              <a:t>Biznes qaydaları və yoxlamalar</a:t>
            </a:r>
            <a:endParaRPr b="0" i="0" sz="1600" u="none" cap="none" strike="noStrike">
              <a:solidFill>
                <a:srgbClr val="6E7480"/>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1600"/>
              <a:buFont typeface="Arial"/>
              <a:buNone/>
            </a:pPr>
            <a:r>
              <a:t/>
            </a:r>
            <a:endParaRPr b="0" i="0" sz="1600" u="none" cap="none" strike="noStrike">
              <a:solidFill>
                <a:srgbClr val="6E7480"/>
              </a:solidFill>
              <a:latin typeface="Calibri"/>
              <a:ea typeface="Calibri"/>
              <a:cs typeface="Calibri"/>
              <a:sym typeface="Calibri"/>
            </a:endParaRPr>
          </a:p>
        </p:txBody>
      </p:sp>
      <p:sp>
        <p:nvSpPr>
          <p:cNvPr id="56" name="Google Shape;56;p2"/>
          <p:cNvSpPr/>
          <p:nvPr/>
        </p:nvSpPr>
        <p:spPr>
          <a:xfrm>
            <a:off x="8266176" y="3941064"/>
            <a:ext cx="1298400" cy="219600"/>
          </a:xfrm>
          <a:prstGeom prst="roundRect">
            <a:avLst>
              <a:gd fmla="val 20833" name="adj"/>
            </a:avLst>
          </a:prstGeom>
          <a:solidFill>
            <a:srgbClr val="F0F1F5"/>
          </a:solidFill>
          <a:ln cap="flat" cmpd="sng" w="12700">
            <a:solidFill>
              <a:srgbClr val="E0E2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 name="Google Shape;57;p2"/>
          <p:cNvSpPr/>
          <p:nvPr/>
        </p:nvSpPr>
        <p:spPr>
          <a:xfrm>
            <a:off x="8266176" y="3941064"/>
            <a:ext cx="12984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480"/>
              </a:buClr>
              <a:buSzPts val="820"/>
              <a:buFont typeface="Calibri"/>
              <a:buNone/>
            </a:pPr>
            <a:r>
              <a:rPr b="1" i="0" lang="en-US" sz="1100" u="none" cap="none" strike="noStrike">
                <a:solidFill>
                  <a:srgbClr val="6E7480"/>
                </a:solidFill>
                <a:latin typeface="Calibri"/>
                <a:ea typeface="Calibri"/>
                <a:cs typeface="Calibri"/>
                <a:sym typeface="Calibri"/>
              </a:rPr>
              <a:t>OUT OF SCOPE</a:t>
            </a:r>
            <a:endParaRPr b="0" i="0" sz="1100" u="none" cap="none" strike="noStrike">
              <a:solidFill>
                <a:schemeClr val="dk1"/>
              </a:solidFill>
              <a:latin typeface="Calibri"/>
              <a:ea typeface="Calibri"/>
              <a:cs typeface="Calibri"/>
              <a:sym typeface="Calibri"/>
            </a:endParaRPr>
          </a:p>
        </p:txBody>
      </p:sp>
      <p:sp>
        <p:nvSpPr>
          <p:cNvPr id="58" name="Google Shape;58;p2"/>
          <p:cNvSpPr/>
          <p:nvPr/>
        </p:nvSpPr>
        <p:spPr>
          <a:xfrm>
            <a:off x="8266176" y="4251960"/>
            <a:ext cx="3669150" cy="1417200"/>
          </a:xfrm>
          <a:prstGeom prst="rect">
            <a:avLst/>
          </a:prstGeom>
          <a:noFill/>
          <a:ln>
            <a:noFill/>
          </a:ln>
        </p:spPr>
        <p:txBody>
          <a:bodyPr anchorCtr="0" anchor="t" bIns="0" lIns="0" spcFirstLastPara="1" rIns="0" wrap="square" tIns="0">
            <a:noAutofit/>
          </a:bodyPr>
          <a:lstStyle/>
          <a:p>
            <a:pPr indent="-317500" lvl="0" marL="457200" marR="0" rtl="0" algn="l">
              <a:lnSpc>
                <a:spcPct val="115000"/>
              </a:lnSpc>
              <a:spcBef>
                <a:spcPts val="1200"/>
              </a:spcBef>
              <a:spcAft>
                <a:spcPts val="0"/>
              </a:spcAft>
              <a:buClr>
                <a:schemeClr val="dk1"/>
              </a:buClr>
              <a:buSzPts val="1400"/>
              <a:buFont typeface="Arial"/>
              <a:buChar char="•"/>
            </a:pPr>
            <a:r>
              <a:rPr b="0" i="0" lang="en-US" sz="1600" u="none" cap="none" strike="noStrike">
                <a:solidFill>
                  <a:srgbClr val="8A8F9C"/>
                </a:solidFill>
                <a:latin typeface="Calibri"/>
                <a:ea typeface="Calibri"/>
                <a:cs typeface="Calibri"/>
                <a:sym typeface="Calibri"/>
              </a:rPr>
              <a:t>Ödəniş, mobil tətbiq, xarici LMS/video</a:t>
            </a:r>
            <a:endParaRPr b="0" i="0" sz="1600" u="none" cap="none" strike="noStrike">
              <a:solidFill>
                <a:srgbClr val="8A8F9C"/>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rgbClr val="8A8F9C"/>
                </a:solidFill>
                <a:latin typeface="Calibri"/>
                <a:ea typeface="Calibri"/>
                <a:cs typeface="Calibri"/>
                <a:sym typeface="Calibri"/>
              </a:rPr>
              <a:t>HR/əməkhaqqı, fiziki infrastruktur, süni intellekt tövsiyələri</a:t>
            </a:r>
            <a:endParaRPr b="0" i="0" sz="1600" u="none" cap="none" strike="noStrike">
              <a:solidFill>
                <a:srgbClr val="8A8F9C"/>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rgbClr val="8A8F9C"/>
                </a:solidFill>
                <a:latin typeface="Calibri"/>
                <a:ea typeface="Calibri"/>
                <a:cs typeface="Calibri"/>
                <a:sym typeface="Calibri"/>
              </a:rPr>
              <a:t>Fiziki sertifikatlar, tam məlumat köçürülməsi</a:t>
            </a:r>
            <a:endParaRPr b="0" i="0" sz="1600" u="none" cap="none" strike="noStrike">
              <a:solidFill>
                <a:srgbClr val="8A8F9C"/>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rgbClr val="8A8F9C"/>
                </a:solidFill>
                <a:latin typeface="Calibri"/>
                <a:ea typeface="Calibri"/>
                <a:cs typeface="Calibri"/>
                <a:sym typeface="Calibri"/>
              </a:rPr>
              <a:t>İstifadəyə verilmə və yük testi</a:t>
            </a:r>
            <a:endParaRPr b="0" i="0" sz="1600" u="none" cap="none" strike="noStrike">
              <a:solidFill>
                <a:srgbClr val="8A8F9C"/>
              </a:solidFill>
              <a:latin typeface="Calibri"/>
              <a:ea typeface="Calibri"/>
              <a:cs typeface="Calibri"/>
              <a:sym typeface="Calibri"/>
            </a:endParaRPr>
          </a:p>
          <a:p>
            <a:pPr indent="0" lvl="0" marL="457200" marR="0" rtl="0" algn="l">
              <a:lnSpc>
                <a:spcPct val="100000"/>
              </a:lnSpc>
              <a:spcBef>
                <a:spcPts val="1200"/>
              </a:spcBef>
              <a:spcAft>
                <a:spcPts val="0"/>
              </a:spcAft>
              <a:buClr>
                <a:srgbClr val="000000"/>
              </a:buClr>
              <a:buSzPts val="1600"/>
              <a:buFont typeface="Arial"/>
              <a:buNone/>
            </a:pPr>
            <a:r>
              <a:t/>
            </a:r>
            <a:endParaRPr b="0" i="0" sz="1600" u="none" cap="none" strike="noStrike">
              <a:solidFill>
                <a:srgbClr val="8A8F9C"/>
              </a:solidFill>
              <a:latin typeface="Calibri"/>
              <a:ea typeface="Calibri"/>
              <a:cs typeface="Calibri"/>
              <a:sym typeface="Calibri"/>
            </a:endParaRPr>
          </a:p>
        </p:txBody>
      </p:sp>
      <p:sp>
        <p:nvSpPr>
          <p:cNvPr id="59" name="Google Shape;59;p2"/>
          <p:cNvSpPr/>
          <p:nvPr/>
        </p:nvSpPr>
        <p:spPr>
          <a:xfrm>
            <a:off x="512064" y="6419088"/>
            <a:ext cx="11167500" cy="11100"/>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640080" y="6492240"/>
            <a:ext cx="64008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61" name="Google Shape;61;p2"/>
          <p:cNvSpPr/>
          <p:nvPr/>
        </p:nvSpPr>
        <p:spPr>
          <a:xfrm>
            <a:off x="10820095" y="6492240"/>
            <a:ext cx="731400" cy="237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2</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66" name="Shape 66"/>
        <p:cNvGrpSpPr/>
        <p:nvPr/>
      </p:nvGrpSpPr>
      <p:grpSpPr>
        <a:xfrm>
          <a:off x="0" y="0"/>
          <a:ext cx="0" cy="0"/>
          <a:chOff x="0" y="0"/>
          <a:chExt cx="0" cy="0"/>
        </a:xfrm>
      </p:grpSpPr>
      <p:sp>
        <p:nvSpPr>
          <p:cNvPr id="67" name="Google Shape;67;p3"/>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02 — Problem Statement &amp; Business Need</a:t>
            </a:r>
            <a:endParaRPr b="0" i="0" sz="2500" u="none" cap="none" strike="noStrike">
              <a:solidFill>
                <a:schemeClr val="dk1"/>
              </a:solidFill>
              <a:latin typeface="Calibri"/>
              <a:ea typeface="Calibri"/>
              <a:cs typeface="Calibri"/>
              <a:sym typeface="Calibri"/>
            </a:endParaRPr>
          </a:p>
        </p:txBody>
      </p:sp>
      <p:sp>
        <p:nvSpPr>
          <p:cNvPr id="69" name="Google Shape;69;p3"/>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AS-IS ssenarisinin arxasındakı real biznes problemi və ehtiyac.</a:t>
            </a:r>
            <a:endParaRPr b="0" i="0" sz="1200" u="none" cap="none" strike="noStrike">
              <a:solidFill>
                <a:schemeClr val="dk1"/>
              </a:solidFill>
              <a:latin typeface="Calibri"/>
              <a:ea typeface="Calibri"/>
              <a:cs typeface="Calibri"/>
              <a:sym typeface="Calibri"/>
            </a:endParaRPr>
          </a:p>
        </p:txBody>
      </p:sp>
      <p:sp>
        <p:nvSpPr>
          <p:cNvPr id="70" name="Google Shape;70;p3"/>
          <p:cNvSpPr/>
          <p:nvPr/>
        </p:nvSpPr>
        <p:spPr>
          <a:xfrm>
            <a:off x="640080" y="1417320"/>
            <a:ext cx="5321808" cy="2121408"/>
          </a:xfrm>
          <a:prstGeom prst="roundRect">
            <a:avLst>
              <a:gd fmla="val 3017"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
          <p:cNvSpPr/>
          <p:nvPr/>
        </p:nvSpPr>
        <p:spPr>
          <a:xfrm>
            <a:off x="822960" y="1545336"/>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Business Problem</a:t>
            </a:r>
            <a:endParaRPr b="0" i="0" sz="1350" u="none" cap="none" strike="noStrike">
              <a:solidFill>
                <a:schemeClr val="dk1"/>
              </a:solidFill>
              <a:latin typeface="Calibri"/>
              <a:ea typeface="Calibri"/>
              <a:cs typeface="Calibri"/>
              <a:sym typeface="Calibri"/>
            </a:endParaRPr>
          </a:p>
        </p:txBody>
      </p:sp>
      <p:sp>
        <p:nvSpPr>
          <p:cNvPr id="72" name="Google Shape;72;p3"/>
          <p:cNvSpPr/>
          <p:nvPr/>
        </p:nvSpPr>
        <p:spPr>
          <a:xfrm>
            <a:off x="822960" y="1874520"/>
            <a:ext cx="4956048" cy="100584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E7480"/>
              </a:buClr>
              <a:buSzPts val="970"/>
              <a:buFont typeface="Calibri"/>
              <a:buNone/>
            </a:pPr>
            <a:r>
              <a:rPr b="0" i="0" lang="en-US" sz="1170" u="none" cap="none" strike="noStrike">
                <a:solidFill>
                  <a:srgbClr val="6E7480"/>
                </a:solidFill>
                <a:latin typeface="Calibri"/>
                <a:ea typeface="Calibri"/>
                <a:cs typeface="Calibri"/>
                <a:sym typeface="Calibri"/>
              </a:rPr>
              <a:t>Kurs qeydiyyatı, davamiyyət, qiymətləndirmə və sertifikatlaşdırma prosesləri vahid sistem üzərindən idarə olunmur. Məlumatlar Excel fayllarında, WhatsApp və e-mail yazışmalarında parçalanmış şəkildə saxlanılır; capacity, prerequisite və sertifikat uyğunluğu manual yoxlanılır.</a:t>
            </a:r>
            <a:endParaRPr b="0" i="0" sz="1170" u="none" cap="none" strike="noStrike">
              <a:solidFill>
                <a:schemeClr val="dk1"/>
              </a:solidFill>
              <a:latin typeface="Calibri"/>
              <a:ea typeface="Calibri"/>
              <a:cs typeface="Calibri"/>
              <a:sym typeface="Calibri"/>
            </a:endParaRPr>
          </a:p>
        </p:txBody>
      </p:sp>
      <p:sp>
        <p:nvSpPr>
          <p:cNvPr id="73" name="Google Shape;73;p3"/>
          <p:cNvSpPr/>
          <p:nvPr/>
        </p:nvSpPr>
        <p:spPr>
          <a:xfrm>
            <a:off x="822960" y="2935224"/>
            <a:ext cx="4956048" cy="50292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0392B"/>
              </a:buClr>
              <a:buSzPts val="970"/>
              <a:buFont typeface="Calibri"/>
              <a:buNone/>
            </a:pPr>
            <a:r>
              <a:rPr b="1" i="0" lang="en-US" sz="1070" u="none" cap="none" strike="noStrike">
                <a:solidFill>
                  <a:srgbClr val="C0392B"/>
                </a:solidFill>
                <a:latin typeface="Calibri"/>
                <a:ea typeface="Calibri"/>
                <a:cs typeface="Calibri"/>
                <a:sym typeface="Calibri"/>
              </a:rPr>
              <a:t>Nəticə:  </a:t>
            </a:r>
            <a:r>
              <a:rPr b="0" i="0" lang="en-US" sz="1070" u="none" cap="none" strike="noStrike">
                <a:solidFill>
                  <a:srgbClr val="6E7480"/>
                </a:solidFill>
                <a:latin typeface="Calibri"/>
                <a:ea typeface="Calibri"/>
                <a:cs typeface="Calibri"/>
                <a:sym typeface="Calibri"/>
              </a:rPr>
              <a:t>əməliyyat gecikmələri, insan səhvi riski, təkrarlanan məlumat və </a:t>
            </a:r>
            <a:r>
              <a:rPr lang="en-US" sz="1070">
                <a:solidFill>
                  <a:srgbClr val="6E7480"/>
                </a:solidFill>
                <a:latin typeface="Calibri"/>
                <a:ea typeface="Calibri"/>
                <a:cs typeface="Calibri"/>
                <a:sym typeface="Calibri"/>
              </a:rPr>
              <a:t>statusların görünməməsi</a:t>
            </a:r>
            <a:endParaRPr b="0" i="0" sz="1070" u="none" cap="none" strike="noStrike">
              <a:solidFill>
                <a:schemeClr val="dk1"/>
              </a:solidFill>
              <a:latin typeface="Calibri"/>
              <a:ea typeface="Calibri"/>
              <a:cs typeface="Calibri"/>
              <a:sym typeface="Calibri"/>
            </a:endParaRPr>
          </a:p>
        </p:txBody>
      </p:sp>
      <p:sp>
        <p:nvSpPr>
          <p:cNvPr id="74" name="Google Shape;74;p3"/>
          <p:cNvSpPr/>
          <p:nvPr/>
        </p:nvSpPr>
        <p:spPr>
          <a:xfrm>
            <a:off x="6227064" y="1417320"/>
            <a:ext cx="5321808" cy="2121408"/>
          </a:xfrm>
          <a:prstGeom prst="roundRect">
            <a:avLst>
              <a:gd fmla="val 3017"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6409944" y="1545336"/>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Business Need</a:t>
            </a:r>
            <a:endParaRPr b="0" i="0" sz="1350" u="none" cap="none" strike="noStrike">
              <a:solidFill>
                <a:schemeClr val="dk1"/>
              </a:solidFill>
              <a:latin typeface="Calibri"/>
              <a:ea typeface="Calibri"/>
              <a:cs typeface="Calibri"/>
              <a:sym typeface="Calibri"/>
            </a:endParaRPr>
          </a:p>
        </p:txBody>
      </p:sp>
      <p:sp>
        <p:nvSpPr>
          <p:cNvPr id="76" name="Google Shape;76;p3"/>
          <p:cNvSpPr/>
          <p:nvPr/>
        </p:nvSpPr>
        <p:spPr>
          <a:xfrm>
            <a:off x="6409944" y="1874520"/>
            <a:ext cx="4956048" cy="73152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E7480"/>
              </a:buClr>
              <a:buSzPts val="970"/>
              <a:buFont typeface="Calibri"/>
              <a:buNone/>
            </a:pPr>
            <a:r>
              <a:rPr b="0" i="0" lang="en-US" sz="1170" u="none" cap="none" strike="noStrike">
                <a:solidFill>
                  <a:srgbClr val="6E7480"/>
                </a:solidFill>
                <a:latin typeface="Calibri"/>
                <a:ea typeface="Calibri"/>
                <a:cs typeface="Calibri"/>
                <a:sym typeface="Calibri"/>
              </a:rPr>
              <a:t>Bu dörd prosesi vahid, izlənilə bilən və avtomatlaşdırılmış rəqəmsal platformada birləşdirmək; biznes qaydalarını sistem səviyyəsində tətbiq etmək və tələbəyə self-service çıxış vermək.</a:t>
            </a:r>
            <a:endParaRPr b="0" i="0" sz="1170" u="none" cap="none" strike="noStrike">
              <a:solidFill>
                <a:schemeClr val="dk1"/>
              </a:solidFill>
              <a:latin typeface="Calibri"/>
              <a:ea typeface="Calibri"/>
              <a:cs typeface="Calibri"/>
              <a:sym typeface="Calibri"/>
            </a:endParaRPr>
          </a:p>
        </p:txBody>
      </p:sp>
      <p:sp>
        <p:nvSpPr>
          <p:cNvPr id="77" name="Google Shape;77;p3"/>
          <p:cNvSpPr/>
          <p:nvPr/>
        </p:nvSpPr>
        <p:spPr>
          <a:xfrm>
            <a:off x="6409944" y="2624328"/>
            <a:ext cx="566928" cy="192024"/>
          </a:xfrm>
          <a:prstGeom prst="roundRect">
            <a:avLst>
              <a:gd fmla="val 23810"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p:nvPr/>
        </p:nvSpPr>
        <p:spPr>
          <a:xfrm>
            <a:off x="6409944" y="2624328"/>
            <a:ext cx="56692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860" u="none" cap="none" strike="noStrike">
                <a:solidFill>
                  <a:srgbClr val="1E4FD0"/>
                </a:solidFill>
                <a:latin typeface="Calibri"/>
                <a:ea typeface="Calibri"/>
                <a:cs typeface="Calibri"/>
                <a:sym typeface="Calibri"/>
              </a:rPr>
              <a:t>BN-01</a:t>
            </a:r>
            <a:endParaRPr b="0" i="0" sz="860" u="none" cap="none" strike="noStrike">
              <a:solidFill>
                <a:schemeClr val="dk1"/>
              </a:solidFill>
              <a:latin typeface="Calibri"/>
              <a:ea typeface="Calibri"/>
              <a:cs typeface="Calibri"/>
              <a:sym typeface="Calibri"/>
            </a:endParaRPr>
          </a:p>
        </p:txBody>
      </p:sp>
      <p:sp>
        <p:nvSpPr>
          <p:cNvPr id="79" name="Google Shape;79;p3"/>
          <p:cNvSpPr/>
          <p:nvPr/>
        </p:nvSpPr>
        <p:spPr>
          <a:xfrm>
            <a:off x="7068312" y="2624328"/>
            <a:ext cx="4279392"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10"/>
              <a:buFont typeface="Calibri"/>
              <a:buNone/>
            </a:pPr>
            <a:r>
              <a:rPr b="0" i="0" lang="en-US" sz="1010" u="none" cap="none" strike="noStrike">
                <a:solidFill>
                  <a:srgbClr val="6E7480"/>
                </a:solidFill>
                <a:latin typeface="Calibri"/>
                <a:ea typeface="Calibri"/>
                <a:cs typeface="Calibri"/>
                <a:sym typeface="Calibri"/>
              </a:rPr>
              <a:t>Qeydiyyatın avtomatlaşdırılması və self-service portal</a:t>
            </a:r>
            <a:endParaRPr b="0" i="0" sz="1010" u="none" cap="none" strike="noStrike">
              <a:solidFill>
                <a:schemeClr val="dk1"/>
              </a:solidFill>
              <a:latin typeface="Calibri"/>
              <a:ea typeface="Calibri"/>
              <a:cs typeface="Calibri"/>
              <a:sym typeface="Calibri"/>
            </a:endParaRPr>
          </a:p>
        </p:txBody>
      </p:sp>
      <p:sp>
        <p:nvSpPr>
          <p:cNvPr id="80" name="Google Shape;80;p3"/>
          <p:cNvSpPr/>
          <p:nvPr/>
        </p:nvSpPr>
        <p:spPr>
          <a:xfrm>
            <a:off x="6409944" y="2843784"/>
            <a:ext cx="566928" cy="192024"/>
          </a:xfrm>
          <a:prstGeom prst="roundRect">
            <a:avLst>
              <a:gd fmla="val 23810"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
          <p:cNvSpPr/>
          <p:nvPr/>
        </p:nvSpPr>
        <p:spPr>
          <a:xfrm>
            <a:off x="6409944" y="2843784"/>
            <a:ext cx="56692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860" u="none" cap="none" strike="noStrike">
                <a:solidFill>
                  <a:srgbClr val="1E4FD0"/>
                </a:solidFill>
                <a:latin typeface="Calibri"/>
                <a:ea typeface="Calibri"/>
                <a:cs typeface="Calibri"/>
                <a:sym typeface="Calibri"/>
              </a:rPr>
              <a:t>BN-02</a:t>
            </a:r>
            <a:endParaRPr b="0" i="0" sz="860" u="none" cap="none" strike="noStrike">
              <a:solidFill>
                <a:schemeClr val="dk1"/>
              </a:solidFill>
              <a:latin typeface="Calibri"/>
              <a:ea typeface="Calibri"/>
              <a:cs typeface="Calibri"/>
              <a:sym typeface="Calibri"/>
            </a:endParaRPr>
          </a:p>
        </p:txBody>
      </p:sp>
      <p:sp>
        <p:nvSpPr>
          <p:cNvPr id="82" name="Google Shape;82;p3"/>
          <p:cNvSpPr/>
          <p:nvPr/>
        </p:nvSpPr>
        <p:spPr>
          <a:xfrm>
            <a:off x="7068312" y="2843784"/>
            <a:ext cx="4279392"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10"/>
              <a:buFont typeface="Calibri"/>
              <a:buNone/>
            </a:pPr>
            <a:r>
              <a:rPr b="0" i="0" lang="en-US" sz="1010" u="none" cap="none" strike="noStrike">
                <a:solidFill>
                  <a:srgbClr val="6E7480"/>
                </a:solidFill>
                <a:latin typeface="Calibri"/>
                <a:ea typeface="Calibri"/>
                <a:cs typeface="Calibri"/>
                <a:sym typeface="Calibri"/>
              </a:rPr>
              <a:t>Capacity / prerequisite / duplicate qaydaları sistem səviyyəsində</a:t>
            </a:r>
            <a:endParaRPr b="0" i="0" sz="1010" u="none" cap="none" strike="noStrike">
              <a:solidFill>
                <a:schemeClr val="dk1"/>
              </a:solidFill>
              <a:latin typeface="Calibri"/>
              <a:ea typeface="Calibri"/>
              <a:cs typeface="Calibri"/>
              <a:sym typeface="Calibri"/>
            </a:endParaRPr>
          </a:p>
        </p:txBody>
      </p:sp>
      <p:sp>
        <p:nvSpPr>
          <p:cNvPr id="83" name="Google Shape;83;p3"/>
          <p:cNvSpPr/>
          <p:nvPr/>
        </p:nvSpPr>
        <p:spPr>
          <a:xfrm>
            <a:off x="6409944" y="3063240"/>
            <a:ext cx="566928" cy="192024"/>
          </a:xfrm>
          <a:prstGeom prst="roundRect">
            <a:avLst>
              <a:gd fmla="val 23810"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
          <p:cNvSpPr/>
          <p:nvPr/>
        </p:nvSpPr>
        <p:spPr>
          <a:xfrm>
            <a:off x="6409944" y="3063240"/>
            <a:ext cx="56692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860" u="none" cap="none" strike="noStrike">
                <a:solidFill>
                  <a:srgbClr val="1E4FD0"/>
                </a:solidFill>
                <a:latin typeface="Calibri"/>
                <a:ea typeface="Calibri"/>
                <a:cs typeface="Calibri"/>
                <a:sym typeface="Calibri"/>
              </a:rPr>
              <a:t>BN-04</a:t>
            </a:r>
            <a:endParaRPr b="0" i="0" sz="860" u="none" cap="none" strike="noStrike">
              <a:solidFill>
                <a:schemeClr val="dk1"/>
              </a:solidFill>
              <a:latin typeface="Calibri"/>
              <a:ea typeface="Calibri"/>
              <a:cs typeface="Calibri"/>
              <a:sym typeface="Calibri"/>
            </a:endParaRPr>
          </a:p>
        </p:txBody>
      </p:sp>
      <p:sp>
        <p:nvSpPr>
          <p:cNvPr id="85" name="Google Shape;85;p3"/>
          <p:cNvSpPr/>
          <p:nvPr/>
        </p:nvSpPr>
        <p:spPr>
          <a:xfrm>
            <a:off x="7068312" y="3063240"/>
            <a:ext cx="4279392"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10"/>
              <a:buFont typeface="Calibri"/>
              <a:buNone/>
            </a:pPr>
            <a:r>
              <a:rPr b="0" i="0" lang="en-US" sz="1010" u="none" cap="none" strike="noStrike">
                <a:solidFill>
                  <a:srgbClr val="6E7480"/>
                </a:solidFill>
                <a:latin typeface="Calibri"/>
                <a:ea typeface="Calibri"/>
                <a:cs typeface="Calibri"/>
                <a:sym typeface="Calibri"/>
              </a:rPr>
              <a:t>Sertifikat uyğunluğunun avtomatik hesablanması</a:t>
            </a:r>
            <a:endParaRPr b="0" i="0" sz="1010" u="none" cap="none" strike="noStrike">
              <a:solidFill>
                <a:schemeClr val="dk1"/>
              </a:solidFill>
              <a:latin typeface="Calibri"/>
              <a:ea typeface="Calibri"/>
              <a:cs typeface="Calibri"/>
              <a:sym typeface="Calibri"/>
            </a:endParaRPr>
          </a:p>
        </p:txBody>
      </p:sp>
      <p:sp>
        <p:nvSpPr>
          <p:cNvPr id="86" name="Google Shape;86;p3"/>
          <p:cNvSpPr/>
          <p:nvPr/>
        </p:nvSpPr>
        <p:spPr>
          <a:xfrm>
            <a:off x="6409944" y="3282696"/>
            <a:ext cx="566928" cy="192024"/>
          </a:xfrm>
          <a:prstGeom prst="roundRect">
            <a:avLst>
              <a:gd fmla="val 23810"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a:off x="6409944" y="3282696"/>
            <a:ext cx="56692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860" u="none" cap="none" strike="noStrike">
                <a:solidFill>
                  <a:srgbClr val="1E4FD0"/>
                </a:solidFill>
                <a:latin typeface="Calibri"/>
                <a:ea typeface="Calibri"/>
                <a:cs typeface="Calibri"/>
                <a:sym typeface="Calibri"/>
              </a:rPr>
              <a:t>BN-06</a:t>
            </a:r>
            <a:endParaRPr b="0" i="0" sz="860" u="none" cap="none" strike="noStrike">
              <a:solidFill>
                <a:schemeClr val="dk1"/>
              </a:solidFill>
              <a:latin typeface="Calibri"/>
              <a:ea typeface="Calibri"/>
              <a:cs typeface="Calibri"/>
              <a:sym typeface="Calibri"/>
            </a:endParaRPr>
          </a:p>
        </p:txBody>
      </p:sp>
      <p:sp>
        <p:nvSpPr>
          <p:cNvPr id="88" name="Google Shape;88;p3"/>
          <p:cNvSpPr/>
          <p:nvPr/>
        </p:nvSpPr>
        <p:spPr>
          <a:xfrm>
            <a:off x="7068312" y="3282696"/>
            <a:ext cx="4279392"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10"/>
              <a:buFont typeface="Calibri"/>
              <a:buNone/>
            </a:pPr>
            <a:r>
              <a:rPr b="0" i="0" lang="en-US" sz="1010" u="none" cap="none" strike="noStrike">
                <a:solidFill>
                  <a:srgbClr val="6E7480"/>
                </a:solidFill>
                <a:latin typeface="Calibri"/>
                <a:ea typeface="Calibri"/>
                <a:cs typeface="Calibri"/>
                <a:sym typeface="Calibri"/>
              </a:rPr>
              <a:t>JWT / RLS əsaslı rol, ownership və audit nəzarəti</a:t>
            </a:r>
            <a:endParaRPr b="0" i="0" sz="1010" u="none" cap="none" strike="noStrike">
              <a:solidFill>
                <a:schemeClr val="dk1"/>
              </a:solidFill>
              <a:latin typeface="Calibri"/>
              <a:ea typeface="Calibri"/>
              <a:cs typeface="Calibri"/>
              <a:sym typeface="Calibri"/>
            </a:endParaRPr>
          </a:p>
        </p:txBody>
      </p:sp>
      <p:sp>
        <p:nvSpPr>
          <p:cNvPr id="89" name="Google Shape;89;p3"/>
          <p:cNvSpPr/>
          <p:nvPr/>
        </p:nvSpPr>
        <p:spPr>
          <a:xfrm>
            <a:off x="640080" y="3822192"/>
            <a:ext cx="5321808" cy="2121408"/>
          </a:xfrm>
          <a:prstGeom prst="roundRect">
            <a:avLst>
              <a:gd fmla="val 3017"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
          <p:cNvSpPr/>
          <p:nvPr/>
        </p:nvSpPr>
        <p:spPr>
          <a:xfrm>
            <a:off x="822960" y="3950208"/>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Success Criteria</a:t>
            </a:r>
            <a:endParaRPr b="0" i="0" sz="1350" u="none" cap="none" strike="noStrike">
              <a:solidFill>
                <a:schemeClr val="dk1"/>
              </a:solidFill>
              <a:latin typeface="Calibri"/>
              <a:ea typeface="Calibri"/>
              <a:cs typeface="Calibri"/>
              <a:sym typeface="Calibri"/>
            </a:endParaRPr>
          </a:p>
        </p:txBody>
      </p:sp>
      <p:sp>
        <p:nvSpPr>
          <p:cNvPr id="91" name="Google Shape;91;p3"/>
          <p:cNvSpPr/>
          <p:nvPr/>
        </p:nvSpPr>
        <p:spPr>
          <a:xfrm>
            <a:off x="822960" y="4279392"/>
            <a:ext cx="4956048" cy="1554480"/>
          </a:xfrm>
          <a:prstGeom prst="rect">
            <a:avLst/>
          </a:prstGeom>
          <a:noFill/>
          <a:ln>
            <a:noFill/>
          </a:ln>
        </p:spPr>
        <p:txBody>
          <a:bodyPr anchorCtr="0" anchor="t" bIns="0" lIns="0" spcFirstLastPara="1" rIns="0" wrap="square" tIns="0">
            <a:noAutofit/>
          </a:bodyPr>
          <a:lstStyle/>
          <a:p>
            <a:pPr indent="-152400" lvl="0" marL="152400" marR="0" rtl="0" algn="l">
              <a:lnSpc>
                <a:spcPct val="100000"/>
              </a:lnSpc>
              <a:spcBef>
                <a:spcPts val="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Manual qeydiyyat əməliyyatlarının əhəmiyyətli dərəcədə azaldılması</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Capacity və prerequisite yoxlamalarının avtomatik həyata keçirilməsi</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Sertifikat uyğunluğunun sistem tərəfindən avtomatik hesablanması</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Hesabatların hazırlanma müddətinin əhəmiyyətli dərəcədə azaldılması</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Təkrarlanan məlumatın minimuma endirilməsi və vahid məlumat bazası</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Tələbənin status və nəticələri self-service portalda real vaxtda izləməsi</a:t>
            </a:r>
            <a:endParaRPr b="0" i="0" sz="1140" u="none" cap="none" strike="noStrike">
              <a:solidFill>
                <a:schemeClr val="dk1"/>
              </a:solidFill>
              <a:latin typeface="Calibri"/>
              <a:ea typeface="Calibri"/>
              <a:cs typeface="Calibri"/>
              <a:sym typeface="Calibri"/>
            </a:endParaRPr>
          </a:p>
        </p:txBody>
      </p:sp>
      <p:sp>
        <p:nvSpPr>
          <p:cNvPr id="92" name="Google Shape;92;p3"/>
          <p:cNvSpPr/>
          <p:nvPr/>
        </p:nvSpPr>
        <p:spPr>
          <a:xfrm>
            <a:off x="6227064" y="3822192"/>
            <a:ext cx="5321808" cy="2121408"/>
          </a:xfrm>
          <a:prstGeom prst="roundRect">
            <a:avLst>
              <a:gd fmla="val 3017"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
          <p:cNvSpPr/>
          <p:nvPr/>
        </p:nvSpPr>
        <p:spPr>
          <a:xfrm>
            <a:off x="6409944" y="3950208"/>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Key Assumptions</a:t>
            </a:r>
            <a:endParaRPr b="0" i="0" sz="1350" u="none" cap="none" strike="noStrike">
              <a:solidFill>
                <a:schemeClr val="dk1"/>
              </a:solidFill>
              <a:latin typeface="Calibri"/>
              <a:ea typeface="Calibri"/>
              <a:cs typeface="Calibri"/>
              <a:sym typeface="Calibri"/>
            </a:endParaRPr>
          </a:p>
        </p:txBody>
      </p:sp>
      <p:sp>
        <p:nvSpPr>
          <p:cNvPr id="94" name="Google Shape;94;p3"/>
          <p:cNvSpPr/>
          <p:nvPr/>
        </p:nvSpPr>
        <p:spPr>
          <a:xfrm>
            <a:off x="6409944" y="4279392"/>
            <a:ext cx="4956048" cy="1554480"/>
          </a:xfrm>
          <a:prstGeom prst="rect">
            <a:avLst/>
          </a:prstGeom>
          <a:noFill/>
          <a:ln>
            <a:noFill/>
          </a:ln>
        </p:spPr>
        <p:txBody>
          <a:bodyPr anchorCtr="0" anchor="t" bIns="0" lIns="0" spcFirstLastPara="1" rIns="0" wrap="square" tIns="0">
            <a:noAutofit/>
          </a:bodyPr>
          <a:lstStyle/>
          <a:p>
            <a:pPr indent="-152400" lvl="0" marL="152400" marR="0" rtl="0" algn="l">
              <a:lnSpc>
                <a:spcPct val="100000"/>
              </a:lnSpc>
              <a:spcBef>
                <a:spcPts val="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Kurs, tələbə və müəllim məlumatları mövcud mənbələrdən əldə edilə bilər; tam tarixi miqrasiya scope-da deyil</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Bir tələbə eyni anda bir neçə kursa yazıla bilər; eyni Course Instance üzrə ikinci ACTIVE enrollment qadağandır</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Attendance yalnız təyin olunmuş müəllim tərəfindən daxil edilir</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Sistem web-based və tək təlim mərkəzi üçündür; multi-tenant və native mobil scope-da deyil</a:t>
            </a:r>
            <a:endParaRPr b="0" i="0" sz="1140" u="none" cap="none" strike="noStrike">
              <a:solidFill>
                <a:schemeClr val="dk1"/>
              </a:solidFill>
              <a:latin typeface="Calibri"/>
              <a:ea typeface="Calibri"/>
              <a:cs typeface="Calibri"/>
              <a:sym typeface="Calibri"/>
            </a:endParaRPr>
          </a:p>
        </p:txBody>
      </p:sp>
      <p:sp>
        <p:nvSpPr>
          <p:cNvPr id="95" name="Google Shape;95;p3"/>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97" name="Google Shape;97;p3"/>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3</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102" name="Shape 102"/>
        <p:cNvGrpSpPr/>
        <p:nvPr/>
      </p:nvGrpSpPr>
      <p:grpSpPr>
        <a:xfrm>
          <a:off x="0" y="0"/>
          <a:ext cx="0" cy="0"/>
          <a:chOff x="0" y="0"/>
          <a:chExt cx="0" cy="0"/>
        </a:xfrm>
      </p:grpSpPr>
      <p:sp>
        <p:nvSpPr>
          <p:cNvPr id="103" name="Google Shape;103;p4"/>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4"/>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03 — AS-IS Process &amp; Pain Points</a:t>
            </a:r>
            <a:endParaRPr b="0" i="0" sz="2500" u="none" cap="none" strike="noStrike">
              <a:solidFill>
                <a:schemeClr val="dk1"/>
              </a:solidFill>
              <a:latin typeface="Calibri"/>
              <a:ea typeface="Calibri"/>
              <a:cs typeface="Calibri"/>
              <a:sym typeface="Calibri"/>
            </a:endParaRPr>
          </a:p>
        </p:txBody>
      </p:sp>
      <p:sp>
        <p:nvSpPr>
          <p:cNvPr id="105" name="Google Shape;105;p4"/>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Mövcud proses və ən əhəmiyyətli səmərəsizliklər.</a:t>
            </a:r>
            <a:endParaRPr b="0" i="0" sz="1200" u="none" cap="none" strike="noStrike">
              <a:solidFill>
                <a:schemeClr val="dk1"/>
              </a:solidFill>
              <a:latin typeface="Calibri"/>
              <a:ea typeface="Calibri"/>
              <a:cs typeface="Calibri"/>
              <a:sym typeface="Calibri"/>
            </a:endParaRPr>
          </a:p>
        </p:txBody>
      </p:sp>
      <p:sp>
        <p:nvSpPr>
          <p:cNvPr id="106" name="Google Shape;106;p4"/>
          <p:cNvSpPr/>
          <p:nvPr/>
        </p:nvSpPr>
        <p:spPr>
          <a:xfrm>
            <a:off x="640080" y="1417320"/>
            <a:ext cx="6720840" cy="4526280"/>
          </a:xfrm>
          <a:prstGeom prst="roundRect">
            <a:avLst>
              <a:gd fmla="val 1414"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p:nvPr/>
        </p:nvSpPr>
        <p:spPr>
          <a:xfrm>
            <a:off x="822960" y="1545336"/>
            <a:ext cx="63550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AS-IS BPMN 2.0</a:t>
            </a:r>
            <a:endParaRPr b="0" i="0" sz="1250" u="none" cap="none" strike="noStrike">
              <a:solidFill>
                <a:schemeClr val="dk1"/>
              </a:solidFill>
              <a:latin typeface="Calibri"/>
              <a:ea typeface="Calibri"/>
              <a:cs typeface="Calibri"/>
              <a:sym typeface="Calibri"/>
            </a:endParaRPr>
          </a:p>
        </p:txBody>
      </p:sp>
      <p:pic>
        <p:nvPicPr>
          <p:cNvPr descr="/home/claude/tmpl/../deck/img/bpmn_asis.png" id="108" name="Google Shape;108;p4"/>
          <p:cNvPicPr preferRelativeResize="0"/>
          <p:nvPr/>
        </p:nvPicPr>
        <p:blipFill rotWithShape="1">
          <a:blip r:embed="rId3">
            <a:alphaModFix/>
          </a:blip>
          <a:srcRect b="0" l="0" r="0" t="0"/>
          <a:stretch/>
        </p:blipFill>
        <p:spPr>
          <a:xfrm>
            <a:off x="1042416" y="1810512"/>
            <a:ext cx="5916168" cy="3986784"/>
          </a:xfrm>
          <a:prstGeom prst="rect">
            <a:avLst/>
          </a:prstGeom>
          <a:noFill/>
          <a:ln>
            <a:noFill/>
          </a:ln>
        </p:spPr>
      </p:pic>
      <p:sp>
        <p:nvSpPr>
          <p:cNvPr id="109" name="Google Shape;109;p4"/>
          <p:cNvSpPr/>
          <p:nvPr/>
        </p:nvSpPr>
        <p:spPr>
          <a:xfrm>
            <a:off x="7626096" y="1417320"/>
            <a:ext cx="3925519" cy="2395728"/>
          </a:xfrm>
          <a:prstGeom prst="roundRect">
            <a:avLst>
              <a:gd fmla="val 267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4"/>
          <p:cNvSpPr/>
          <p:nvPr/>
        </p:nvSpPr>
        <p:spPr>
          <a:xfrm>
            <a:off x="7808976" y="1545336"/>
            <a:ext cx="355975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Pain Points</a:t>
            </a:r>
            <a:endParaRPr b="0" i="0" sz="1250" u="none" cap="none" strike="noStrike">
              <a:solidFill>
                <a:schemeClr val="dk1"/>
              </a:solidFill>
              <a:latin typeface="Calibri"/>
              <a:ea typeface="Calibri"/>
              <a:cs typeface="Calibri"/>
              <a:sym typeface="Calibri"/>
            </a:endParaRPr>
          </a:p>
        </p:txBody>
      </p:sp>
      <p:sp>
        <p:nvSpPr>
          <p:cNvPr id="111" name="Google Shape;111;p4"/>
          <p:cNvSpPr/>
          <p:nvPr/>
        </p:nvSpPr>
        <p:spPr>
          <a:xfrm>
            <a:off x="7808976" y="1847088"/>
            <a:ext cx="603504"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
          <p:cNvSpPr/>
          <p:nvPr/>
        </p:nvSpPr>
        <p:spPr>
          <a:xfrm>
            <a:off x="7808976" y="1847088"/>
            <a:ext cx="6035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980" u="none" cap="none" strike="noStrike">
                <a:solidFill>
                  <a:srgbClr val="1E4FD0"/>
                </a:solidFill>
                <a:latin typeface="Calibri"/>
                <a:ea typeface="Calibri"/>
                <a:cs typeface="Calibri"/>
                <a:sym typeface="Calibri"/>
              </a:rPr>
              <a:t>PP-01</a:t>
            </a:r>
            <a:endParaRPr b="0" i="0" sz="980" u="none" cap="none" strike="noStrike">
              <a:solidFill>
                <a:schemeClr val="dk1"/>
              </a:solidFill>
              <a:latin typeface="Calibri"/>
              <a:ea typeface="Calibri"/>
              <a:cs typeface="Calibri"/>
              <a:sym typeface="Calibri"/>
            </a:endParaRPr>
          </a:p>
        </p:txBody>
      </p:sp>
      <p:sp>
        <p:nvSpPr>
          <p:cNvPr id="113" name="Google Shape;113;p4"/>
          <p:cNvSpPr/>
          <p:nvPr/>
        </p:nvSpPr>
        <p:spPr>
          <a:xfrm>
            <a:off x="8503920" y="1847088"/>
            <a:ext cx="2846527"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Vahid məlumat mənbəyinin olmaması</a:t>
            </a:r>
            <a:endParaRPr b="0" i="0" sz="1130" u="none" cap="none" strike="noStrike">
              <a:solidFill>
                <a:schemeClr val="dk1"/>
              </a:solidFill>
              <a:latin typeface="Calibri"/>
              <a:ea typeface="Calibri"/>
              <a:cs typeface="Calibri"/>
              <a:sym typeface="Calibri"/>
            </a:endParaRPr>
          </a:p>
        </p:txBody>
      </p:sp>
      <p:sp>
        <p:nvSpPr>
          <p:cNvPr id="114" name="Google Shape;114;p4"/>
          <p:cNvSpPr/>
          <p:nvPr/>
        </p:nvSpPr>
        <p:spPr>
          <a:xfrm>
            <a:off x="7808976" y="2176272"/>
            <a:ext cx="603504"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4"/>
          <p:cNvSpPr/>
          <p:nvPr/>
        </p:nvSpPr>
        <p:spPr>
          <a:xfrm>
            <a:off x="7808976" y="2176272"/>
            <a:ext cx="6035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980" u="none" cap="none" strike="noStrike">
                <a:solidFill>
                  <a:srgbClr val="1E4FD0"/>
                </a:solidFill>
                <a:latin typeface="Calibri"/>
                <a:ea typeface="Calibri"/>
                <a:cs typeface="Calibri"/>
                <a:sym typeface="Calibri"/>
              </a:rPr>
              <a:t>PP-02</a:t>
            </a:r>
            <a:endParaRPr b="0" i="0" sz="980" u="none" cap="none" strike="noStrike">
              <a:solidFill>
                <a:schemeClr val="dk1"/>
              </a:solidFill>
              <a:latin typeface="Calibri"/>
              <a:ea typeface="Calibri"/>
              <a:cs typeface="Calibri"/>
              <a:sym typeface="Calibri"/>
            </a:endParaRPr>
          </a:p>
        </p:txBody>
      </p:sp>
      <p:sp>
        <p:nvSpPr>
          <p:cNvPr id="116" name="Google Shape;116;p4"/>
          <p:cNvSpPr/>
          <p:nvPr/>
        </p:nvSpPr>
        <p:spPr>
          <a:xfrm>
            <a:off x="8503920" y="2176272"/>
            <a:ext cx="2846527"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Kurs tutumu real vaxtda yoxlanılmır</a:t>
            </a:r>
            <a:endParaRPr b="0" i="0" sz="1130" u="none" cap="none" strike="noStrike">
              <a:solidFill>
                <a:schemeClr val="dk1"/>
              </a:solidFill>
              <a:latin typeface="Calibri"/>
              <a:ea typeface="Calibri"/>
              <a:cs typeface="Calibri"/>
              <a:sym typeface="Calibri"/>
            </a:endParaRPr>
          </a:p>
        </p:txBody>
      </p:sp>
      <p:sp>
        <p:nvSpPr>
          <p:cNvPr id="117" name="Google Shape;117;p4"/>
          <p:cNvSpPr/>
          <p:nvPr/>
        </p:nvSpPr>
        <p:spPr>
          <a:xfrm>
            <a:off x="7808976" y="2505456"/>
            <a:ext cx="603504"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4"/>
          <p:cNvSpPr/>
          <p:nvPr/>
        </p:nvSpPr>
        <p:spPr>
          <a:xfrm>
            <a:off x="7808976" y="2505456"/>
            <a:ext cx="6035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980" u="none" cap="none" strike="noStrike">
                <a:solidFill>
                  <a:srgbClr val="1E4FD0"/>
                </a:solidFill>
                <a:latin typeface="Calibri"/>
                <a:ea typeface="Calibri"/>
                <a:cs typeface="Calibri"/>
                <a:sym typeface="Calibri"/>
              </a:rPr>
              <a:t>PP-03</a:t>
            </a:r>
            <a:endParaRPr b="0" i="0" sz="980" u="none" cap="none" strike="noStrike">
              <a:solidFill>
                <a:schemeClr val="dk1"/>
              </a:solidFill>
              <a:latin typeface="Calibri"/>
              <a:ea typeface="Calibri"/>
              <a:cs typeface="Calibri"/>
              <a:sym typeface="Calibri"/>
            </a:endParaRPr>
          </a:p>
        </p:txBody>
      </p:sp>
      <p:sp>
        <p:nvSpPr>
          <p:cNvPr id="119" name="Google Shape;119;p4"/>
          <p:cNvSpPr/>
          <p:nvPr/>
        </p:nvSpPr>
        <p:spPr>
          <a:xfrm>
            <a:off x="8503920" y="2505456"/>
            <a:ext cx="2846527"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Prerequisite yoxlaması manual aparılır</a:t>
            </a:r>
            <a:endParaRPr b="0" i="0" sz="1130" u="none" cap="none" strike="noStrike">
              <a:solidFill>
                <a:schemeClr val="dk1"/>
              </a:solidFill>
              <a:latin typeface="Calibri"/>
              <a:ea typeface="Calibri"/>
              <a:cs typeface="Calibri"/>
              <a:sym typeface="Calibri"/>
            </a:endParaRPr>
          </a:p>
        </p:txBody>
      </p:sp>
      <p:sp>
        <p:nvSpPr>
          <p:cNvPr id="120" name="Google Shape;120;p4"/>
          <p:cNvSpPr/>
          <p:nvPr/>
        </p:nvSpPr>
        <p:spPr>
          <a:xfrm>
            <a:off x="7808976" y="2834640"/>
            <a:ext cx="603504"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7808976" y="2834640"/>
            <a:ext cx="6035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980" u="none" cap="none" strike="noStrike">
                <a:solidFill>
                  <a:srgbClr val="1E4FD0"/>
                </a:solidFill>
                <a:latin typeface="Calibri"/>
                <a:ea typeface="Calibri"/>
                <a:cs typeface="Calibri"/>
                <a:sym typeface="Calibri"/>
              </a:rPr>
              <a:t>PP-04</a:t>
            </a:r>
            <a:endParaRPr b="0" i="0" sz="980" u="none" cap="none" strike="noStrike">
              <a:solidFill>
                <a:schemeClr val="dk1"/>
              </a:solidFill>
              <a:latin typeface="Calibri"/>
              <a:ea typeface="Calibri"/>
              <a:cs typeface="Calibri"/>
              <a:sym typeface="Calibri"/>
            </a:endParaRPr>
          </a:p>
        </p:txBody>
      </p:sp>
      <p:sp>
        <p:nvSpPr>
          <p:cNvPr id="122" name="Google Shape;122;p4"/>
          <p:cNvSpPr/>
          <p:nvPr/>
        </p:nvSpPr>
        <p:spPr>
          <a:xfrm>
            <a:off x="8503920" y="2834640"/>
            <a:ext cx="2846527"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Manual handoff — e-mail / WhatsApp</a:t>
            </a:r>
            <a:endParaRPr b="0" i="0" sz="1130" u="none" cap="none" strike="noStrike">
              <a:solidFill>
                <a:schemeClr val="dk1"/>
              </a:solidFill>
              <a:latin typeface="Calibri"/>
              <a:ea typeface="Calibri"/>
              <a:cs typeface="Calibri"/>
              <a:sym typeface="Calibri"/>
            </a:endParaRPr>
          </a:p>
        </p:txBody>
      </p:sp>
      <p:sp>
        <p:nvSpPr>
          <p:cNvPr id="123" name="Google Shape;123;p4"/>
          <p:cNvSpPr/>
          <p:nvPr/>
        </p:nvSpPr>
        <p:spPr>
          <a:xfrm>
            <a:off x="7808976" y="3163824"/>
            <a:ext cx="603504"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
          <p:cNvSpPr/>
          <p:nvPr/>
        </p:nvSpPr>
        <p:spPr>
          <a:xfrm>
            <a:off x="7808976" y="3163824"/>
            <a:ext cx="6035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980" u="none" cap="none" strike="noStrike">
                <a:solidFill>
                  <a:srgbClr val="1E4FD0"/>
                </a:solidFill>
                <a:latin typeface="Calibri"/>
                <a:ea typeface="Calibri"/>
                <a:cs typeface="Calibri"/>
                <a:sym typeface="Calibri"/>
              </a:rPr>
              <a:t>PP-05</a:t>
            </a:r>
            <a:endParaRPr b="0" i="0" sz="980" u="none" cap="none" strike="noStrike">
              <a:solidFill>
                <a:schemeClr val="dk1"/>
              </a:solidFill>
              <a:latin typeface="Calibri"/>
              <a:ea typeface="Calibri"/>
              <a:cs typeface="Calibri"/>
              <a:sym typeface="Calibri"/>
            </a:endParaRPr>
          </a:p>
        </p:txBody>
      </p:sp>
      <p:sp>
        <p:nvSpPr>
          <p:cNvPr id="125" name="Google Shape;125;p4"/>
          <p:cNvSpPr/>
          <p:nvPr/>
        </p:nvSpPr>
        <p:spPr>
          <a:xfrm>
            <a:off x="8503920" y="3163824"/>
            <a:ext cx="2846527"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Sertifikat uyğunluğu manual hesablanır</a:t>
            </a:r>
            <a:endParaRPr b="0" i="0" sz="1130" u="none" cap="none" strike="noStrike">
              <a:solidFill>
                <a:schemeClr val="dk1"/>
              </a:solidFill>
              <a:latin typeface="Calibri"/>
              <a:ea typeface="Calibri"/>
              <a:cs typeface="Calibri"/>
              <a:sym typeface="Calibri"/>
            </a:endParaRPr>
          </a:p>
        </p:txBody>
      </p:sp>
      <p:sp>
        <p:nvSpPr>
          <p:cNvPr id="126" name="Google Shape;126;p4"/>
          <p:cNvSpPr/>
          <p:nvPr/>
        </p:nvSpPr>
        <p:spPr>
          <a:xfrm>
            <a:off x="7808976" y="3493008"/>
            <a:ext cx="603504"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
          <p:cNvSpPr/>
          <p:nvPr/>
        </p:nvSpPr>
        <p:spPr>
          <a:xfrm>
            <a:off x="7808976" y="3493008"/>
            <a:ext cx="6035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980" u="none" cap="none" strike="noStrike">
                <a:solidFill>
                  <a:srgbClr val="1E4FD0"/>
                </a:solidFill>
                <a:latin typeface="Calibri"/>
                <a:ea typeface="Calibri"/>
                <a:cs typeface="Calibri"/>
                <a:sym typeface="Calibri"/>
              </a:rPr>
              <a:t>PP-06</a:t>
            </a:r>
            <a:endParaRPr b="0" i="0" sz="980" u="none" cap="none" strike="noStrike">
              <a:solidFill>
                <a:schemeClr val="dk1"/>
              </a:solidFill>
              <a:latin typeface="Calibri"/>
              <a:ea typeface="Calibri"/>
              <a:cs typeface="Calibri"/>
              <a:sym typeface="Calibri"/>
            </a:endParaRPr>
          </a:p>
        </p:txBody>
      </p:sp>
      <p:sp>
        <p:nvSpPr>
          <p:cNvPr id="128" name="Google Shape;128;p4"/>
          <p:cNvSpPr/>
          <p:nvPr/>
        </p:nvSpPr>
        <p:spPr>
          <a:xfrm>
            <a:off x="8503920" y="3493008"/>
            <a:ext cx="2846527"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Self-service portalı mövcud deyil</a:t>
            </a:r>
            <a:endParaRPr b="0" i="0" sz="1130" u="none" cap="none" strike="noStrike">
              <a:solidFill>
                <a:schemeClr val="dk1"/>
              </a:solidFill>
              <a:latin typeface="Calibri"/>
              <a:ea typeface="Calibri"/>
              <a:cs typeface="Calibri"/>
              <a:sym typeface="Calibri"/>
            </a:endParaRPr>
          </a:p>
        </p:txBody>
      </p:sp>
      <p:sp>
        <p:nvSpPr>
          <p:cNvPr id="129" name="Google Shape;129;p4"/>
          <p:cNvSpPr/>
          <p:nvPr/>
        </p:nvSpPr>
        <p:spPr>
          <a:xfrm>
            <a:off x="7626096" y="4078224"/>
            <a:ext cx="3925519" cy="1865376"/>
          </a:xfrm>
          <a:prstGeom prst="roundRect">
            <a:avLst>
              <a:gd fmla="val 3431"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4"/>
          <p:cNvSpPr/>
          <p:nvPr/>
        </p:nvSpPr>
        <p:spPr>
          <a:xfrm>
            <a:off x="7808976" y="4206240"/>
            <a:ext cx="355975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Root Cause Notes</a:t>
            </a:r>
            <a:endParaRPr b="0" i="0" sz="1250" u="none" cap="none" strike="noStrike">
              <a:solidFill>
                <a:schemeClr val="dk1"/>
              </a:solidFill>
              <a:latin typeface="Calibri"/>
              <a:ea typeface="Calibri"/>
              <a:cs typeface="Calibri"/>
              <a:sym typeface="Calibri"/>
            </a:endParaRPr>
          </a:p>
        </p:txBody>
      </p:sp>
      <p:sp>
        <p:nvSpPr>
          <p:cNvPr id="131" name="Google Shape;131;p4"/>
          <p:cNvSpPr/>
          <p:nvPr/>
        </p:nvSpPr>
        <p:spPr>
          <a:xfrm>
            <a:off x="7808976" y="4466861"/>
            <a:ext cx="3559800" cy="12984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2F6BFF"/>
              </a:buClr>
              <a:buSzPts val="939"/>
              <a:buFont typeface="Calibri"/>
              <a:buNone/>
            </a:pPr>
            <a:r>
              <a:rPr b="1" i="0" lang="en-US" sz="1140" u="none" cap="none" strike="noStrike">
                <a:solidFill>
                  <a:srgbClr val="2F6BFF"/>
                </a:solidFill>
                <a:latin typeface="Calibri"/>
                <a:ea typeface="Calibri"/>
                <a:cs typeface="Calibri"/>
                <a:sym typeface="Calibri"/>
              </a:rPr>
              <a:t>Process — </a:t>
            </a:r>
            <a:r>
              <a:rPr b="0" i="0" lang="en-US" sz="1140" u="none" cap="none" strike="noStrike">
                <a:solidFill>
                  <a:srgbClr val="6E7480"/>
                </a:solidFill>
                <a:latin typeface="Calibri"/>
                <a:ea typeface="Calibri"/>
                <a:cs typeface="Calibri"/>
                <a:sym typeface="Calibri"/>
              </a:rPr>
              <a:t>qeydiyyat, validasiya və sertifikat uyğunluğu manual icra olunur; mərhələlər arasında manual handoff var.</a:t>
            </a:r>
            <a:endParaRPr b="0" i="0" sz="1140" u="none" cap="none" strike="noStrike">
              <a:solidFill>
                <a:schemeClr val="dk1"/>
              </a:solidFill>
              <a:latin typeface="Calibri"/>
              <a:ea typeface="Calibri"/>
              <a:cs typeface="Calibri"/>
              <a:sym typeface="Calibri"/>
            </a:endParaRPr>
          </a:p>
          <a:p>
            <a:pPr indent="0" lvl="0" marL="0" marR="0" rtl="0" algn="l">
              <a:lnSpc>
                <a:spcPct val="103000"/>
              </a:lnSpc>
              <a:spcBef>
                <a:spcPts val="600"/>
              </a:spcBef>
              <a:spcAft>
                <a:spcPts val="0"/>
              </a:spcAft>
              <a:buClr>
                <a:srgbClr val="2F6BFF"/>
              </a:buClr>
              <a:buSzPts val="939"/>
              <a:buFont typeface="Calibri"/>
              <a:buNone/>
            </a:pPr>
            <a:r>
              <a:rPr b="1" i="0" lang="en-US" sz="1140" u="none" cap="none" strike="noStrike">
                <a:solidFill>
                  <a:srgbClr val="2F6BFF"/>
                </a:solidFill>
                <a:latin typeface="Calibri"/>
                <a:ea typeface="Calibri"/>
                <a:cs typeface="Calibri"/>
                <a:sym typeface="Calibri"/>
              </a:rPr>
              <a:t>Technology — </a:t>
            </a:r>
            <a:r>
              <a:rPr b="0" i="0" lang="en-US" sz="1140" u="none" cap="none" strike="noStrike">
                <a:solidFill>
                  <a:srgbClr val="6E7480"/>
                </a:solidFill>
                <a:latin typeface="Calibri"/>
                <a:ea typeface="Calibri"/>
                <a:cs typeface="Calibri"/>
                <a:sym typeface="Calibri"/>
              </a:rPr>
              <a:t>mərkəzləşdirilmiş platforma, avtomatik business rule mexanizmi və audit log yoxdur.</a:t>
            </a:r>
            <a:endParaRPr b="0" i="0" sz="1140" u="none" cap="none" strike="noStrike">
              <a:solidFill>
                <a:schemeClr val="dk1"/>
              </a:solidFill>
              <a:latin typeface="Calibri"/>
              <a:ea typeface="Calibri"/>
              <a:cs typeface="Calibri"/>
              <a:sym typeface="Calibri"/>
            </a:endParaRPr>
          </a:p>
          <a:p>
            <a:pPr indent="0" lvl="0" marL="0" marR="0" rtl="0" algn="l">
              <a:lnSpc>
                <a:spcPct val="103000"/>
              </a:lnSpc>
              <a:spcBef>
                <a:spcPts val="600"/>
              </a:spcBef>
              <a:spcAft>
                <a:spcPts val="0"/>
              </a:spcAft>
              <a:buClr>
                <a:srgbClr val="2F6BFF"/>
              </a:buClr>
              <a:buSzPts val="939"/>
              <a:buFont typeface="Calibri"/>
              <a:buNone/>
            </a:pPr>
            <a:r>
              <a:rPr b="1" i="0" lang="en-US" sz="1140" u="none" cap="none" strike="noStrike">
                <a:solidFill>
                  <a:srgbClr val="2F6BFF"/>
                </a:solidFill>
                <a:latin typeface="Calibri"/>
                <a:ea typeface="Calibri"/>
                <a:cs typeface="Calibri"/>
                <a:sym typeface="Calibri"/>
              </a:rPr>
              <a:t>Data — </a:t>
            </a:r>
            <a:r>
              <a:rPr b="0" i="0" lang="en-US" sz="1140" u="none" cap="none" strike="noStrike">
                <a:solidFill>
                  <a:srgbClr val="6E7480"/>
                </a:solidFill>
                <a:latin typeface="Calibri"/>
                <a:ea typeface="Calibri"/>
                <a:cs typeface="Calibri"/>
                <a:sym typeface="Calibri"/>
              </a:rPr>
              <a:t>məlumat müxtəlif Excel fayllarında saxlanılır; vahid mənbə yoxdur.</a:t>
            </a:r>
            <a:endParaRPr b="0" i="0" sz="1140" u="none" cap="none" strike="noStrike">
              <a:solidFill>
                <a:schemeClr val="dk1"/>
              </a:solidFill>
              <a:latin typeface="Calibri"/>
              <a:ea typeface="Calibri"/>
              <a:cs typeface="Calibri"/>
              <a:sym typeface="Calibri"/>
            </a:endParaRPr>
          </a:p>
        </p:txBody>
      </p:sp>
      <p:sp>
        <p:nvSpPr>
          <p:cNvPr id="132" name="Google Shape;132;p4"/>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4"/>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134" name="Google Shape;134;p4"/>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4</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139" name="Shape 139"/>
        <p:cNvGrpSpPr/>
        <p:nvPr/>
      </p:nvGrpSpPr>
      <p:grpSpPr>
        <a:xfrm>
          <a:off x="0" y="0"/>
          <a:ext cx="0" cy="0"/>
          <a:chOff x="0" y="0"/>
          <a:chExt cx="0" cy="0"/>
        </a:xfrm>
      </p:grpSpPr>
      <p:sp>
        <p:nvSpPr>
          <p:cNvPr id="140" name="Google Shape;140;p5"/>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5"/>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04 — Stakeholders &amp; Elicitation Approach</a:t>
            </a:r>
            <a:endParaRPr b="0" i="0" sz="2500" u="none" cap="none" strike="noStrike">
              <a:solidFill>
                <a:schemeClr val="dk1"/>
              </a:solidFill>
              <a:latin typeface="Calibri"/>
              <a:ea typeface="Calibri"/>
              <a:cs typeface="Calibri"/>
              <a:sym typeface="Calibri"/>
            </a:endParaRPr>
          </a:p>
        </p:txBody>
      </p:sp>
      <p:sp>
        <p:nvSpPr>
          <p:cNvPr id="142" name="Google Shape;142;p5"/>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300" u="none" cap="none" strike="noStrike">
                <a:solidFill>
                  <a:srgbClr val="8B909C"/>
                </a:solidFill>
                <a:latin typeface="Calibri"/>
                <a:ea typeface="Calibri"/>
                <a:cs typeface="Calibri"/>
                <a:sym typeface="Calibri"/>
              </a:rPr>
              <a:t>Kimlərlə işlədik və tələbləri hansı metodlarla dəqiqləşdirdik.</a:t>
            </a:r>
            <a:endParaRPr b="0" i="0" sz="1300" u="none" cap="none" strike="noStrike">
              <a:solidFill>
                <a:schemeClr val="dk1"/>
              </a:solidFill>
              <a:latin typeface="Calibri"/>
              <a:ea typeface="Calibri"/>
              <a:cs typeface="Calibri"/>
              <a:sym typeface="Calibri"/>
            </a:endParaRPr>
          </a:p>
        </p:txBody>
      </p:sp>
      <p:sp>
        <p:nvSpPr>
          <p:cNvPr id="143" name="Google Shape;143;p5"/>
          <p:cNvSpPr/>
          <p:nvPr/>
        </p:nvSpPr>
        <p:spPr>
          <a:xfrm>
            <a:off x="640080" y="1417320"/>
            <a:ext cx="5321808" cy="2121408"/>
          </a:xfrm>
          <a:prstGeom prst="roundRect">
            <a:avLst>
              <a:gd fmla="val 3017"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5"/>
          <p:cNvSpPr/>
          <p:nvPr/>
        </p:nvSpPr>
        <p:spPr>
          <a:xfrm>
            <a:off x="822960" y="1545336"/>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Stakeholder Register Summary</a:t>
            </a:r>
            <a:endParaRPr b="0" i="0" sz="1350" u="none" cap="none" strike="noStrike">
              <a:solidFill>
                <a:schemeClr val="dk1"/>
              </a:solidFill>
              <a:latin typeface="Calibri"/>
              <a:ea typeface="Calibri"/>
              <a:cs typeface="Calibri"/>
              <a:sym typeface="Calibri"/>
            </a:endParaRPr>
          </a:p>
        </p:txBody>
      </p:sp>
      <p:sp>
        <p:nvSpPr>
          <p:cNvPr id="145" name="Google Shape;145;p5"/>
          <p:cNvSpPr/>
          <p:nvPr/>
        </p:nvSpPr>
        <p:spPr>
          <a:xfrm>
            <a:off x="822960" y="1856232"/>
            <a:ext cx="16916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39"/>
              <a:buFont typeface="Calibri"/>
              <a:buNone/>
            </a:pPr>
            <a:r>
              <a:rPr b="1" i="0" lang="en-US" sz="1040" u="none" cap="none" strike="noStrike">
                <a:solidFill>
                  <a:srgbClr val="8B909C"/>
                </a:solidFill>
                <a:latin typeface="Calibri"/>
                <a:ea typeface="Calibri"/>
                <a:cs typeface="Calibri"/>
                <a:sym typeface="Calibri"/>
              </a:rPr>
              <a:t>Maraqlı tərəf</a:t>
            </a:r>
            <a:endParaRPr b="0" i="0" sz="1040" u="none" cap="none" strike="noStrike">
              <a:solidFill>
                <a:schemeClr val="dk1"/>
              </a:solidFill>
              <a:latin typeface="Calibri"/>
              <a:ea typeface="Calibri"/>
              <a:cs typeface="Calibri"/>
              <a:sym typeface="Calibri"/>
            </a:endParaRPr>
          </a:p>
        </p:txBody>
      </p:sp>
      <p:sp>
        <p:nvSpPr>
          <p:cNvPr id="146" name="Google Shape;146;p5"/>
          <p:cNvSpPr/>
          <p:nvPr/>
        </p:nvSpPr>
        <p:spPr>
          <a:xfrm>
            <a:off x="2560320" y="1856232"/>
            <a:ext cx="16916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39"/>
              <a:buFont typeface="Calibri"/>
              <a:buNone/>
            </a:pPr>
            <a:r>
              <a:rPr b="1" i="0" lang="en-US" sz="1040" u="none" cap="none" strike="noStrike">
                <a:solidFill>
                  <a:srgbClr val="8B909C"/>
                </a:solidFill>
                <a:latin typeface="Calibri"/>
                <a:ea typeface="Calibri"/>
                <a:cs typeface="Calibri"/>
                <a:sym typeface="Calibri"/>
              </a:rPr>
              <a:t>Təsir</a:t>
            </a:r>
            <a:endParaRPr b="0" i="0" sz="1040" u="none" cap="none" strike="noStrike">
              <a:solidFill>
                <a:schemeClr val="dk1"/>
              </a:solidFill>
              <a:latin typeface="Calibri"/>
              <a:ea typeface="Calibri"/>
              <a:cs typeface="Calibri"/>
              <a:sym typeface="Calibri"/>
            </a:endParaRPr>
          </a:p>
        </p:txBody>
      </p:sp>
      <p:sp>
        <p:nvSpPr>
          <p:cNvPr id="147" name="Google Shape;147;p5"/>
          <p:cNvSpPr/>
          <p:nvPr/>
        </p:nvSpPr>
        <p:spPr>
          <a:xfrm>
            <a:off x="3401568" y="1856232"/>
            <a:ext cx="16916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39"/>
              <a:buFont typeface="Calibri"/>
              <a:buNone/>
            </a:pPr>
            <a:r>
              <a:rPr b="1" i="0" lang="en-US" sz="1040" u="none" cap="none" strike="noStrike">
                <a:solidFill>
                  <a:srgbClr val="8B909C"/>
                </a:solidFill>
                <a:latin typeface="Calibri"/>
                <a:ea typeface="Calibri"/>
                <a:cs typeface="Calibri"/>
                <a:sym typeface="Calibri"/>
              </a:rPr>
              <a:t>Maraq</a:t>
            </a:r>
            <a:endParaRPr b="0" i="0" sz="1040" u="none" cap="none" strike="noStrike">
              <a:solidFill>
                <a:schemeClr val="dk1"/>
              </a:solidFill>
              <a:latin typeface="Calibri"/>
              <a:ea typeface="Calibri"/>
              <a:cs typeface="Calibri"/>
              <a:sym typeface="Calibri"/>
            </a:endParaRPr>
          </a:p>
        </p:txBody>
      </p:sp>
      <p:sp>
        <p:nvSpPr>
          <p:cNvPr id="148" name="Google Shape;148;p5"/>
          <p:cNvSpPr/>
          <p:nvPr/>
        </p:nvSpPr>
        <p:spPr>
          <a:xfrm>
            <a:off x="4169664" y="1856232"/>
            <a:ext cx="16916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39"/>
              <a:buFont typeface="Calibri"/>
              <a:buNone/>
            </a:pPr>
            <a:r>
              <a:rPr b="1" i="0" lang="en-US" sz="1040" u="none" cap="none" strike="noStrike">
                <a:solidFill>
                  <a:srgbClr val="8B909C"/>
                </a:solidFill>
                <a:latin typeface="Calibri"/>
                <a:ea typeface="Calibri"/>
                <a:cs typeface="Calibri"/>
                <a:sym typeface="Calibri"/>
              </a:rPr>
              <a:t>Rolu</a:t>
            </a:r>
            <a:endParaRPr b="0" i="0" sz="1040" u="none" cap="none" strike="noStrike">
              <a:solidFill>
                <a:schemeClr val="dk1"/>
              </a:solidFill>
              <a:latin typeface="Calibri"/>
              <a:ea typeface="Calibri"/>
              <a:cs typeface="Calibri"/>
              <a:sym typeface="Calibri"/>
            </a:endParaRPr>
          </a:p>
        </p:txBody>
      </p:sp>
      <p:sp>
        <p:nvSpPr>
          <p:cNvPr id="149" name="Google Shape;149;p5"/>
          <p:cNvSpPr/>
          <p:nvPr/>
        </p:nvSpPr>
        <p:spPr>
          <a:xfrm>
            <a:off x="768096" y="2075688"/>
            <a:ext cx="5065776" cy="228600"/>
          </a:xfrm>
          <a:prstGeom prst="rect">
            <a:avLst/>
          </a:prstGeom>
          <a:solidFill>
            <a:srgbClr val="F7F9FD"/>
          </a:solidFill>
          <a:ln cap="flat" cmpd="sng" w="12700">
            <a:solidFill>
              <a:srgbClr val="F7F9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5"/>
          <p:cNvSpPr/>
          <p:nvPr/>
        </p:nvSpPr>
        <p:spPr>
          <a:xfrm>
            <a:off x="822960" y="2093976"/>
            <a:ext cx="16916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89"/>
              <a:buFont typeface="Calibri"/>
              <a:buNone/>
            </a:pPr>
            <a:r>
              <a:rPr b="1" i="0" lang="en-US" sz="1090" u="none" cap="none" strike="noStrike">
                <a:solidFill>
                  <a:srgbClr val="232A46"/>
                </a:solidFill>
                <a:latin typeface="Calibri"/>
                <a:ea typeface="Calibri"/>
                <a:cs typeface="Calibri"/>
                <a:sym typeface="Calibri"/>
              </a:rPr>
              <a:t>Administrator</a:t>
            </a:r>
            <a:endParaRPr b="0" i="0" sz="1090" u="none" cap="none" strike="noStrike">
              <a:solidFill>
                <a:schemeClr val="dk1"/>
              </a:solidFill>
              <a:latin typeface="Calibri"/>
              <a:ea typeface="Calibri"/>
              <a:cs typeface="Calibri"/>
              <a:sym typeface="Calibri"/>
            </a:endParaRPr>
          </a:p>
        </p:txBody>
      </p:sp>
      <p:sp>
        <p:nvSpPr>
          <p:cNvPr id="151" name="Google Shape;151;p5"/>
          <p:cNvSpPr/>
          <p:nvPr/>
        </p:nvSpPr>
        <p:spPr>
          <a:xfrm>
            <a:off x="2560320" y="20939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Güclü</a:t>
            </a:r>
            <a:endParaRPr b="0" i="0" sz="1090" u="none" cap="none" strike="noStrike">
              <a:solidFill>
                <a:schemeClr val="dk1"/>
              </a:solidFill>
              <a:latin typeface="Calibri"/>
              <a:ea typeface="Calibri"/>
              <a:cs typeface="Calibri"/>
              <a:sym typeface="Calibri"/>
            </a:endParaRPr>
          </a:p>
        </p:txBody>
      </p:sp>
      <p:sp>
        <p:nvSpPr>
          <p:cNvPr id="152" name="Google Shape;152;p5"/>
          <p:cNvSpPr/>
          <p:nvPr/>
        </p:nvSpPr>
        <p:spPr>
          <a:xfrm>
            <a:off x="3401568" y="20939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Güclü</a:t>
            </a:r>
            <a:endParaRPr b="0" i="0" sz="1090" u="none" cap="none" strike="noStrike">
              <a:solidFill>
                <a:schemeClr val="dk1"/>
              </a:solidFill>
              <a:latin typeface="Calibri"/>
              <a:ea typeface="Calibri"/>
              <a:cs typeface="Calibri"/>
              <a:sym typeface="Calibri"/>
            </a:endParaRPr>
          </a:p>
        </p:txBody>
      </p:sp>
      <p:sp>
        <p:nvSpPr>
          <p:cNvPr id="153" name="Google Shape;153;p5"/>
          <p:cNvSpPr/>
          <p:nvPr/>
        </p:nvSpPr>
        <p:spPr>
          <a:xfrm>
            <a:off x="4169664" y="2093976"/>
            <a:ext cx="160020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Əsas key user</a:t>
            </a:r>
            <a:endParaRPr b="0" i="0" sz="1090" u="none" cap="none" strike="noStrike">
              <a:solidFill>
                <a:schemeClr val="dk1"/>
              </a:solidFill>
              <a:latin typeface="Calibri"/>
              <a:ea typeface="Calibri"/>
              <a:cs typeface="Calibri"/>
              <a:sym typeface="Calibri"/>
            </a:endParaRPr>
          </a:p>
        </p:txBody>
      </p:sp>
      <p:sp>
        <p:nvSpPr>
          <p:cNvPr id="154" name="Google Shape;154;p5"/>
          <p:cNvSpPr/>
          <p:nvPr/>
        </p:nvSpPr>
        <p:spPr>
          <a:xfrm>
            <a:off x="822960" y="2322576"/>
            <a:ext cx="16916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89"/>
              <a:buFont typeface="Calibri"/>
              <a:buNone/>
            </a:pPr>
            <a:r>
              <a:rPr b="1" i="0" lang="en-US" sz="1090" u="none" cap="none" strike="noStrike">
                <a:solidFill>
                  <a:srgbClr val="232A46"/>
                </a:solidFill>
                <a:latin typeface="Calibri"/>
                <a:ea typeface="Calibri"/>
                <a:cs typeface="Calibri"/>
                <a:sym typeface="Calibri"/>
              </a:rPr>
              <a:t>Müəllim (Teacher)</a:t>
            </a:r>
            <a:endParaRPr b="0" i="0" sz="1090" u="none" cap="none" strike="noStrike">
              <a:solidFill>
                <a:schemeClr val="dk1"/>
              </a:solidFill>
              <a:latin typeface="Calibri"/>
              <a:ea typeface="Calibri"/>
              <a:cs typeface="Calibri"/>
              <a:sym typeface="Calibri"/>
            </a:endParaRPr>
          </a:p>
        </p:txBody>
      </p:sp>
      <p:sp>
        <p:nvSpPr>
          <p:cNvPr id="155" name="Google Shape;155;p5"/>
          <p:cNvSpPr/>
          <p:nvPr/>
        </p:nvSpPr>
        <p:spPr>
          <a:xfrm>
            <a:off x="2560320" y="23225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Orta</a:t>
            </a:r>
            <a:endParaRPr b="0" i="0" sz="1090" u="none" cap="none" strike="noStrike">
              <a:solidFill>
                <a:schemeClr val="dk1"/>
              </a:solidFill>
              <a:latin typeface="Calibri"/>
              <a:ea typeface="Calibri"/>
              <a:cs typeface="Calibri"/>
              <a:sym typeface="Calibri"/>
            </a:endParaRPr>
          </a:p>
        </p:txBody>
      </p:sp>
      <p:sp>
        <p:nvSpPr>
          <p:cNvPr id="156" name="Google Shape;156;p5"/>
          <p:cNvSpPr/>
          <p:nvPr/>
        </p:nvSpPr>
        <p:spPr>
          <a:xfrm>
            <a:off x="3401568" y="23225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Güclü</a:t>
            </a:r>
            <a:endParaRPr b="0" i="0" sz="1090" u="none" cap="none" strike="noStrike">
              <a:solidFill>
                <a:schemeClr val="dk1"/>
              </a:solidFill>
              <a:latin typeface="Calibri"/>
              <a:ea typeface="Calibri"/>
              <a:cs typeface="Calibri"/>
              <a:sym typeface="Calibri"/>
            </a:endParaRPr>
          </a:p>
        </p:txBody>
      </p:sp>
      <p:sp>
        <p:nvSpPr>
          <p:cNvPr id="157" name="Google Shape;157;p5"/>
          <p:cNvSpPr/>
          <p:nvPr/>
        </p:nvSpPr>
        <p:spPr>
          <a:xfrm>
            <a:off x="4169664" y="2322576"/>
            <a:ext cx="160020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Akademik qeydiyyat</a:t>
            </a:r>
            <a:endParaRPr b="0" i="0" sz="1090" u="none" cap="none" strike="noStrike">
              <a:solidFill>
                <a:schemeClr val="dk1"/>
              </a:solidFill>
              <a:latin typeface="Calibri"/>
              <a:ea typeface="Calibri"/>
              <a:cs typeface="Calibri"/>
              <a:sym typeface="Calibri"/>
            </a:endParaRPr>
          </a:p>
        </p:txBody>
      </p:sp>
      <p:sp>
        <p:nvSpPr>
          <p:cNvPr id="158" name="Google Shape;158;p5"/>
          <p:cNvSpPr/>
          <p:nvPr/>
        </p:nvSpPr>
        <p:spPr>
          <a:xfrm>
            <a:off x="768096" y="2532888"/>
            <a:ext cx="5065776" cy="228600"/>
          </a:xfrm>
          <a:prstGeom prst="rect">
            <a:avLst/>
          </a:prstGeom>
          <a:solidFill>
            <a:srgbClr val="F7F9FD"/>
          </a:solidFill>
          <a:ln cap="flat" cmpd="sng" w="12700">
            <a:solidFill>
              <a:srgbClr val="F7F9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5"/>
          <p:cNvSpPr/>
          <p:nvPr/>
        </p:nvSpPr>
        <p:spPr>
          <a:xfrm>
            <a:off x="822960" y="2551176"/>
            <a:ext cx="16916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89"/>
              <a:buFont typeface="Calibri"/>
              <a:buNone/>
            </a:pPr>
            <a:r>
              <a:rPr b="1" i="0" lang="en-US" sz="1090" u="none" cap="none" strike="noStrike">
                <a:solidFill>
                  <a:srgbClr val="232A46"/>
                </a:solidFill>
                <a:latin typeface="Calibri"/>
                <a:ea typeface="Calibri"/>
                <a:cs typeface="Calibri"/>
                <a:sym typeface="Calibri"/>
              </a:rPr>
              <a:t>Tələbə (Student)</a:t>
            </a:r>
            <a:endParaRPr b="0" i="0" sz="1090" u="none" cap="none" strike="noStrike">
              <a:solidFill>
                <a:schemeClr val="dk1"/>
              </a:solidFill>
              <a:latin typeface="Calibri"/>
              <a:ea typeface="Calibri"/>
              <a:cs typeface="Calibri"/>
              <a:sym typeface="Calibri"/>
            </a:endParaRPr>
          </a:p>
        </p:txBody>
      </p:sp>
      <p:sp>
        <p:nvSpPr>
          <p:cNvPr id="160" name="Google Shape;160;p5"/>
          <p:cNvSpPr/>
          <p:nvPr/>
        </p:nvSpPr>
        <p:spPr>
          <a:xfrm>
            <a:off x="2560320" y="25511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Orta</a:t>
            </a:r>
            <a:endParaRPr b="0" i="0" sz="1090" u="none" cap="none" strike="noStrike">
              <a:solidFill>
                <a:schemeClr val="dk1"/>
              </a:solidFill>
              <a:latin typeface="Calibri"/>
              <a:ea typeface="Calibri"/>
              <a:cs typeface="Calibri"/>
              <a:sym typeface="Calibri"/>
            </a:endParaRPr>
          </a:p>
        </p:txBody>
      </p:sp>
      <p:sp>
        <p:nvSpPr>
          <p:cNvPr id="161" name="Google Shape;161;p5"/>
          <p:cNvSpPr/>
          <p:nvPr/>
        </p:nvSpPr>
        <p:spPr>
          <a:xfrm>
            <a:off x="3401568" y="25511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Güclü</a:t>
            </a:r>
            <a:endParaRPr b="0" i="0" sz="1090" u="none" cap="none" strike="noStrike">
              <a:solidFill>
                <a:schemeClr val="dk1"/>
              </a:solidFill>
              <a:latin typeface="Calibri"/>
              <a:ea typeface="Calibri"/>
              <a:cs typeface="Calibri"/>
              <a:sym typeface="Calibri"/>
            </a:endParaRPr>
          </a:p>
        </p:txBody>
      </p:sp>
      <p:sp>
        <p:nvSpPr>
          <p:cNvPr id="162" name="Google Shape;162;p5"/>
          <p:cNvSpPr/>
          <p:nvPr/>
        </p:nvSpPr>
        <p:spPr>
          <a:xfrm>
            <a:off x="4169664" y="2551176"/>
            <a:ext cx="160020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Self-service istifadəçi</a:t>
            </a:r>
            <a:endParaRPr b="0" i="0" sz="1090" u="none" cap="none" strike="noStrike">
              <a:solidFill>
                <a:schemeClr val="dk1"/>
              </a:solidFill>
              <a:latin typeface="Calibri"/>
              <a:ea typeface="Calibri"/>
              <a:cs typeface="Calibri"/>
              <a:sym typeface="Calibri"/>
            </a:endParaRPr>
          </a:p>
        </p:txBody>
      </p:sp>
      <p:sp>
        <p:nvSpPr>
          <p:cNvPr id="163" name="Google Shape;163;p5"/>
          <p:cNvSpPr/>
          <p:nvPr/>
        </p:nvSpPr>
        <p:spPr>
          <a:xfrm>
            <a:off x="822960" y="2779776"/>
            <a:ext cx="16916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89"/>
              <a:buFont typeface="Calibri"/>
              <a:buNone/>
            </a:pPr>
            <a:r>
              <a:rPr b="1" i="0" lang="en-US" sz="1090" u="none" cap="none" strike="noStrike">
                <a:solidFill>
                  <a:srgbClr val="232A46"/>
                </a:solidFill>
                <a:latin typeface="Calibri"/>
                <a:ea typeface="Calibri"/>
                <a:cs typeface="Calibri"/>
                <a:sym typeface="Calibri"/>
              </a:rPr>
              <a:t>Məhsul sahibi</a:t>
            </a:r>
            <a:endParaRPr b="0" i="0" sz="1090" u="none" cap="none" strike="noStrike">
              <a:solidFill>
                <a:schemeClr val="dk1"/>
              </a:solidFill>
              <a:latin typeface="Calibri"/>
              <a:ea typeface="Calibri"/>
              <a:cs typeface="Calibri"/>
              <a:sym typeface="Calibri"/>
            </a:endParaRPr>
          </a:p>
        </p:txBody>
      </p:sp>
      <p:sp>
        <p:nvSpPr>
          <p:cNvPr id="164" name="Google Shape;164;p5"/>
          <p:cNvSpPr/>
          <p:nvPr/>
        </p:nvSpPr>
        <p:spPr>
          <a:xfrm>
            <a:off x="2560320" y="27797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Güclü</a:t>
            </a:r>
            <a:endParaRPr b="0" i="0" sz="1090" u="none" cap="none" strike="noStrike">
              <a:solidFill>
                <a:schemeClr val="dk1"/>
              </a:solidFill>
              <a:latin typeface="Calibri"/>
              <a:ea typeface="Calibri"/>
              <a:cs typeface="Calibri"/>
              <a:sym typeface="Calibri"/>
            </a:endParaRPr>
          </a:p>
        </p:txBody>
      </p:sp>
      <p:sp>
        <p:nvSpPr>
          <p:cNvPr id="165" name="Google Shape;165;p5"/>
          <p:cNvSpPr/>
          <p:nvPr/>
        </p:nvSpPr>
        <p:spPr>
          <a:xfrm>
            <a:off x="3401568" y="27797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Güclü</a:t>
            </a:r>
            <a:endParaRPr b="0" i="0" sz="1090" u="none" cap="none" strike="noStrike">
              <a:solidFill>
                <a:schemeClr val="dk1"/>
              </a:solidFill>
              <a:latin typeface="Calibri"/>
              <a:ea typeface="Calibri"/>
              <a:cs typeface="Calibri"/>
              <a:sym typeface="Calibri"/>
            </a:endParaRPr>
          </a:p>
        </p:txBody>
      </p:sp>
      <p:sp>
        <p:nvSpPr>
          <p:cNvPr id="166" name="Google Shape;166;p5"/>
          <p:cNvSpPr/>
          <p:nvPr/>
        </p:nvSpPr>
        <p:spPr>
          <a:xfrm>
            <a:off x="4169664" y="2779776"/>
            <a:ext cx="160020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Sign-off / qərar</a:t>
            </a:r>
            <a:endParaRPr b="0" i="0" sz="1090" u="none" cap="none" strike="noStrike">
              <a:solidFill>
                <a:schemeClr val="dk1"/>
              </a:solidFill>
              <a:latin typeface="Calibri"/>
              <a:ea typeface="Calibri"/>
              <a:cs typeface="Calibri"/>
              <a:sym typeface="Calibri"/>
            </a:endParaRPr>
          </a:p>
        </p:txBody>
      </p:sp>
      <p:sp>
        <p:nvSpPr>
          <p:cNvPr id="167" name="Google Shape;167;p5"/>
          <p:cNvSpPr/>
          <p:nvPr/>
        </p:nvSpPr>
        <p:spPr>
          <a:xfrm>
            <a:off x="768096" y="2990088"/>
            <a:ext cx="5065776" cy="228600"/>
          </a:xfrm>
          <a:prstGeom prst="rect">
            <a:avLst/>
          </a:prstGeom>
          <a:solidFill>
            <a:srgbClr val="F7F9FD"/>
          </a:solidFill>
          <a:ln cap="flat" cmpd="sng" w="12700">
            <a:solidFill>
              <a:srgbClr val="F7F9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5"/>
          <p:cNvSpPr/>
          <p:nvPr/>
        </p:nvSpPr>
        <p:spPr>
          <a:xfrm>
            <a:off x="822960" y="3008376"/>
            <a:ext cx="169164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89"/>
              <a:buFont typeface="Calibri"/>
              <a:buNone/>
            </a:pPr>
            <a:r>
              <a:rPr b="1" i="0" lang="en-US" sz="1090" u="none" cap="none" strike="noStrike">
                <a:solidFill>
                  <a:srgbClr val="232A46"/>
                </a:solidFill>
                <a:latin typeface="Calibri"/>
                <a:ea typeface="Calibri"/>
                <a:cs typeface="Calibri"/>
                <a:sym typeface="Calibri"/>
              </a:rPr>
              <a:t>Layihə meneceri</a:t>
            </a:r>
            <a:endParaRPr b="0" i="0" sz="1090" u="none" cap="none" strike="noStrike">
              <a:solidFill>
                <a:schemeClr val="dk1"/>
              </a:solidFill>
              <a:latin typeface="Calibri"/>
              <a:ea typeface="Calibri"/>
              <a:cs typeface="Calibri"/>
              <a:sym typeface="Calibri"/>
            </a:endParaRPr>
          </a:p>
        </p:txBody>
      </p:sp>
      <p:sp>
        <p:nvSpPr>
          <p:cNvPr id="169" name="Google Shape;169;p5"/>
          <p:cNvSpPr/>
          <p:nvPr/>
        </p:nvSpPr>
        <p:spPr>
          <a:xfrm>
            <a:off x="2560320" y="30083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Güclü</a:t>
            </a:r>
            <a:endParaRPr b="0" i="0" sz="1090" u="none" cap="none" strike="noStrike">
              <a:solidFill>
                <a:schemeClr val="dk1"/>
              </a:solidFill>
              <a:latin typeface="Calibri"/>
              <a:ea typeface="Calibri"/>
              <a:cs typeface="Calibri"/>
              <a:sym typeface="Calibri"/>
            </a:endParaRPr>
          </a:p>
        </p:txBody>
      </p:sp>
      <p:sp>
        <p:nvSpPr>
          <p:cNvPr id="170" name="Google Shape;170;p5"/>
          <p:cNvSpPr/>
          <p:nvPr/>
        </p:nvSpPr>
        <p:spPr>
          <a:xfrm>
            <a:off x="3401568" y="3008376"/>
            <a:ext cx="82296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Güclü</a:t>
            </a:r>
            <a:endParaRPr b="0" i="0" sz="1090" u="none" cap="none" strike="noStrike">
              <a:solidFill>
                <a:schemeClr val="dk1"/>
              </a:solidFill>
              <a:latin typeface="Calibri"/>
              <a:ea typeface="Calibri"/>
              <a:cs typeface="Calibri"/>
              <a:sym typeface="Calibri"/>
            </a:endParaRPr>
          </a:p>
        </p:txBody>
      </p:sp>
      <p:sp>
        <p:nvSpPr>
          <p:cNvPr id="171" name="Google Shape;171;p5"/>
          <p:cNvSpPr/>
          <p:nvPr/>
        </p:nvSpPr>
        <p:spPr>
          <a:xfrm>
            <a:off x="4169664" y="3008376"/>
            <a:ext cx="160020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480"/>
              </a:buClr>
              <a:buSzPts val="889"/>
              <a:buFont typeface="Calibri"/>
              <a:buNone/>
            </a:pPr>
            <a:r>
              <a:rPr b="0" i="0" lang="en-US" sz="1090" u="none" cap="none" strike="noStrike">
                <a:solidFill>
                  <a:srgbClr val="6E7480"/>
                </a:solidFill>
                <a:latin typeface="Calibri"/>
                <a:ea typeface="Calibri"/>
                <a:cs typeface="Calibri"/>
                <a:sym typeface="Calibri"/>
              </a:rPr>
              <a:t>Koordinasiya</a:t>
            </a:r>
            <a:endParaRPr b="0" i="0" sz="1090" u="none" cap="none" strike="noStrike">
              <a:solidFill>
                <a:schemeClr val="dk1"/>
              </a:solidFill>
              <a:latin typeface="Calibri"/>
              <a:ea typeface="Calibri"/>
              <a:cs typeface="Calibri"/>
              <a:sym typeface="Calibri"/>
            </a:endParaRPr>
          </a:p>
        </p:txBody>
      </p:sp>
      <p:sp>
        <p:nvSpPr>
          <p:cNvPr id="172" name="Google Shape;172;p5"/>
          <p:cNvSpPr/>
          <p:nvPr/>
        </p:nvSpPr>
        <p:spPr>
          <a:xfrm>
            <a:off x="822960" y="3264408"/>
            <a:ext cx="4956048"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39"/>
              <a:buFont typeface="Calibri"/>
              <a:buNone/>
            </a:pPr>
            <a:r>
              <a:rPr b="0" i="1" lang="en-US" sz="940" u="none" cap="none" strike="noStrike">
                <a:solidFill>
                  <a:srgbClr val="8B909C"/>
                </a:solidFill>
                <a:latin typeface="Calibri"/>
                <a:ea typeface="Calibri"/>
                <a:cs typeface="Calibri"/>
                <a:sym typeface="Calibri"/>
              </a:rPr>
              <a:t>Sign-off: Business Owner · Administrator · Teacher · Student · IT Business Analyst</a:t>
            </a:r>
            <a:endParaRPr b="0" i="0" sz="940" u="none" cap="none" strike="noStrike">
              <a:solidFill>
                <a:schemeClr val="dk1"/>
              </a:solidFill>
              <a:latin typeface="Calibri"/>
              <a:ea typeface="Calibri"/>
              <a:cs typeface="Calibri"/>
              <a:sym typeface="Calibri"/>
            </a:endParaRPr>
          </a:p>
        </p:txBody>
      </p:sp>
      <p:sp>
        <p:nvSpPr>
          <p:cNvPr id="173" name="Google Shape;173;p5"/>
          <p:cNvSpPr/>
          <p:nvPr/>
        </p:nvSpPr>
        <p:spPr>
          <a:xfrm>
            <a:off x="6227064" y="1417320"/>
            <a:ext cx="5321808" cy="2121408"/>
          </a:xfrm>
          <a:prstGeom prst="roundRect">
            <a:avLst>
              <a:gd fmla="val 3017"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5"/>
          <p:cNvSpPr/>
          <p:nvPr/>
        </p:nvSpPr>
        <p:spPr>
          <a:xfrm>
            <a:off x="6409944" y="1545336"/>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Elicitation Plan</a:t>
            </a:r>
            <a:endParaRPr b="0" i="0" sz="1350" u="none" cap="none" strike="noStrike">
              <a:solidFill>
                <a:schemeClr val="dk1"/>
              </a:solidFill>
              <a:latin typeface="Calibri"/>
              <a:ea typeface="Calibri"/>
              <a:cs typeface="Calibri"/>
              <a:sym typeface="Calibri"/>
            </a:endParaRPr>
          </a:p>
        </p:txBody>
      </p:sp>
      <p:sp>
        <p:nvSpPr>
          <p:cNvPr id="175" name="Google Shape;175;p5"/>
          <p:cNvSpPr/>
          <p:nvPr/>
        </p:nvSpPr>
        <p:spPr>
          <a:xfrm>
            <a:off x="6409944" y="1920240"/>
            <a:ext cx="32004" cy="292608"/>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5"/>
          <p:cNvSpPr/>
          <p:nvPr/>
        </p:nvSpPr>
        <p:spPr>
          <a:xfrm>
            <a:off x="6556248" y="1874520"/>
            <a:ext cx="157276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930"/>
              <a:buFont typeface="Calibri"/>
              <a:buNone/>
            </a:pPr>
            <a:r>
              <a:rPr b="1" i="0" lang="en-US" sz="1030" u="none" cap="none" strike="noStrike">
                <a:solidFill>
                  <a:srgbClr val="232A46"/>
                </a:solidFill>
                <a:latin typeface="Calibri"/>
                <a:ea typeface="Calibri"/>
                <a:cs typeface="Calibri"/>
                <a:sym typeface="Calibri"/>
              </a:rPr>
              <a:t>Business Interview</a:t>
            </a:r>
            <a:endParaRPr b="0" i="0" sz="1030" u="none" cap="none" strike="noStrike">
              <a:solidFill>
                <a:schemeClr val="dk1"/>
              </a:solidFill>
              <a:latin typeface="Calibri"/>
              <a:ea typeface="Calibri"/>
              <a:cs typeface="Calibri"/>
              <a:sym typeface="Calibri"/>
            </a:endParaRPr>
          </a:p>
        </p:txBody>
      </p:sp>
      <p:sp>
        <p:nvSpPr>
          <p:cNvPr id="177" name="Google Shape;177;p5"/>
          <p:cNvSpPr/>
          <p:nvPr/>
        </p:nvSpPr>
        <p:spPr>
          <a:xfrm>
            <a:off x="8147304" y="1874520"/>
            <a:ext cx="3200400"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970" u="none" cap="none" strike="noStrike">
                <a:solidFill>
                  <a:srgbClr val="6E7480"/>
                </a:solidFill>
                <a:latin typeface="Calibri"/>
                <a:ea typeface="Calibri"/>
                <a:cs typeface="Calibri"/>
                <a:sym typeface="Calibri"/>
              </a:rPr>
              <a:t>Administrator, Müəllim və Tələbə ilə birbaşa görüş — AS-IS-in real axınını mənbədən öyrənmək üçün</a:t>
            </a:r>
            <a:endParaRPr b="0" i="0" sz="970" u="none" cap="none" strike="noStrike">
              <a:solidFill>
                <a:schemeClr val="dk1"/>
              </a:solidFill>
              <a:latin typeface="Calibri"/>
              <a:ea typeface="Calibri"/>
              <a:cs typeface="Calibri"/>
              <a:sym typeface="Calibri"/>
            </a:endParaRPr>
          </a:p>
        </p:txBody>
      </p:sp>
      <p:sp>
        <p:nvSpPr>
          <p:cNvPr id="178" name="Google Shape;178;p5"/>
          <p:cNvSpPr/>
          <p:nvPr/>
        </p:nvSpPr>
        <p:spPr>
          <a:xfrm>
            <a:off x="6409944" y="2322576"/>
            <a:ext cx="32004" cy="292608"/>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5"/>
          <p:cNvSpPr/>
          <p:nvPr/>
        </p:nvSpPr>
        <p:spPr>
          <a:xfrm>
            <a:off x="6556248" y="2276856"/>
            <a:ext cx="157276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930"/>
              <a:buFont typeface="Calibri"/>
              <a:buNone/>
            </a:pPr>
            <a:r>
              <a:rPr b="1" i="0" lang="en-US" sz="1030" u="none" cap="none" strike="noStrike">
                <a:solidFill>
                  <a:srgbClr val="232A46"/>
                </a:solidFill>
                <a:latin typeface="Calibri"/>
                <a:ea typeface="Calibri"/>
                <a:cs typeface="Calibri"/>
                <a:sym typeface="Calibri"/>
              </a:rPr>
              <a:t>Document Analysis</a:t>
            </a:r>
            <a:endParaRPr b="0" i="0" sz="1030" u="none" cap="none" strike="noStrike">
              <a:solidFill>
                <a:schemeClr val="dk1"/>
              </a:solidFill>
              <a:latin typeface="Calibri"/>
              <a:ea typeface="Calibri"/>
              <a:cs typeface="Calibri"/>
              <a:sym typeface="Calibri"/>
            </a:endParaRPr>
          </a:p>
        </p:txBody>
      </p:sp>
      <p:sp>
        <p:nvSpPr>
          <p:cNvPr id="180" name="Google Shape;180;p5"/>
          <p:cNvSpPr/>
          <p:nvPr/>
        </p:nvSpPr>
        <p:spPr>
          <a:xfrm>
            <a:off x="8147304" y="2276856"/>
            <a:ext cx="3200400"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970" u="none" cap="none" strike="noStrike">
                <a:solidFill>
                  <a:srgbClr val="6E7480"/>
                </a:solidFill>
                <a:latin typeface="Calibri"/>
                <a:ea typeface="Calibri"/>
                <a:cs typeface="Calibri"/>
                <a:sym typeface="Calibri"/>
              </a:rPr>
              <a:t>Registration / Capacity Excel faylları, attendance sheet və assessment qeydləri</a:t>
            </a:r>
            <a:endParaRPr b="0" i="0" sz="970" u="none" cap="none" strike="noStrike">
              <a:solidFill>
                <a:schemeClr val="dk1"/>
              </a:solidFill>
              <a:latin typeface="Calibri"/>
              <a:ea typeface="Calibri"/>
              <a:cs typeface="Calibri"/>
              <a:sym typeface="Calibri"/>
            </a:endParaRPr>
          </a:p>
        </p:txBody>
      </p:sp>
      <p:sp>
        <p:nvSpPr>
          <p:cNvPr id="181" name="Google Shape;181;p5"/>
          <p:cNvSpPr/>
          <p:nvPr/>
        </p:nvSpPr>
        <p:spPr>
          <a:xfrm>
            <a:off x="6409944" y="2724912"/>
            <a:ext cx="32004" cy="292608"/>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a:off x="6556248" y="2679192"/>
            <a:ext cx="157276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930"/>
              <a:buFont typeface="Calibri"/>
              <a:buNone/>
            </a:pPr>
            <a:r>
              <a:rPr b="1" i="0" lang="en-US" sz="1030" u="none" cap="none" strike="noStrike">
                <a:solidFill>
                  <a:srgbClr val="232A46"/>
                </a:solidFill>
                <a:latin typeface="Calibri"/>
                <a:ea typeface="Calibri"/>
                <a:cs typeface="Calibri"/>
                <a:sym typeface="Calibri"/>
              </a:rPr>
              <a:t>Observation</a:t>
            </a:r>
            <a:endParaRPr b="0" i="0" sz="1030" u="none" cap="none" strike="noStrike">
              <a:solidFill>
                <a:schemeClr val="dk1"/>
              </a:solidFill>
              <a:latin typeface="Calibri"/>
              <a:ea typeface="Calibri"/>
              <a:cs typeface="Calibri"/>
              <a:sym typeface="Calibri"/>
            </a:endParaRPr>
          </a:p>
        </p:txBody>
      </p:sp>
      <p:sp>
        <p:nvSpPr>
          <p:cNvPr id="183" name="Google Shape;183;p5"/>
          <p:cNvSpPr/>
          <p:nvPr/>
        </p:nvSpPr>
        <p:spPr>
          <a:xfrm>
            <a:off x="8147304" y="2679192"/>
            <a:ext cx="3200400"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970" u="none" cap="none" strike="noStrike">
                <a:solidFill>
                  <a:srgbClr val="6E7480"/>
                </a:solidFill>
                <a:latin typeface="Calibri"/>
                <a:ea typeface="Calibri"/>
                <a:cs typeface="Calibri"/>
                <a:sym typeface="Calibri"/>
              </a:rPr>
              <a:t>Prosesin faktiki icrasının müşahidəsi — sənəddə görünməyən addımları aşkarlamaq üçün</a:t>
            </a:r>
            <a:endParaRPr b="0" i="0" sz="970" u="none" cap="none" strike="noStrike">
              <a:solidFill>
                <a:schemeClr val="dk1"/>
              </a:solidFill>
              <a:latin typeface="Calibri"/>
              <a:ea typeface="Calibri"/>
              <a:cs typeface="Calibri"/>
              <a:sym typeface="Calibri"/>
            </a:endParaRPr>
          </a:p>
        </p:txBody>
      </p:sp>
      <p:sp>
        <p:nvSpPr>
          <p:cNvPr id="184" name="Google Shape;184;p5"/>
          <p:cNvSpPr/>
          <p:nvPr/>
        </p:nvSpPr>
        <p:spPr>
          <a:xfrm>
            <a:off x="6409944" y="3127248"/>
            <a:ext cx="32004" cy="292608"/>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5"/>
          <p:cNvSpPr/>
          <p:nvPr/>
        </p:nvSpPr>
        <p:spPr>
          <a:xfrm>
            <a:off x="6556248" y="3081528"/>
            <a:ext cx="157276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930"/>
              <a:buFont typeface="Calibri"/>
              <a:buNone/>
            </a:pPr>
            <a:r>
              <a:rPr b="1" i="0" lang="en-US" sz="1030" u="none" cap="none" strike="noStrike">
                <a:solidFill>
                  <a:srgbClr val="232A46"/>
                </a:solidFill>
                <a:latin typeface="Calibri"/>
                <a:ea typeface="Calibri"/>
                <a:cs typeface="Calibri"/>
                <a:sym typeface="Calibri"/>
              </a:rPr>
              <a:t>Process Modeling</a:t>
            </a:r>
            <a:endParaRPr b="0" i="0" sz="1030" u="none" cap="none" strike="noStrike">
              <a:solidFill>
                <a:schemeClr val="dk1"/>
              </a:solidFill>
              <a:latin typeface="Calibri"/>
              <a:ea typeface="Calibri"/>
              <a:cs typeface="Calibri"/>
              <a:sym typeface="Calibri"/>
            </a:endParaRPr>
          </a:p>
        </p:txBody>
      </p:sp>
      <p:sp>
        <p:nvSpPr>
          <p:cNvPr id="186" name="Google Shape;186;p5"/>
          <p:cNvSpPr/>
          <p:nvPr/>
        </p:nvSpPr>
        <p:spPr>
          <a:xfrm>
            <a:off x="8147304" y="3081528"/>
            <a:ext cx="3200400"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970" u="none" cap="none" strike="noStrike">
                <a:solidFill>
                  <a:srgbClr val="6E7480"/>
                </a:solidFill>
                <a:latin typeface="Calibri"/>
                <a:ea typeface="Calibri"/>
                <a:cs typeface="Calibri"/>
                <a:sym typeface="Calibri"/>
              </a:rPr>
              <a:t>BPMN 2.0 ilə AS-IS və TO-BE modelləşdirmə — pain point-ləri vizual təsdiqləmək üçün</a:t>
            </a:r>
            <a:endParaRPr b="0" i="0" sz="970" u="none" cap="none" strike="noStrike">
              <a:solidFill>
                <a:schemeClr val="dk1"/>
              </a:solidFill>
              <a:latin typeface="Calibri"/>
              <a:ea typeface="Calibri"/>
              <a:cs typeface="Calibri"/>
              <a:sym typeface="Calibri"/>
            </a:endParaRPr>
          </a:p>
        </p:txBody>
      </p:sp>
      <p:sp>
        <p:nvSpPr>
          <p:cNvPr id="187" name="Google Shape;187;p5"/>
          <p:cNvSpPr/>
          <p:nvPr/>
        </p:nvSpPr>
        <p:spPr>
          <a:xfrm>
            <a:off x="640080" y="3822192"/>
            <a:ext cx="5321808" cy="2121408"/>
          </a:xfrm>
          <a:prstGeom prst="roundRect">
            <a:avLst>
              <a:gd fmla="val 3017"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5"/>
          <p:cNvSpPr/>
          <p:nvPr/>
        </p:nvSpPr>
        <p:spPr>
          <a:xfrm>
            <a:off x="822960" y="3950208"/>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Sample Questions</a:t>
            </a:r>
            <a:endParaRPr b="0" i="0" sz="1350" u="none" cap="none" strike="noStrike">
              <a:solidFill>
                <a:schemeClr val="dk1"/>
              </a:solidFill>
              <a:latin typeface="Calibri"/>
              <a:ea typeface="Calibri"/>
              <a:cs typeface="Calibri"/>
              <a:sym typeface="Calibri"/>
            </a:endParaRPr>
          </a:p>
        </p:txBody>
      </p:sp>
      <p:sp>
        <p:nvSpPr>
          <p:cNvPr id="189" name="Google Shape;189;p5"/>
          <p:cNvSpPr/>
          <p:nvPr/>
        </p:nvSpPr>
        <p:spPr>
          <a:xfrm>
            <a:off x="859536" y="4279392"/>
            <a:ext cx="4901184" cy="1572768"/>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rgbClr val="6E7480"/>
              </a:buClr>
              <a:buSzPts val="1130"/>
              <a:buFont typeface="Calibri"/>
              <a:buAutoNum type="arabicPeriod"/>
            </a:pPr>
            <a:r>
              <a:rPr b="0" i="0" lang="en-US" sz="1130" u="none" cap="none" strike="noStrike">
                <a:solidFill>
                  <a:srgbClr val="6E7480"/>
                </a:solidFill>
                <a:latin typeface="Calibri"/>
                <a:ea typeface="Calibri"/>
                <a:cs typeface="Calibri"/>
                <a:sym typeface="Calibri"/>
              </a:rPr>
              <a:t>Tələbənin kurs qeydiyyatı prosesi hazırda necə həyata keçirilir və kim iştirak edir?</a:t>
            </a:r>
            <a:endParaRPr b="0" i="0" sz="1130" u="none" cap="none" strike="noStrike">
              <a:solidFill>
                <a:schemeClr val="dk1"/>
              </a:solidFill>
              <a:latin typeface="Calibri"/>
              <a:ea typeface="Calibri"/>
              <a:cs typeface="Calibri"/>
              <a:sym typeface="Calibri"/>
            </a:endParaRPr>
          </a:p>
          <a:p>
            <a:pPr indent="-203200" lvl="0" marL="203200" marR="0" rtl="0" algn="l">
              <a:lnSpc>
                <a:spcPct val="100000"/>
              </a:lnSpc>
              <a:spcBef>
                <a:spcPts val="300"/>
              </a:spcBef>
              <a:spcAft>
                <a:spcPts val="0"/>
              </a:spcAft>
              <a:buClr>
                <a:srgbClr val="6E7480"/>
              </a:buClr>
              <a:buSzPts val="1130"/>
              <a:buFont typeface="Calibri"/>
              <a:buAutoNum type="arabicPeriod"/>
            </a:pPr>
            <a:r>
              <a:rPr b="0" i="0" lang="en-US" sz="1130" u="none" cap="none" strike="noStrike">
                <a:solidFill>
                  <a:srgbClr val="6E7480"/>
                </a:solidFill>
                <a:latin typeface="Calibri"/>
                <a:ea typeface="Calibri"/>
                <a:cs typeface="Calibri"/>
                <a:sym typeface="Calibri"/>
              </a:rPr>
              <a:t>Kurs capacity-si və prerequisite uyğunluğu hansı qaydada yoxlanılır?</a:t>
            </a:r>
            <a:endParaRPr b="0" i="0" sz="1130" u="none" cap="none" strike="noStrike">
              <a:solidFill>
                <a:schemeClr val="dk1"/>
              </a:solidFill>
              <a:latin typeface="Calibri"/>
              <a:ea typeface="Calibri"/>
              <a:cs typeface="Calibri"/>
              <a:sym typeface="Calibri"/>
            </a:endParaRPr>
          </a:p>
          <a:p>
            <a:pPr indent="-203200" lvl="0" marL="203200" marR="0" rtl="0" algn="l">
              <a:lnSpc>
                <a:spcPct val="100000"/>
              </a:lnSpc>
              <a:spcBef>
                <a:spcPts val="300"/>
              </a:spcBef>
              <a:spcAft>
                <a:spcPts val="0"/>
              </a:spcAft>
              <a:buClr>
                <a:srgbClr val="6E7480"/>
              </a:buClr>
              <a:buSzPts val="1130"/>
              <a:buFont typeface="Calibri"/>
              <a:buAutoNum type="arabicPeriod"/>
            </a:pPr>
            <a:r>
              <a:rPr b="0" i="0" lang="en-US" sz="1130" u="none" cap="none" strike="noStrike">
                <a:solidFill>
                  <a:srgbClr val="6E7480"/>
                </a:solidFill>
                <a:latin typeface="Calibri"/>
                <a:ea typeface="Calibri"/>
                <a:cs typeface="Calibri"/>
                <a:sym typeface="Calibri"/>
              </a:rPr>
              <a:t>Sertifikat uyğunluğu hansı məlumatlar əsasında müəyyən edilir?</a:t>
            </a:r>
            <a:endParaRPr b="0" i="0" sz="1130" u="none" cap="none" strike="noStrike">
              <a:solidFill>
                <a:schemeClr val="dk1"/>
              </a:solidFill>
              <a:latin typeface="Calibri"/>
              <a:ea typeface="Calibri"/>
              <a:cs typeface="Calibri"/>
              <a:sym typeface="Calibri"/>
            </a:endParaRPr>
          </a:p>
          <a:p>
            <a:pPr indent="-203200" lvl="0" marL="203200" marR="0" rtl="0" algn="l">
              <a:lnSpc>
                <a:spcPct val="100000"/>
              </a:lnSpc>
              <a:spcBef>
                <a:spcPts val="300"/>
              </a:spcBef>
              <a:spcAft>
                <a:spcPts val="0"/>
              </a:spcAft>
              <a:buClr>
                <a:srgbClr val="6E7480"/>
              </a:buClr>
              <a:buSzPts val="1130"/>
              <a:buFont typeface="Calibri"/>
              <a:buAutoNum type="arabicPeriod"/>
            </a:pPr>
            <a:r>
              <a:rPr b="0" i="0" lang="en-US" sz="1130" u="none" cap="none" strike="noStrike">
                <a:solidFill>
                  <a:srgbClr val="6E7480"/>
                </a:solidFill>
                <a:latin typeface="Calibri"/>
                <a:ea typeface="Calibri"/>
                <a:cs typeface="Calibri"/>
                <a:sym typeface="Calibri"/>
              </a:rPr>
              <a:t>Qeydiyyat, davamiyyət və sertifikat məlumatları hansı fayllarda saxlanılır?</a:t>
            </a:r>
            <a:endParaRPr b="0" i="0" sz="1130" u="none" cap="none" strike="noStrike">
              <a:solidFill>
                <a:schemeClr val="dk1"/>
              </a:solidFill>
              <a:latin typeface="Calibri"/>
              <a:ea typeface="Calibri"/>
              <a:cs typeface="Calibri"/>
              <a:sym typeface="Calibri"/>
            </a:endParaRPr>
          </a:p>
          <a:p>
            <a:pPr indent="-203200" lvl="0" marL="203200" marR="0" rtl="0" algn="l">
              <a:lnSpc>
                <a:spcPct val="100000"/>
              </a:lnSpc>
              <a:spcBef>
                <a:spcPts val="300"/>
              </a:spcBef>
              <a:spcAft>
                <a:spcPts val="0"/>
              </a:spcAft>
              <a:buClr>
                <a:srgbClr val="6E7480"/>
              </a:buClr>
              <a:buSzPts val="1130"/>
              <a:buFont typeface="Calibri"/>
              <a:buAutoNum type="arabicPeriod"/>
            </a:pPr>
            <a:r>
              <a:rPr b="0" i="0" lang="en-US" sz="1130" u="none" cap="none" strike="noStrike">
                <a:solidFill>
                  <a:srgbClr val="6E7480"/>
                </a:solidFill>
                <a:latin typeface="Calibri"/>
                <a:ea typeface="Calibri"/>
                <a:cs typeface="Calibri"/>
                <a:sym typeface="Calibri"/>
              </a:rPr>
              <a:t>Qiymətləndirmə nəticələri administratora hansı kanalla ötürülür?</a:t>
            </a:r>
            <a:endParaRPr b="0" i="0" sz="1130" u="none" cap="none" strike="noStrike">
              <a:solidFill>
                <a:schemeClr val="dk1"/>
              </a:solidFill>
              <a:latin typeface="Calibri"/>
              <a:ea typeface="Calibri"/>
              <a:cs typeface="Calibri"/>
              <a:sym typeface="Calibri"/>
            </a:endParaRPr>
          </a:p>
          <a:p>
            <a:pPr indent="-203200" lvl="0" marL="203200" marR="0" rtl="0" algn="l">
              <a:lnSpc>
                <a:spcPct val="100000"/>
              </a:lnSpc>
              <a:spcBef>
                <a:spcPts val="300"/>
              </a:spcBef>
              <a:spcAft>
                <a:spcPts val="0"/>
              </a:spcAft>
              <a:buClr>
                <a:srgbClr val="6E7480"/>
              </a:buClr>
              <a:buSzPts val="1130"/>
              <a:buFont typeface="Calibri"/>
              <a:buAutoNum type="arabicPeriod"/>
            </a:pPr>
            <a:r>
              <a:rPr b="0" i="0" lang="en-US" sz="1130" u="none" cap="none" strike="noStrike">
                <a:solidFill>
                  <a:srgbClr val="6E7480"/>
                </a:solidFill>
                <a:latin typeface="Calibri"/>
                <a:ea typeface="Calibri"/>
                <a:cs typeface="Calibri"/>
                <a:sym typeface="Calibri"/>
              </a:rPr>
              <a:t>Tələbə qeydiyyat statusunu və nəticələrini hazırda necə izləyir?</a:t>
            </a:r>
            <a:endParaRPr b="0" i="0" sz="1130" u="none" cap="none" strike="noStrike">
              <a:solidFill>
                <a:schemeClr val="dk1"/>
              </a:solidFill>
              <a:latin typeface="Calibri"/>
              <a:ea typeface="Calibri"/>
              <a:cs typeface="Calibri"/>
              <a:sym typeface="Calibri"/>
            </a:endParaRPr>
          </a:p>
        </p:txBody>
      </p:sp>
      <p:sp>
        <p:nvSpPr>
          <p:cNvPr id="190" name="Google Shape;190;p5"/>
          <p:cNvSpPr/>
          <p:nvPr/>
        </p:nvSpPr>
        <p:spPr>
          <a:xfrm>
            <a:off x="6227064" y="3822192"/>
            <a:ext cx="5321808" cy="2121408"/>
          </a:xfrm>
          <a:prstGeom prst="roundRect">
            <a:avLst>
              <a:gd fmla="val 3017"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5"/>
          <p:cNvSpPr/>
          <p:nvPr/>
        </p:nvSpPr>
        <p:spPr>
          <a:xfrm>
            <a:off x="6409944" y="3950208"/>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Risks / Dependencies</a:t>
            </a:r>
            <a:endParaRPr b="0" i="0" sz="1350" u="none" cap="none" strike="noStrike">
              <a:solidFill>
                <a:schemeClr val="dk1"/>
              </a:solidFill>
              <a:latin typeface="Calibri"/>
              <a:ea typeface="Calibri"/>
              <a:cs typeface="Calibri"/>
              <a:sym typeface="Calibri"/>
            </a:endParaRPr>
          </a:p>
        </p:txBody>
      </p:sp>
      <p:sp>
        <p:nvSpPr>
          <p:cNvPr id="192" name="Google Shape;192;p5"/>
          <p:cNvSpPr/>
          <p:nvPr/>
        </p:nvSpPr>
        <p:spPr>
          <a:xfrm>
            <a:off x="6409944" y="4279392"/>
            <a:ext cx="4956048" cy="1572768"/>
          </a:xfrm>
          <a:prstGeom prst="rect">
            <a:avLst/>
          </a:prstGeom>
          <a:noFill/>
          <a:ln>
            <a:noFill/>
          </a:ln>
        </p:spPr>
        <p:txBody>
          <a:bodyPr anchorCtr="0" anchor="t" bIns="0" lIns="0" spcFirstLastPara="1" rIns="0" wrap="square" tIns="0">
            <a:noAutofit/>
          </a:bodyPr>
          <a:lstStyle/>
          <a:p>
            <a:pPr indent="-152400" lvl="0" marL="152400" marR="0" rtl="0" algn="l">
              <a:lnSpc>
                <a:spcPct val="100000"/>
              </a:lnSpc>
              <a:spcBef>
                <a:spcPts val="0"/>
              </a:spcBef>
              <a:spcAft>
                <a:spcPts val="0"/>
              </a:spcAft>
              <a:buClr>
                <a:srgbClr val="6E7480"/>
              </a:buClr>
              <a:buSzPts val="1130"/>
              <a:buFont typeface="Calibri"/>
              <a:buChar char="•"/>
            </a:pPr>
            <a:r>
              <a:rPr b="0" i="0" lang="en-US" sz="1130" u="none" cap="none" strike="noStrike">
                <a:solidFill>
                  <a:srgbClr val="6E7480"/>
                </a:solidFill>
                <a:latin typeface="Calibri"/>
                <a:ea typeface="Calibri"/>
                <a:cs typeface="Calibri"/>
                <a:sym typeface="Calibri"/>
              </a:rPr>
              <a:t>Business Owner capacity, prerequisite, pass score və minimum attendance parametrlərini təsdiqləməlidir</a:t>
            </a:r>
            <a:endParaRPr b="0" i="0" sz="113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0"/>
              <a:buFont typeface="Calibri"/>
              <a:buChar char="•"/>
            </a:pPr>
            <a:r>
              <a:rPr b="0" i="0" lang="en-US" sz="1130" u="none" cap="none" strike="noStrike">
                <a:solidFill>
                  <a:srgbClr val="6E7480"/>
                </a:solidFill>
                <a:latin typeface="Calibri"/>
                <a:ea typeface="Calibri"/>
                <a:cs typeface="Calibri"/>
                <a:sym typeface="Calibri"/>
              </a:rPr>
              <a:t>Kurs və sessiyaların müəllimlərə düzgün təyin edilməsindən asılılıq</a:t>
            </a:r>
            <a:endParaRPr b="0" i="0" sz="113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0"/>
              <a:buFont typeface="Calibri"/>
              <a:buChar char="•"/>
            </a:pPr>
            <a:r>
              <a:rPr b="0" i="0" lang="en-US" sz="1130" u="none" cap="none" strike="noStrike">
                <a:solidFill>
                  <a:srgbClr val="6E7480"/>
                </a:solidFill>
                <a:latin typeface="Calibri"/>
                <a:ea typeface="Calibri"/>
                <a:cs typeface="Calibri"/>
                <a:sym typeface="Calibri"/>
              </a:rPr>
              <a:t>E-certificate şablonunun aidiyyəti stakeholder tərəfindən təqdim edilməsi</a:t>
            </a:r>
            <a:endParaRPr b="0" i="0" sz="113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0"/>
              <a:buFont typeface="Calibri"/>
              <a:buChar char="•"/>
            </a:pPr>
            <a:r>
              <a:rPr b="0" i="0" lang="en-US" sz="1130" u="none" cap="none" strike="noStrike">
                <a:solidFill>
                  <a:srgbClr val="6E7480"/>
                </a:solidFill>
                <a:latin typeface="Calibri"/>
                <a:ea typeface="Calibri"/>
                <a:cs typeface="Calibri"/>
                <a:sym typeface="Calibri"/>
              </a:rPr>
              <a:t>Legacy Excel məlumatlarının yüklənməsi üzrə ayrıca migration planı tələb olunur</a:t>
            </a:r>
            <a:endParaRPr b="0" i="0" sz="113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130"/>
              <a:buFont typeface="Calibri"/>
              <a:buChar char="•"/>
            </a:pPr>
            <a:r>
              <a:rPr b="0" i="0" lang="en-US" sz="1130" u="none" cap="none" strike="noStrike">
                <a:solidFill>
                  <a:srgbClr val="6E7480"/>
                </a:solidFill>
                <a:latin typeface="Calibri"/>
                <a:ea typeface="Calibri"/>
                <a:cs typeface="Calibri"/>
                <a:sym typeface="Calibri"/>
              </a:rPr>
              <a:t>Numeric NFR-lər Technical Design mərhələsində təsdiqlənməlidir</a:t>
            </a:r>
            <a:endParaRPr b="0" i="0" sz="1130" u="none" cap="none" strike="noStrike">
              <a:solidFill>
                <a:schemeClr val="dk1"/>
              </a:solidFill>
              <a:latin typeface="Calibri"/>
              <a:ea typeface="Calibri"/>
              <a:cs typeface="Calibri"/>
              <a:sym typeface="Calibri"/>
            </a:endParaRPr>
          </a:p>
        </p:txBody>
      </p:sp>
      <p:sp>
        <p:nvSpPr>
          <p:cNvPr id="193" name="Google Shape;193;p5"/>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5"/>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195" name="Google Shape;195;p5"/>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5</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200" name="Shape 200"/>
        <p:cNvGrpSpPr/>
        <p:nvPr/>
      </p:nvGrpSpPr>
      <p:grpSpPr>
        <a:xfrm>
          <a:off x="0" y="0"/>
          <a:ext cx="0" cy="0"/>
          <a:chOff x="0" y="0"/>
          <a:chExt cx="0" cy="0"/>
        </a:xfrm>
      </p:grpSpPr>
      <p:sp>
        <p:nvSpPr>
          <p:cNvPr id="201" name="Google Shape;201;p6"/>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05 — TO-BE Solution Direction</a:t>
            </a:r>
            <a:endParaRPr b="0" i="0" sz="2500" u="none" cap="none" strike="noStrike">
              <a:solidFill>
                <a:schemeClr val="dk1"/>
              </a:solidFill>
              <a:latin typeface="Calibri"/>
              <a:ea typeface="Calibri"/>
              <a:cs typeface="Calibri"/>
              <a:sym typeface="Calibri"/>
            </a:endParaRPr>
          </a:p>
        </p:txBody>
      </p:sp>
      <p:sp>
        <p:nvSpPr>
          <p:cNvPr id="203" name="Google Shape;203;p6"/>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Təkmilləşdirilmiş biznes prosesi və onun ehtiyacı necə həll etdiyi.</a:t>
            </a:r>
            <a:endParaRPr b="0" i="0" sz="1200" u="none" cap="none" strike="noStrike">
              <a:solidFill>
                <a:schemeClr val="dk1"/>
              </a:solidFill>
              <a:latin typeface="Calibri"/>
              <a:ea typeface="Calibri"/>
              <a:cs typeface="Calibri"/>
              <a:sym typeface="Calibri"/>
            </a:endParaRPr>
          </a:p>
        </p:txBody>
      </p:sp>
      <p:sp>
        <p:nvSpPr>
          <p:cNvPr id="204" name="Google Shape;204;p6"/>
          <p:cNvSpPr/>
          <p:nvPr/>
        </p:nvSpPr>
        <p:spPr>
          <a:xfrm>
            <a:off x="761205" y="1467607"/>
            <a:ext cx="5394900" cy="4526400"/>
          </a:xfrm>
          <a:prstGeom prst="roundRect">
            <a:avLst>
              <a:gd fmla="val 1414"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6"/>
          <p:cNvSpPr/>
          <p:nvPr/>
        </p:nvSpPr>
        <p:spPr>
          <a:xfrm>
            <a:off x="822960" y="1545336"/>
            <a:ext cx="5029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TO-BE BPMN 2.0</a:t>
            </a:r>
            <a:endParaRPr b="0" i="0" sz="1350" u="none" cap="none" strike="noStrike">
              <a:solidFill>
                <a:schemeClr val="dk1"/>
              </a:solidFill>
              <a:latin typeface="Calibri"/>
              <a:ea typeface="Calibri"/>
              <a:cs typeface="Calibri"/>
              <a:sym typeface="Calibri"/>
            </a:endParaRPr>
          </a:p>
        </p:txBody>
      </p:sp>
      <p:sp>
        <p:nvSpPr>
          <p:cNvPr id="206" name="Google Shape;206;p6"/>
          <p:cNvSpPr/>
          <p:nvPr/>
        </p:nvSpPr>
        <p:spPr>
          <a:xfrm>
            <a:off x="822960" y="1773936"/>
            <a:ext cx="5029200" cy="3913632"/>
          </a:xfrm>
          <a:prstGeom prst="roundRect">
            <a:avLst>
              <a:gd fmla="val 1168" name="adj"/>
            </a:avLst>
          </a:prstGeom>
          <a:solidFill>
            <a:srgbClr val="FBFCFE"/>
          </a:solidFill>
          <a:ln cap="flat" cmpd="sng" w="12700">
            <a:solidFill>
              <a:srgbClr val="EDF0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tmpl/../deck/img/bpmn_tobe_crop.png" id="207" name="Google Shape;207;p6"/>
          <p:cNvPicPr preferRelativeResize="0"/>
          <p:nvPr/>
        </p:nvPicPr>
        <p:blipFill rotWithShape="1">
          <a:blip r:embed="rId3">
            <a:alphaModFix/>
          </a:blip>
          <a:srcRect b="0" l="0" r="0" t="0"/>
          <a:stretch/>
        </p:blipFill>
        <p:spPr>
          <a:xfrm>
            <a:off x="979960" y="1860800"/>
            <a:ext cx="4792314" cy="3785623"/>
          </a:xfrm>
          <a:prstGeom prst="rect">
            <a:avLst/>
          </a:prstGeom>
          <a:noFill/>
          <a:ln>
            <a:noFill/>
          </a:ln>
        </p:spPr>
      </p:pic>
      <p:sp>
        <p:nvSpPr>
          <p:cNvPr id="208" name="Google Shape;208;p6"/>
          <p:cNvSpPr/>
          <p:nvPr/>
        </p:nvSpPr>
        <p:spPr>
          <a:xfrm>
            <a:off x="822960" y="5724144"/>
            <a:ext cx="5029200" cy="20116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820"/>
              <a:buFont typeface="Calibri"/>
              <a:buNone/>
            </a:pPr>
            <a:r>
              <a:rPr b="0" i="1" lang="en-US" sz="820" u="none" cap="none" strike="noStrike">
                <a:solidFill>
                  <a:srgbClr val="8B909C"/>
                </a:solidFill>
                <a:latin typeface="Calibri"/>
                <a:ea typeface="Calibri"/>
                <a:cs typeface="Calibri"/>
                <a:sym typeface="Calibri"/>
              </a:rPr>
              <a:t>Tam ölçülü diaqram BRD Bölmə 7.2-də ayrıca landşaft səhifədə verilib.</a:t>
            </a:r>
            <a:endParaRPr b="0" i="0" sz="820" u="none" cap="none" strike="noStrike">
              <a:solidFill>
                <a:schemeClr val="dk1"/>
              </a:solidFill>
              <a:latin typeface="Calibri"/>
              <a:ea typeface="Calibri"/>
              <a:cs typeface="Calibri"/>
              <a:sym typeface="Calibri"/>
            </a:endParaRPr>
          </a:p>
        </p:txBody>
      </p:sp>
      <p:sp>
        <p:nvSpPr>
          <p:cNvPr id="209" name="Google Shape;209;p6"/>
          <p:cNvSpPr/>
          <p:nvPr/>
        </p:nvSpPr>
        <p:spPr>
          <a:xfrm>
            <a:off x="6300216" y="1417320"/>
            <a:ext cx="5251399" cy="2103120"/>
          </a:xfrm>
          <a:prstGeom prst="roundRect">
            <a:avLst>
              <a:gd fmla="val 3043"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6"/>
          <p:cNvSpPr/>
          <p:nvPr/>
        </p:nvSpPr>
        <p:spPr>
          <a:xfrm>
            <a:off x="6483096" y="1545336"/>
            <a:ext cx="488563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Solution Highlights</a:t>
            </a:r>
            <a:endParaRPr b="0" i="0" sz="1350" u="none" cap="none" strike="noStrike">
              <a:solidFill>
                <a:schemeClr val="dk1"/>
              </a:solidFill>
              <a:latin typeface="Calibri"/>
              <a:ea typeface="Calibri"/>
              <a:cs typeface="Calibri"/>
              <a:sym typeface="Calibri"/>
            </a:endParaRPr>
          </a:p>
        </p:txBody>
      </p:sp>
      <p:sp>
        <p:nvSpPr>
          <p:cNvPr id="211" name="Google Shape;211;p6"/>
          <p:cNvSpPr/>
          <p:nvPr/>
        </p:nvSpPr>
        <p:spPr>
          <a:xfrm>
            <a:off x="6519672" y="1847088"/>
            <a:ext cx="4830775" cy="1554480"/>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rgbClr val="6E7480"/>
              </a:buClr>
              <a:buSzPts val="1120"/>
              <a:buFont typeface="Calibri"/>
              <a:buAutoNum type="arabicPeriod"/>
            </a:pPr>
            <a:r>
              <a:rPr b="0" i="0" lang="en-US" sz="1120" u="none" cap="none" strike="noStrike">
                <a:solidFill>
                  <a:srgbClr val="6E7480"/>
                </a:solidFill>
                <a:latin typeface="Calibri"/>
                <a:ea typeface="Calibri"/>
                <a:cs typeface="Calibri"/>
                <a:sym typeface="Calibri"/>
              </a:rPr>
              <a:t>Self-service enrollment — tələbə OPEN kursları görür və özü qeydiyyatdan keçir</a:t>
            </a:r>
            <a:endParaRPr b="0" i="0" sz="1120" u="none" cap="none" strike="noStrike">
              <a:solidFill>
                <a:schemeClr val="dk1"/>
              </a:solidFill>
              <a:latin typeface="Calibri"/>
              <a:ea typeface="Calibri"/>
              <a:cs typeface="Calibri"/>
              <a:sym typeface="Calibri"/>
            </a:endParaRPr>
          </a:p>
          <a:p>
            <a:pPr indent="-203200" lvl="0" marL="203200" marR="0" rtl="0" algn="l">
              <a:lnSpc>
                <a:spcPct val="100000"/>
              </a:lnSpc>
              <a:spcBef>
                <a:spcPts val="400"/>
              </a:spcBef>
              <a:spcAft>
                <a:spcPts val="0"/>
              </a:spcAft>
              <a:buClr>
                <a:srgbClr val="6E7480"/>
              </a:buClr>
              <a:buSzPts val="1120"/>
              <a:buFont typeface="Calibri"/>
              <a:buAutoNum type="arabicPeriod"/>
            </a:pPr>
            <a:r>
              <a:rPr b="0" i="0" lang="en-US" sz="1120" u="none" cap="none" strike="noStrike">
                <a:solidFill>
                  <a:srgbClr val="6E7480"/>
                </a:solidFill>
                <a:latin typeface="Calibri"/>
                <a:ea typeface="Calibri"/>
                <a:cs typeface="Calibri"/>
                <a:sym typeface="Calibri"/>
              </a:rPr>
              <a:t>Avtomatik validasiya — registration window, capacity, duplicate və prerequisite</a:t>
            </a:r>
            <a:endParaRPr b="0" i="0" sz="1120" u="none" cap="none" strike="noStrike">
              <a:solidFill>
                <a:schemeClr val="dk1"/>
              </a:solidFill>
              <a:latin typeface="Calibri"/>
              <a:ea typeface="Calibri"/>
              <a:cs typeface="Calibri"/>
              <a:sym typeface="Calibri"/>
            </a:endParaRPr>
          </a:p>
          <a:p>
            <a:pPr indent="-203200" lvl="0" marL="203200" marR="0" rtl="0" algn="l">
              <a:lnSpc>
                <a:spcPct val="100000"/>
              </a:lnSpc>
              <a:spcBef>
                <a:spcPts val="400"/>
              </a:spcBef>
              <a:spcAft>
                <a:spcPts val="0"/>
              </a:spcAft>
              <a:buClr>
                <a:srgbClr val="6E7480"/>
              </a:buClr>
              <a:buSzPts val="1120"/>
              <a:buFont typeface="Calibri"/>
              <a:buAutoNum type="arabicPeriod"/>
            </a:pPr>
            <a:r>
              <a:rPr b="0" i="0" lang="en-US" sz="1120" u="none" cap="none" strike="noStrike">
                <a:solidFill>
                  <a:srgbClr val="6E7480"/>
                </a:solidFill>
                <a:latin typeface="Calibri"/>
                <a:ea typeface="Calibri"/>
                <a:cs typeface="Calibri"/>
                <a:sym typeface="Calibri"/>
              </a:rPr>
              <a:t>Rəqəmsal attendance və assessment; PASSED / FAILED avtomatik hesablanır</a:t>
            </a:r>
            <a:endParaRPr b="0" i="0" sz="1120" u="none" cap="none" strike="noStrike">
              <a:solidFill>
                <a:schemeClr val="dk1"/>
              </a:solidFill>
              <a:latin typeface="Calibri"/>
              <a:ea typeface="Calibri"/>
              <a:cs typeface="Calibri"/>
              <a:sym typeface="Calibri"/>
            </a:endParaRPr>
          </a:p>
          <a:p>
            <a:pPr indent="-203200" lvl="0" marL="203200" marR="0" rtl="0" algn="l">
              <a:lnSpc>
                <a:spcPct val="100000"/>
              </a:lnSpc>
              <a:spcBef>
                <a:spcPts val="400"/>
              </a:spcBef>
              <a:spcAft>
                <a:spcPts val="0"/>
              </a:spcAft>
              <a:buClr>
                <a:srgbClr val="6E7480"/>
              </a:buClr>
              <a:buSzPts val="1120"/>
              <a:buFont typeface="Calibri"/>
              <a:buAutoNum type="arabicPeriod"/>
            </a:pPr>
            <a:r>
              <a:rPr b="0" i="0" lang="en-US" sz="1120" u="none" cap="none" strike="noStrike">
                <a:solidFill>
                  <a:srgbClr val="6E7480"/>
                </a:solidFill>
                <a:latin typeface="Calibri"/>
                <a:ea typeface="Calibri"/>
                <a:cs typeface="Calibri"/>
                <a:sym typeface="Calibri"/>
              </a:rPr>
              <a:t>Avtomatik certificate eligibility, elektron sertifikat və public verification</a:t>
            </a:r>
            <a:endParaRPr b="0" i="0" sz="1120" u="none" cap="none" strike="noStrike">
              <a:solidFill>
                <a:schemeClr val="dk1"/>
              </a:solidFill>
              <a:latin typeface="Calibri"/>
              <a:ea typeface="Calibri"/>
              <a:cs typeface="Calibri"/>
              <a:sym typeface="Calibri"/>
            </a:endParaRPr>
          </a:p>
        </p:txBody>
      </p:sp>
      <p:sp>
        <p:nvSpPr>
          <p:cNvPr id="212" name="Google Shape;212;p6"/>
          <p:cNvSpPr/>
          <p:nvPr/>
        </p:nvSpPr>
        <p:spPr>
          <a:xfrm>
            <a:off x="6300216" y="3785616"/>
            <a:ext cx="5251399" cy="2157984"/>
          </a:xfrm>
          <a:prstGeom prst="roundRect">
            <a:avLst>
              <a:gd fmla="val 2966"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
          <p:cNvSpPr/>
          <p:nvPr/>
        </p:nvSpPr>
        <p:spPr>
          <a:xfrm>
            <a:off x="6483096" y="3913632"/>
            <a:ext cx="488563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Status Lifecycle</a:t>
            </a:r>
            <a:endParaRPr b="0" i="0" sz="1350" u="none" cap="none" strike="noStrike">
              <a:solidFill>
                <a:schemeClr val="dk1"/>
              </a:solidFill>
              <a:latin typeface="Calibri"/>
              <a:ea typeface="Calibri"/>
              <a:cs typeface="Calibri"/>
              <a:sym typeface="Calibri"/>
            </a:endParaRPr>
          </a:p>
        </p:txBody>
      </p:sp>
      <p:sp>
        <p:nvSpPr>
          <p:cNvPr id="214" name="Google Shape;214;p6"/>
          <p:cNvSpPr/>
          <p:nvPr/>
        </p:nvSpPr>
        <p:spPr>
          <a:xfrm>
            <a:off x="6483096" y="4206240"/>
            <a:ext cx="4885639" cy="162763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32A46"/>
              </a:buClr>
              <a:buSzPts val="930"/>
              <a:buFont typeface="Calibri"/>
              <a:buNone/>
            </a:pPr>
            <a:r>
              <a:rPr b="1" i="0" lang="en-US" sz="1130" u="none" cap="none" strike="noStrike">
                <a:solidFill>
                  <a:srgbClr val="232A46"/>
                </a:solidFill>
                <a:latin typeface="Calibri"/>
                <a:ea typeface="Calibri"/>
                <a:cs typeface="Calibri"/>
                <a:sym typeface="Calibri"/>
              </a:rPr>
              <a:t>Course</a:t>
            </a:r>
            <a:endParaRPr b="0" i="0" sz="113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1E4FD0"/>
              </a:buClr>
              <a:buSzPts val="889"/>
              <a:buFont typeface="Calibri"/>
              <a:buNone/>
            </a:pPr>
            <a:r>
              <a:rPr b="0" i="0" lang="en-US" sz="1090" u="none" cap="none" strike="noStrike">
                <a:solidFill>
                  <a:srgbClr val="1E4FD0"/>
                </a:solidFill>
                <a:latin typeface="Calibri"/>
                <a:ea typeface="Calibri"/>
                <a:cs typeface="Calibri"/>
                <a:sym typeface="Calibri"/>
              </a:rPr>
              <a:t>DRAFT → OPEN → CLOSED → COMPLETED  ·  CANCELLED / ARCHIVED</a:t>
            </a:r>
            <a:endParaRPr b="0" i="0" sz="1130" u="none" cap="none" strike="noStrike">
              <a:solidFill>
                <a:schemeClr val="dk1"/>
              </a:solidFill>
              <a:latin typeface="Calibri"/>
              <a:ea typeface="Calibri"/>
              <a:cs typeface="Calibri"/>
              <a:sym typeface="Calibri"/>
            </a:endParaRPr>
          </a:p>
          <a:p>
            <a:pPr indent="0" lvl="0" marL="0" marR="0" rtl="0" algn="l">
              <a:lnSpc>
                <a:spcPct val="104000"/>
              </a:lnSpc>
              <a:spcBef>
                <a:spcPts val="600"/>
              </a:spcBef>
              <a:spcAft>
                <a:spcPts val="0"/>
              </a:spcAft>
              <a:buClr>
                <a:srgbClr val="232A46"/>
              </a:buClr>
              <a:buSzPts val="930"/>
              <a:buFont typeface="Calibri"/>
              <a:buNone/>
            </a:pPr>
            <a:r>
              <a:rPr b="1" i="0" lang="en-US" sz="1130" u="none" cap="none" strike="noStrike">
                <a:solidFill>
                  <a:srgbClr val="232A46"/>
                </a:solidFill>
                <a:latin typeface="Calibri"/>
                <a:ea typeface="Calibri"/>
                <a:cs typeface="Calibri"/>
                <a:sym typeface="Calibri"/>
              </a:rPr>
              <a:t>Course Instance</a:t>
            </a:r>
            <a:endParaRPr b="0" i="0" sz="113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1E4FD0"/>
              </a:buClr>
              <a:buSzPts val="889"/>
              <a:buFont typeface="Calibri"/>
              <a:buNone/>
            </a:pPr>
            <a:r>
              <a:rPr b="0" i="0" lang="en-US" sz="1090" u="none" cap="none" strike="noStrike">
                <a:solidFill>
                  <a:srgbClr val="1E4FD0"/>
                </a:solidFill>
                <a:latin typeface="Calibri"/>
                <a:ea typeface="Calibri"/>
                <a:cs typeface="Calibri"/>
                <a:sym typeface="Calibri"/>
              </a:rPr>
              <a:t>SCHEDULED → ONGOING → COMPLETED  ·  CANCELLED</a:t>
            </a:r>
            <a:endParaRPr b="0" i="0" sz="1130" u="none" cap="none" strike="noStrike">
              <a:solidFill>
                <a:schemeClr val="dk1"/>
              </a:solidFill>
              <a:latin typeface="Calibri"/>
              <a:ea typeface="Calibri"/>
              <a:cs typeface="Calibri"/>
              <a:sym typeface="Calibri"/>
            </a:endParaRPr>
          </a:p>
          <a:p>
            <a:pPr indent="0" lvl="0" marL="0" marR="0" rtl="0" algn="l">
              <a:lnSpc>
                <a:spcPct val="104000"/>
              </a:lnSpc>
              <a:spcBef>
                <a:spcPts val="600"/>
              </a:spcBef>
              <a:spcAft>
                <a:spcPts val="0"/>
              </a:spcAft>
              <a:buClr>
                <a:srgbClr val="232A46"/>
              </a:buClr>
              <a:buSzPts val="930"/>
              <a:buFont typeface="Calibri"/>
              <a:buNone/>
            </a:pPr>
            <a:r>
              <a:rPr b="1" i="0" lang="en-US" sz="1130" u="none" cap="none" strike="noStrike">
                <a:solidFill>
                  <a:srgbClr val="232A46"/>
                </a:solidFill>
                <a:latin typeface="Calibri"/>
                <a:ea typeface="Calibri"/>
                <a:cs typeface="Calibri"/>
                <a:sym typeface="Calibri"/>
              </a:rPr>
              <a:t>Enrollment</a:t>
            </a:r>
            <a:endParaRPr b="0" i="0" sz="113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1E4FD0"/>
              </a:buClr>
              <a:buSzPts val="889"/>
              <a:buFont typeface="Calibri"/>
              <a:buNone/>
            </a:pPr>
            <a:r>
              <a:rPr b="0" i="0" lang="en-US" sz="1090" u="none" cap="none" strike="noStrike">
                <a:solidFill>
                  <a:srgbClr val="1E4FD0"/>
                </a:solidFill>
                <a:latin typeface="Calibri"/>
                <a:ea typeface="Calibri"/>
                <a:cs typeface="Calibri"/>
                <a:sym typeface="Calibri"/>
              </a:rPr>
              <a:t>ACTIVE → COMPLETED  |  ACTIVE → CANCELLED</a:t>
            </a:r>
            <a:endParaRPr b="0" i="0" sz="1130" u="none" cap="none" strike="noStrike">
              <a:solidFill>
                <a:schemeClr val="dk1"/>
              </a:solidFill>
              <a:latin typeface="Calibri"/>
              <a:ea typeface="Calibri"/>
              <a:cs typeface="Calibri"/>
              <a:sym typeface="Calibri"/>
            </a:endParaRPr>
          </a:p>
          <a:p>
            <a:pPr indent="0" lvl="0" marL="0" marR="0" rtl="0" algn="l">
              <a:lnSpc>
                <a:spcPct val="104000"/>
              </a:lnSpc>
              <a:spcBef>
                <a:spcPts val="600"/>
              </a:spcBef>
              <a:spcAft>
                <a:spcPts val="0"/>
              </a:spcAft>
              <a:buClr>
                <a:srgbClr val="232A46"/>
              </a:buClr>
              <a:buSzPts val="930"/>
              <a:buFont typeface="Calibri"/>
              <a:buNone/>
            </a:pPr>
            <a:r>
              <a:rPr b="1" i="0" lang="en-US" sz="1130" u="none" cap="none" strike="noStrike">
                <a:solidFill>
                  <a:srgbClr val="232A46"/>
                </a:solidFill>
                <a:latin typeface="Calibri"/>
                <a:ea typeface="Calibri"/>
                <a:cs typeface="Calibri"/>
                <a:sym typeface="Calibri"/>
              </a:rPr>
              <a:t>Certificate</a:t>
            </a:r>
            <a:endParaRPr b="0" i="0" sz="113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1E4FD0"/>
              </a:buClr>
              <a:buSzPts val="889"/>
              <a:buFont typeface="Calibri"/>
              <a:buNone/>
            </a:pPr>
            <a:r>
              <a:rPr b="0" i="0" lang="en-US" sz="1090" u="none" cap="none" strike="noStrike">
                <a:solidFill>
                  <a:srgbClr val="1E4FD0"/>
                </a:solidFill>
                <a:latin typeface="Calibri"/>
                <a:ea typeface="Calibri"/>
                <a:cs typeface="Calibri"/>
                <a:sym typeface="Calibri"/>
              </a:rPr>
              <a:t>ELIGIBLE → ISSUED → REVOKED</a:t>
            </a:r>
            <a:endParaRPr b="0" i="0" sz="1130" u="none" cap="none" strike="noStrike">
              <a:solidFill>
                <a:schemeClr val="dk1"/>
              </a:solidFill>
              <a:latin typeface="Calibri"/>
              <a:ea typeface="Calibri"/>
              <a:cs typeface="Calibri"/>
              <a:sym typeface="Calibri"/>
            </a:endParaRPr>
          </a:p>
        </p:txBody>
      </p:sp>
      <p:sp>
        <p:nvSpPr>
          <p:cNvPr id="215" name="Google Shape;215;p6"/>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217" name="Google Shape;217;p6"/>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6</a:t>
            </a:r>
            <a:endParaRPr b="0" i="0" sz="850" u="none" cap="none" strike="noStrike">
              <a:solidFill>
                <a:schemeClr val="dk1"/>
              </a:solidFill>
              <a:latin typeface="Calibri"/>
              <a:ea typeface="Calibri"/>
              <a:cs typeface="Calibri"/>
              <a:sym typeface="Calibri"/>
            </a:endParaRPr>
          </a:p>
        </p:txBody>
      </p:sp>
      <p:sp>
        <p:nvSpPr>
          <p:cNvPr id="218" name="Google Shape;218;p6"/>
          <p:cNvSpPr txBox="1"/>
          <p:nvPr/>
        </p:nvSpPr>
        <p:spPr>
          <a:xfrm flipH="1" rot="-5400000">
            <a:off x="793225" y="3470172"/>
            <a:ext cx="411600" cy="21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
              <a:t>SMARTEDU</a:t>
            </a:r>
            <a:endParaRPr sz="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223" name="Shape 223"/>
        <p:cNvGrpSpPr/>
        <p:nvPr/>
      </p:nvGrpSpPr>
      <p:grpSpPr>
        <a:xfrm>
          <a:off x="0" y="0"/>
          <a:ext cx="0" cy="0"/>
          <a:chOff x="0" y="0"/>
          <a:chExt cx="0" cy="0"/>
        </a:xfrm>
      </p:grpSpPr>
      <p:sp>
        <p:nvSpPr>
          <p:cNvPr id="224" name="Google Shape;224;p7"/>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7"/>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06 — Requirements, User Stories &amp; Acceptance Criteria</a:t>
            </a:r>
            <a:endParaRPr b="0" i="0" sz="2500" u="none" cap="none" strike="noStrike">
              <a:solidFill>
                <a:schemeClr val="dk1"/>
              </a:solidFill>
              <a:latin typeface="Calibri"/>
              <a:ea typeface="Calibri"/>
              <a:cs typeface="Calibri"/>
              <a:sym typeface="Calibri"/>
            </a:endParaRPr>
          </a:p>
        </p:txBody>
      </p:sp>
      <p:sp>
        <p:nvSpPr>
          <p:cNvPr id="226" name="Google Shape;226;p7"/>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Dəqiqləşdirilmiş funksional tələblər və story səviyyəsində davranış.</a:t>
            </a:r>
            <a:endParaRPr b="0" i="0" sz="1200" u="none" cap="none" strike="noStrike">
              <a:solidFill>
                <a:schemeClr val="dk1"/>
              </a:solidFill>
              <a:latin typeface="Calibri"/>
              <a:ea typeface="Calibri"/>
              <a:cs typeface="Calibri"/>
              <a:sym typeface="Calibri"/>
            </a:endParaRPr>
          </a:p>
        </p:txBody>
      </p:sp>
      <p:sp>
        <p:nvSpPr>
          <p:cNvPr id="227" name="Google Shape;227;p7"/>
          <p:cNvSpPr/>
          <p:nvPr/>
        </p:nvSpPr>
        <p:spPr>
          <a:xfrm>
            <a:off x="640080"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7"/>
          <p:cNvSpPr/>
          <p:nvPr/>
        </p:nvSpPr>
        <p:spPr>
          <a:xfrm>
            <a:off x="822960"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Top Requirements</a:t>
            </a:r>
            <a:endParaRPr b="0" i="0" sz="1350" u="none" cap="none" strike="noStrike">
              <a:solidFill>
                <a:schemeClr val="dk1"/>
              </a:solidFill>
              <a:latin typeface="Calibri"/>
              <a:ea typeface="Calibri"/>
              <a:cs typeface="Calibri"/>
              <a:sym typeface="Calibri"/>
            </a:endParaRPr>
          </a:p>
        </p:txBody>
      </p:sp>
      <p:sp>
        <p:nvSpPr>
          <p:cNvPr id="229" name="Google Shape;229;p7"/>
          <p:cNvSpPr/>
          <p:nvPr/>
        </p:nvSpPr>
        <p:spPr>
          <a:xfrm>
            <a:off x="822960" y="1892808"/>
            <a:ext cx="859536"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p:nvPr/>
        </p:nvSpPr>
        <p:spPr>
          <a:xfrm>
            <a:off x="822960" y="1892808"/>
            <a:ext cx="85953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FR-STU-04</a:t>
            </a:r>
            <a:endParaRPr b="0" i="0" sz="1080" u="none" cap="none" strike="noStrike">
              <a:solidFill>
                <a:schemeClr val="dk1"/>
              </a:solidFill>
              <a:latin typeface="Calibri"/>
              <a:ea typeface="Calibri"/>
              <a:cs typeface="Calibri"/>
              <a:sym typeface="Calibri"/>
            </a:endParaRPr>
          </a:p>
        </p:txBody>
      </p:sp>
      <p:sp>
        <p:nvSpPr>
          <p:cNvPr id="231" name="Google Shape;231;p7"/>
          <p:cNvSpPr/>
          <p:nvPr/>
        </p:nvSpPr>
        <p:spPr>
          <a:xfrm>
            <a:off x="822960" y="2185416"/>
            <a:ext cx="3072384" cy="6035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Sistem tələbəyə yalnız status = OPEN olan və boş yeri qalan kursları göstərməlidir.</a:t>
            </a:r>
            <a:endParaRPr b="0" i="0" sz="1130" u="none" cap="none" strike="noStrike">
              <a:solidFill>
                <a:schemeClr val="dk1"/>
              </a:solidFill>
              <a:latin typeface="Calibri"/>
              <a:ea typeface="Calibri"/>
              <a:cs typeface="Calibri"/>
              <a:sym typeface="Calibri"/>
            </a:endParaRPr>
          </a:p>
        </p:txBody>
      </p:sp>
      <p:sp>
        <p:nvSpPr>
          <p:cNvPr id="232" name="Google Shape;232;p7"/>
          <p:cNvSpPr/>
          <p:nvPr/>
        </p:nvSpPr>
        <p:spPr>
          <a:xfrm>
            <a:off x="822960" y="2862072"/>
            <a:ext cx="859536"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p:nvPr/>
        </p:nvSpPr>
        <p:spPr>
          <a:xfrm>
            <a:off x="822960" y="2862072"/>
            <a:ext cx="85953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FR-ADM-0</a:t>
            </a:r>
            <a:r>
              <a:rPr b="1" lang="en-US" sz="1080">
                <a:solidFill>
                  <a:srgbClr val="1E4FD0"/>
                </a:solidFill>
                <a:latin typeface="Calibri"/>
                <a:ea typeface="Calibri"/>
                <a:cs typeface="Calibri"/>
                <a:sym typeface="Calibri"/>
              </a:rPr>
              <a:t>8</a:t>
            </a:r>
            <a:endParaRPr b="0" i="0" sz="1080" u="none" cap="none" strike="noStrike">
              <a:solidFill>
                <a:schemeClr val="dk1"/>
              </a:solidFill>
              <a:latin typeface="Calibri"/>
              <a:ea typeface="Calibri"/>
              <a:cs typeface="Calibri"/>
              <a:sym typeface="Calibri"/>
            </a:endParaRPr>
          </a:p>
        </p:txBody>
      </p:sp>
      <p:sp>
        <p:nvSpPr>
          <p:cNvPr id="234" name="Google Shape;234;p7"/>
          <p:cNvSpPr/>
          <p:nvPr/>
        </p:nvSpPr>
        <p:spPr>
          <a:xfrm>
            <a:off x="822960" y="3154680"/>
            <a:ext cx="3072384" cy="60350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30">
                <a:solidFill>
                  <a:srgbClr val="6E7480"/>
                </a:solidFill>
                <a:latin typeface="Calibri"/>
                <a:ea typeface="Calibri"/>
                <a:cs typeface="Calibri"/>
                <a:sym typeface="Calibri"/>
              </a:rPr>
              <a:t>Sistem administratora course instance üçün session-lar (tarix, saat, müəllim) yaratmaq və redaktə etmək imkanı verməlidir.</a:t>
            </a:r>
            <a:endParaRPr sz="1130">
              <a:solidFill>
                <a:srgbClr val="6E7480"/>
              </a:solidFill>
              <a:latin typeface="Calibri"/>
              <a:ea typeface="Calibri"/>
              <a:cs typeface="Calibri"/>
              <a:sym typeface="Calibri"/>
            </a:endParaRPr>
          </a:p>
        </p:txBody>
      </p:sp>
      <p:sp>
        <p:nvSpPr>
          <p:cNvPr id="235" name="Google Shape;235;p7"/>
          <p:cNvSpPr/>
          <p:nvPr/>
        </p:nvSpPr>
        <p:spPr>
          <a:xfrm>
            <a:off x="822960" y="3831336"/>
            <a:ext cx="859536"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p:nvPr/>
        </p:nvSpPr>
        <p:spPr>
          <a:xfrm>
            <a:off x="822960" y="3831336"/>
            <a:ext cx="85953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FR-TCH-02</a:t>
            </a:r>
            <a:endParaRPr b="0" i="0" sz="1080" u="none" cap="none" strike="noStrike">
              <a:solidFill>
                <a:schemeClr val="dk1"/>
              </a:solidFill>
              <a:latin typeface="Calibri"/>
              <a:ea typeface="Calibri"/>
              <a:cs typeface="Calibri"/>
              <a:sym typeface="Calibri"/>
            </a:endParaRPr>
          </a:p>
        </p:txBody>
      </p:sp>
      <p:sp>
        <p:nvSpPr>
          <p:cNvPr id="237" name="Google Shape;237;p7"/>
          <p:cNvSpPr/>
          <p:nvPr/>
        </p:nvSpPr>
        <p:spPr>
          <a:xfrm>
            <a:off x="822960" y="4123944"/>
            <a:ext cx="3072384" cy="60350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30">
                <a:solidFill>
                  <a:srgbClr val="6E7480"/>
                </a:solidFill>
                <a:latin typeface="Calibri"/>
                <a:ea typeface="Calibri"/>
                <a:cs typeface="Calibri"/>
                <a:sym typeface="Calibri"/>
              </a:rPr>
              <a:t>Sistem müəllimə yalnız ona təyin edilmiş course instance/session-lara giriş imkanı verməlidir.</a:t>
            </a:r>
            <a:endParaRPr b="0" i="0" sz="1130" u="none" cap="none" strike="noStrike">
              <a:solidFill>
                <a:schemeClr val="dk1"/>
              </a:solidFill>
              <a:latin typeface="Calibri"/>
              <a:ea typeface="Calibri"/>
              <a:cs typeface="Calibri"/>
              <a:sym typeface="Calibri"/>
            </a:endParaRPr>
          </a:p>
        </p:txBody>
      </p:sp>
      <p:sp>
        <p:nvSpPr>
          <p:cNvPr id="238" name="Google Shape;238;p7"/>
          <p:cNvSpPr/>
          <p:nvPr/>
        </p:nvSpPr>
        <p:spPr>
          <a:xfrm>
            <a:off x="822960" y="4800600"/>
            <a:ext cx="859536"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7"/>
          <p:cNvSpPr/>
          <p:nvPr/>
        </p:nvSpPr>
        <p:spPr>
          <a:xfrm>
            <a:off x="822960" y="4800600"/>
            <a:ext cx="85953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FR-STU-02</a:t>
            </a:r>
            <a:endParaRPr b="0" i="0" sz="1080" u="none" cap="none" strike="noStrike">
              <a:solidFill>
                <a:schemeClr val="dk1"/>
              </a:solidFill>
              <a:latin typeface="Calibri"/>
              <a:ea typeface="Calibri"/>
              <a:cs typeface="Calibri"/>
              <a:sym typeface="Calibri"/>
            </a:endParaRPr>
          </a:p>
        </p:txBody>
      </p:sp>
      <p:sp>
        <p:nvSpPr>
          <p:cNvPr id="240" name="Google Shape;240;p7"/>
          <p:cNvSpPr/>
          <p:nvPr/>
        </p:nvSpPr>
        <p:spPr>
          <a:xfrm>
            <a:off x="822960" y="5093208"/>
            <a:ext cx="3072384" cy="60350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30">
                <a:solidFill>
                  <a:srgbClr val="6E7480"/>
                </a:solidFill>
                <a:latin typeface="Calibri"/>
                <a:ea typeface="Calibri"/>
                <a:cs typeface="Calibri"/>
                <a:sym typeface="Calibri"/>
              </a:rPr>
              <a:t>Sistem tələbəyə yalnız öz enrollment, attendance, result və certificate məlumatlarını göstərməli; başqa tələbənin resursuna müraciət zamanı 403 Forbidden qaytarmalıdır</a:t>
            </a:r>
            <a:endParaRPr b="0" i="0" sz="1130" u="none" cap="none" strike="noStrike">
              <a:solidFill>
                <a:schemeClr val="dk1"/>
              </a:solidFill>
              <a:latin typeface="Calibri"/>
              <a:ea typeface="Calibri"/>
              <a:cs typeface="Calibri"/>
              <a:sym typeface="Calibri"/>
            </a:endParaRPr>
          </a:p>
        </p:txBody>
      </p:sp>
      <p:sp>
        <p:nvSpPr>
          <p:cNvPr id="241" name="Google Shape;241;p7"/>
          <p:cNvSpPr/>
          <p:nvPr/>
        </p:nvSpPr>
        <p:spPr>
          <a:xfrm>
            <a:off x="4361688"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sz="1130">
              <a:solidFill>
                <a:srgbClr val="6E7480"/>
              </a:solidFill>
              <a:latin typeface="Calibri"/>
              <a:ea typeface="Calibri"/>
              <a:cs typeface="Calibri"/>
              <a:sym typeface="Calibri"/>
            </a:endParaRPr>
          </a:p>
        </p:txBody>
      </p:sp>
      <p:sp>
        <p:nvSpPr>
          <p:cNvPr id="242" name="Google Shape;242;p7"/>
          <p:cNvSpPr/>
          <p:nvPr/>
        </p:nvSpPr>
        <p:spPr>
          <a:xfrm>
            <a:off x="4544568"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User Stories</a:t>
            </a:r>
            <a:endParaRPr b="0" i="0" sz="1350" u="none" cap="none" strike="noStrike">
              <a:solidFill>
                <a:schemeClr val="dk1"/>
              </a:solidFill>
              <a:latin typeface="Calibri"/>
              <a:ea typeface="Calibri"/>
              <a:cs typeface="Calibri"/>
              <a:sym typeface="Calibri"/>
            </a:endParaRPr>
          </a:p>
        </p:txBody>
      </p:sp>
      <p:sp>
        <p:nvSpPr>
          <p:cNvPr id="243" name="Google Shape;243;p7"/>
          <p:cNvSpPr/>
          <p:nvPr/>
        </p:nvSpPr>
        <p:spPr>
          <a:xfrm>
            <a:off x="4544568" y="1892808"/>
            <a:ext cx="658368"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7"/>
          <p:cNvSpPr/>
          <p:nvPr/>
        </p:nvSpPr>
        <p:spPr>
          <a:xfrm>
            <a:off x="4544568" y="1892808"/>
            <a:ext cx="658368"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US-01</a:t>
            </a:r>
            <a:endParaRPr b="0" i="0" sz="1080" u="none" cap="none" strike="noStrike">
              <a:solidFill>
                <a:schemeClr val="dk1"/>
              </a:solidFill>
              <a:latin typeface="Calibri"/>
              <a:ea typeface="Calibri"/>
              <a:cs typeface="Calibri"/>
              <a:sym typeface="Calibri"/>
            </a:endParaRPr>
          </a:p>
        </p:txBody>
      </p:sp>
      <p:sp>
        <p:nvSpPr>
          <p:cNvPr id="245" name="Google Shape;245;p7"/>
          <p:cNvSpPr/>
          <p:nvPr/>
        </p:nvSpPr>
        <p:spPr>
          <a:xfrm>
            <a:off x="4544568" y="2185416"/>
            <a:ext cx="3072384" cy="6400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900">
                <a:solidFill>
                  <a:srgbClr val="6E7480"/>
                </a:solidFill>
                <a:latin typeface="Calibri"/>
                <a:ea typeface="Calibri"/>
                <a:cs typeface="Calibri"/>
                <a:sym typeface="Calibri"/>
              </a:rPr>
              <a:t>Administrator olaraq, Course yaratmaq və onun pass_score, minimum davamiyyət həddi və prerequisite parametrlərini müəyyən etmək istəyirəm ki, qiymətləndirmə və sertifikatlaşdırma qaydaları sistem tərəfindən tətbiq oluna bilsin</a:t>
            </a:r>
            <a:endParaRPr b="0" i="0" sz="900" u="none" cap="none" strike="noStrike">
              <a:solidFill>
                <a:schemeClr val="dk1"/>
              </a:solidFill>
              <a:latin typeface="Calibri"/>
              <a:ea typeface="Calibri"/>
              <a:cs typeface="Calibri"/>
              <a:sym typeface="Calibri"/>
            </a:endParaRPr>
          </a:p>
        </p:txBody>
      </p:sp>
      <p:sp>
        <p:nvSpPr>
          <p:cNvPr id="246" name="Google Shape;246;p7"/>
          <p:cNvSpPr/>
          <p:nvPr/>
        </p:nvSpPr>
        <p:spPr>
          <a:xfrm>
            <a:off x="4544568" y="2862072"/>
            <a:ext cx="658368"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7"/>
          <p:cNvSpPr/>
          <p:nvPr/>
        </p:nvSpPr>
        <p:spPr>
          <a:xfrm>
            <a:off x="4544568" y="2862072"/>
            <a:ext cx="658368"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US-04</a:t>
            </a:r>
            <a:endParaRPr b="0" i="0" sz="1080" u="none" cap="none" strike="noStrike">
              <a:solidFill>
                <a:schemeClr val="dk1"/>
              </a:solidFill>
              <a:latin typeface="Calibri"/>
              <a:ea typeface="Calibri"/>
              <a:cs typeface="Calibri"/>
              <a:sym typeface="Calibri"/>
            </a:endParaRPr>
          </a:p>
        </p:txBody>
      </p:sp>
      <p:sp>
        <p:nvSpPr>
          <p:cNvPr id="248" name="Google Shape;248;p7"/>
          <p:cNvSpPr/>
          <p:nvPr/>
        </p:nvSpPr>
        <p:spPr>
          <a:xfrm>
            <a:off x="4544568" y="3154680"/>
            <a:ext cx="3072384"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Tələbə olaraq, OPEN statuslu mövcud Course-ları görmək istəyirəm ki, uyğun Course seçə bilim.</a:t>
            </a:r>
            <a:endParaRPr b="0" i="0" sz="1130" u="none" cap="none" strike="noStrike">
              <a:solidFill>
                <a:schemeClr val="dk1"/>
              </a:solidFill>
              <a:latin typeface="Calibri"/>
              <a:ea typeface="Calibri"/>
              <a:cs typeface="Calibri"/>
              <a:sym typeface="Calibri"/>
            </a:endParaRPr>
          </a:p>
        </p:txBody>
      </p:sp>
      <p:sp>
        <p:nvSpPr>
          <p:cNvPr id="249" name="Google Shape;249;p7"/>
          <p:cNvSpPr/>
          <p:nvPr/>
        </p:nvSpPr>
        <p:spPr>
          <a:xfrm>
            <a:off x="4544568" y="3831336"/>
            <a:ext cx="658368"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7"/>
          <p:cNvSpPr/>
          <p:nvPr/>
        </p:nvSpPr>
        <p:spPr>
          <a:xfrm>
            <a:off x="4544568" y="3831336"/>
            <a:ext cx="658368"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US-05</a:t>
            </a:r>
            <a:endParaRPr b="0" i="0" sz="1080" u="none" cap="none" strike="noStrike">
              <a:solidFill>
                <a:schemeClr val="dk1"/>
              </a:solidFill>
              <a:latin typeface="Calibri"/>
              <a:ea typeface="Calibri"/>
              <a:cs typeface="Calibri"/>
              <a:sym typeface="Calibri"/>
            </a:endParaRPr>
          </a:p>
        </p:txBody>
      </p:sp>
      <p:sp>
        <p:nvSpPr>
          <p:cNvPr id="251" name="Google Shape;251;p7"/>
          <p:cNvSpPr/>
          <p:nvPr/>
        </p:nvSpPr>
        <p:spPr>
          <a:xfrm>
            <a:off x="4544568" y="4123944"/>
            <a:ext cx="3072384" cy="6400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130">
                <a:solidFill>
                  <a:srgbClr val="6E7480"/>
                </a:solidFill>
                <a:latin typeface="Calibri"/>
                <a:ea typeface="Calibri"/>
                <a:cs typeface="Calibri"/>
                <a:sym typeface="Calibri"/>
              </a:rPr>
              <a:t>Tələbə olaraq, uyğun Course üzrə özüm enrollment yaratmaq istəyirəm ki, qeydiyyat prosesini sistem üzərindən həyata keçirə bilim.</a:t>
            </a:r>
            <a:endParaRPr sz="1130">
              <a:solidFill>
                <a:srgbClr val="6E7480"/>
              </a:solidFill>
              <a:latin typeface="Calibri"/>
              <a:ea typeface="Calibri"/>
              <a:cs typeface="Calibri"/>
              <a:sym typeface="Calibri"/>
            </a:endParaRPr>
          </a:p>
        </p:txBody>
      </p:sp>
      <p:sp>
        <p:nvSpPr>
          <p:cNvPr id="252" name="Google Shape;252;p7"/>
          <p:cNvSpPr/>
          <p:nvPr/>
        </p:nvSpPr>
        <p:spPr>
          <a:xfrm>
            <a:off x="4544568" y="4800600"/>
            <a:ext cx="658368"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7"/>
          <p:cNvSpPr/>
          <p:nvPr/>
        </p:nvSpPr>
        <p:spPr>
          <a:xfrm>
            <a:off x="4544568" y="4800600"/>
            <a:ext cx="658368"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US-06</a:t>
            </a:r>
            <a:endParaRPr b="0" i="0" sz="1080" u="none" cap="none" strike="noStrike">
              <a:solidFill>
                <a:schemeClr val="dk1"/>
              </a:solidFill>
              <a:latin typeface="Calibri"/>
              <a:ea typeface="Calibri"/>
              <a:cs typeface="Calibri"/>
              <a:sym typeface="Calibri"/>
            </a:endParaRPr>
          </a:p>
        </p:txBody>
      </p:sp>
      <p:sp>
        <p:nvSpPr>
          <p:cNvPr id="254" name="Google Shape;254;p7"/>
          <p:cNvSpPr/>
          <p:nvPr/>
        </p:nvSpPr>
        <p:spPr>
          <a:xfrm>
            <a:off x="4544568" y="5093208"/>
            <a:ext cx="3072384" cy="6400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130">
                <a:solidFill>
                  <a:srgbClr val="6E7480"/>
                </a:solidFill>
                <a:latin typeface="Calibri"/>
                <a:ea typeface="Calibri"/>
                <a:cs typeface="Calibri"/>
                <a:sym typeface="Calibri"/>
              </a:rPr>
              <a:t>Tələbə olaraq, enrollment cəhdim uğursuz olduqda səbəbini görmək istəyirəm ki, qeydiyyatın niyə yaradılmadığını bilim.</a:t>
            </a:r>
            <a:endParaRPr b="0" i="0" sz="1130" u="none" cap="none" strike="noStrike">
              <a:solidFill>
                <a:schemeClr val="dk1"/>
              </a:solidFill>
              <a:latin typeface="Calibri"/>
              <a:ea typeface="Calibri"/>
              <a:cs typeface="Calibri"/>
              <a:sym typeface="Calibri"/>
            </a:endParaRPr>
          </a:p>
        </p:txBody>
      </p:sp>
      <p:sp>
        <p:nvSpPr>
          <p:cNvPr id="255" name="Google Shape;255;p7"/>
          <p:cNvSpPr/>
          <p:nvPr/>
        </p:nvSpPr>
        <p:spPr>
          <a:xfrm>
            <a:off x="8083296"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7"/>
          <p:cNvSpPr/>
          <p:nvPr/>
        </p:nvSpPr>
        <p:spPr>
          <a:xfrm>
            <a:off x="8266176"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Acceptance Criteria</a:t>
            </a:r>
            <a:endParaRPr b="0" i="0" sz="1350" u="none" cap="none" strike="noStrike">
              <a:solidFill>
                <a:schemeClr val="dk1"/>
              </a:solidFill>
              <a:latin typeface="Calibri"/>
              <a:ea typeface="Calibri"/>
              <a:cs typeface="Calibri"/>
              <a:sym typeface="Calibri"/>
            </a:endParaRPr>
          </a:p>
        </p:txBody>
      </p:sp>
      <p:sp>
        <p:nvSpPr>
          <p:cNvPr id="257" name="Google Shape;257;p7"/>
          <p:cNvSpPr/>
          <p:nvPr/>
        </p:nvSpPr>
        <p:spPr>
          <a:xfrm>
            <a:off x="8266176" y="1892808"/>
            <a:ext cx="658368"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7"/>
          <p:cNvSpPr/>
          <p:nvPr/>
        </p:nvSpPr>
        <p:spPr>
          <a:xfrm>
            <a:off x="8266176" y="1892808"/>
            <a:ext cx="658368"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AC-04</a:t>
            </a:r>
            <a:endParaRPr b="0" i="0" sz="1080" u="none" cap="none" strike="noStrike">
              <a:solidFill>
                <a:schemeClr val="dk1"/>
              </a:solidFill>
              <a:latin typeface="Calibri"/>
              <a:ea typeface="Calibri"/>
              <a:cs typeface="Calibri"/>
              <a:sym typeface="Calibri"/>
            </a:endParaRPr>
          </a:p>
        </p:txBody>
      </p:sp>
      <p:sp>
        <p:nvSpPr>
          <p:cNvPr id="259" name="Google Shape;259;p7"/>
          <p:cNvSpPr/>
          <p:nvPr/>
        </p:nvSpPr>
        <p:spPr>
          <a:xfrm>
            <a:off x="8266175" y="2167125"/>
            <a:ext cx="3072300" cy="102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6BFF"/>
              </a:buClr>
              <a:buSzPts val="880"/>
              <a:buFont typeface="Calibri"/>
              <a:buNone/>
            </a:pPr>
            <a:r>
              <a:rPr b="1" i="0" lang="en-US" sz="900" u="none" cap="none" strike="noStrike">
                <a:solidFill>
                  <a:srgbClr val="2F6BFF"/>
                </a:solidFill>
                <a:latin typeface="Calibri"/>
                <a:ea typeface="Calibri"/>
                <a:cs typeface="Calibri"/>
                <a:sym typeface="Calibri"/>
              </a:rPr>
              <a:t>Given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7480"/>
              </a:buClr>
              <a:buSzPts val="880"/>
              <a:buFont typeface="Calibri"/>
              <a:buNone/>
            </a:pPr>
            <a:r>
              <a:rPr b="0" i="0" lang="en-US" sz="900" u="none" cap="none" strike="noStrike">
                <a:solidFill>
                  <a:srgbClr val="6E7480"/>
                </a:solidFill>
                <a:latin typeface="Calibri"/>
                <a:ea typeface="Calibri"/>
                <a:cs typeface="Calibri"/>
                <a:sym typeface="Calibri"/>
              </a:rPr>
              <a:t>Kataloqda OPEN, DRAFT, CLOSED və ARCHIVED Course-lar mövcuddur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F6BFF"/>
              </a:buClr>
              <a:buSzPts val="880"/>
              <a:buFont typeface="Calibri"/>
              <a:buNone/>
            </a:pPr>
            <a:r>
              <a:rPr b="1" i="0" lang="en-US" sz="900" u="none" cap="none" strike="noStrike">
                <a:solidFill>
                  <a:srgbClr val="2F6BFF"/>
                </a:solidFill>
                <a:latin typeface="Calibri"/>
                <a:ea typeface="Calibri"/>
                <a:cs typeface="Calibri"/>
                <a:sym typeface="Calibri"/>
              </a:rPr>
              <a:t>When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7480"/>
              </a:buClr>
              <a:buSzPts val="880"/>
              <a:buFont typeface="Calibri"/>
              <a:buNone/>
            </a:pPr>
            <a:r>
              <a:rPr b="0" i="0" lang="en-US" sz="900" u="none" cap="none" strike="noStrike">
                <a:solidFill>
                  <a:srgbClr val="6E7480"/>
                </a:solidFill>
                <a:latin typeface="Calibri"/>
                <a:ea typeface="Calibri"/>
                <a:cs typeface="Calibri"/>
                <a:sym typeface="Calibri"/>
              </a:rPr>
              <a:t>Student kataloqa baxır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F8A70"/>
              </a:buClr>
              <a:buSzPts val="880"/>
              <a:buFont typeface="Calibri"/>
              <a:buNone/>
            </a:pPr>
            <a:r>
              <a:rPr b="1" i="0" lang="en-US" sz="900" u="none" cap="none" strike="noStrike">
                <a:solidFill>
                  <a:srgbClr val="1F8A70"/>
                </a:solidFill>
                <a:latin typeface="Calibri"/>
                <a:ea typeface="Calibri"/>
                <a:cs typeface="Calibri"/>
                <a:sym typeface="Calibri"/>
              </a:rPr>
              <a:t>Then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7480"/>
              </a:buClr>
              <a:buSzPts val="880"/>
              <a:buFont typeface="Calibri"/>
              <a:buNone/>
            </a:pPr>
            <a:r>
              <a:rPr b="0" i="0" lang="en-US" sz="900" u="none" cap="none" strike="noStrike">
                <a:solidFill>
                  <a:srgbClr val="6E7480"/>
                </a:solidFill>
                <a:latin typeface="Calibri"/>
                <a:ea typeface="Calibri"/>
                <a:cs typeface="Calibri"/>
                <a:sym typeface="Calibri"/>
              </a:rPr>
              <a:t>Yalnız OPEN Course-lar əlçatan göstərilir</a:t>
            </a:r>
            <a:endParaRPr b="0" i="0" sz="900" u="none" cap="none" strike="noStrike">
              <a:solidFill>
                <a:schemeClr val="dk1"/>
              </a:solidFill>
              <a:latin typeface="Calibri"/>
              <a:ea typeface="Calibri"/>
              <a:cs typeface="Calibri"/>
              <a:sym typeface="Calibri"/>
            </a:endParaRPr>
          </a:p>
        </p:txBody>
      </p:sp>
      <p:sp>
        <p:nvSpPr>
          <p:cNvPr id="260" name="Google Shape;260;p7"/>
          <p:cNvSpPr/>
          <p:nvPr/>
        </p:nvSpPr>
        <p:spPr>
          <a:xfrm>
            <a:off x="8266176" y="3191256"/>
            <a:ext cx="658368"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7"/>
          <p:cNvSpPr/>
          <p:nvPr/>
        </p:nvSpPr>
        <p:spPr>
          <a:xfrm>
            <a:off x="8266176" y="3191256"/>
            <a:ext cx="658368"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AC-0</a:t>
            </a:r>
            <a:r>
              <a:rPr b="1" lang="en-US" sz="1080">
                <a:solidFill>
                  <a:srgbClr val="1E4FD0"/>
                </a:solidFill>
                <a:latin typeface="Calibri"/>
                <a:ea typeface="Calibri"/>
                <a:cs typeface="Calibri"/>
                <a:sym typeface="Calibri"/>
              </a:rPr>
              <a:t>9</a:t>
            </a:r>
            <a:endParaRPr b="0" i="0" sz="1080" u="none" cap="none" strike="noStrike">
              <a:solidFill>
                <a:schemeClr val="dk1"/>
              </a:solidFill>
              <a:latin typeface="Calibri"/>
              <a:ea typeface="Calibri"/>
              <a:cs typeface="Calibri"/>
              <a:sym typeface="Calibri"/>
            </a:endParaRPr>
          </a:p>
        </p:txBody>
      </p:sp>
      <p:sp>
        <p:nvSpPr>
          <p:cNvPr id="262" name="Google Shape;262;p7"/>
          <p:cNvSpPr/>
          <p:nvPr/>
        </p:nvSpPr>
        <p:spPr>
          <a:xfrm>
            <a:off x="8266176" y="3465576"/>
            <a:ext cx="3072384" cy="9326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6BFF"/>
              </a:buClr>
              <a:buSzPts val="880"/>
              <a:buFont typeface="Calibri"/>
              <a:buNone/>
            </a:pPr>
            <a:r>
              <a:rPr b="1" lang="en-US" sz="850">
                <a:solidFill>
                  <a:srgbClr val="2F6BFF"/>
                </a:solidFill>
                <a:latin typeface="Calibri"/>
                <a:ea typeface="Calibri"/>
                <a:cs typeface="Calibri"/>
                <a:sym typeface="Calibri"/>
              </a:rPr>
              <a:t>Given </a:t>
            </a:r>
            <a:endParaRPr sz="850">
              <a:solidFill>
                <a:srgbClr val="6E7480"/>
              </a:solidFill>
              <a:latin typeface="Calibri"/>
              <a:ea typeface="Calibri"/>
              <a:cs typeface="Calibri"/>
              <a:sym typeface="Calibri"/>
            </a:endParaRPr>
          </a:p>
          <a:p>
            <a:pPr indent="0" lvl="0" marL="0" marR="0" rtl="0" algn="l">
              <a:lnSpc>
                <a:spcPct val="100000"/>
              </a:lnSpc>
              <a:spcBef>
                <a:spcPts val="0"/>
              </a:spcBef>
              <a:spcAft>
                <a:spcPts val="0"/>
              </a:spcAft>
              <a:buClr>
                <a:srgbClr val="6E7480"/>
              </a:buClr>
              <a:buSzPts val="880"/>
              <a:buFont typeface="Calibri"/>
              <a:buNone/>
            </a:pPr>
            <a:r>
              <a:rPr lang="en-US" sz="850">
                <a:solidFill>
                  <a:srgbClr val="6E7480"/>
                </a:solidFill>
                <a:latin typeface="Calibri"/>
                <a:ea typeface="Calibri"/>
                <a:cs typeface="Calibri"/>
                <a:sym typeface="Calibri"/>
              </a:rPr>
              <a:t>Student-in həmin Course Instance üzrə artıq ACTIVE enrollment-i var</a:t>
            </a:r>
            <a:endParaRPr sz="850">
              <a:solidFill>
                <a:srgbClr val="6E7480"/>
              </a:solidFill>
              <a:latin typeface="Calibri"/>
              <a:ea typeface="Calibri"/>
              <a:cs typeface="Calibri"/>
              <a:sym typeface="Calibri"/>
            </a:endParaRPr>
          </a:p>
          <a:p>
            <a:pPr indent="0" lvl="0" marL="0" marR="0" rtl="0" algn="l">
              <a:lnSpc>
                <a:spcPct val="100000"/>
              </a:lnSpc>
              <a:spcBef>
                <a:spcPts val="0"/>
              </a:spcBef>
              <a:spcAft>
                <a:spcPts val="0"/>
              </a:spcAft>
              <a:buClr>
                <a:srgbClr val="2F6BFF"/>
              </a:buClr>
              <a:buSzPts val="880"/>
              <a:buFont typeface="Calibri"/>
              <a:buNone/>
            </a:pPr>
            <a:r>
              <a:rPr b="1" lang="en-US" sz="850">
                <a:solidFill>
                  <a:srgbClr val="2F6BFF"/>
                </a:solidFill>
                <a:latin typeface="Calibri"/>
                <a:ea typeface="Calibri"/>
                <a:cs typeface="Calibri"/>
                <a:sym typeface="Calibri"/>
              </a:rPr>
              <a:t>When </a:t>
            </a:r>
            <a:endParaRPr sz="850">
              <a:solidFill>
                <a:srgbClr val="6E7480"/>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850">
                <a:solidFill>
                  <a:srgbClr val="6E7480"/>
                </a:solidFill>
                <a:latin typeface="Calibri"/>
                <a:ea typeface="Calibri"/>
                <a:cs typeface="Calibri"/>
                <a:sym typeface="Calibri"/>
              </a:rPr>
              <a:t>Student yenidən enrollment yaratmağa çalışır</a:t>
            </a:r>
            <a:endParaRPr sz="850">
              <a:solidFill>
                <a:srgbClr val="6E7480"/>
              </a:solidFill>
              <a:latin typeface="Calibri"/>
              <a:ea typeface="Calibri"/>
              <a:cs typeface="Calibri"/>
              <a:sym typeface="Calibri"/>
            </a:endParaRPr>
          </a:p>
          <a:p>
            <a:pPr indent="0" lvl="0" marL="0" marR="0" rtl="0" algn="l">
              <a:lnSpc>
                <a:spcPct val="100000"/>
              </a:lnSpc>
              <a:spcBef>
                <a:spcPts val="0"/>
              </a:spcBef>
              <a:spcAft>
                <a:spcPts val="0"/>
              </a:spcAft>
              <a:buClr>
                <a:srgbClr val="1F8A70"/>
              </a:buClr>
              <a:buSzPts val="880"/>
              <a:buFont typeface="Calibri"/>
              <a:buNone/>
            </a:pPr>
            <a:r>
              <a:rPr b="1" lang="en-US" sz="850">
                <a:solidFill>
                  <a:srgbClr val="1F8A70"/>
                </a:solidFill>
                <a:latin typeface="Calibri"/>
                <a:ea typeface="Calibri"/>
                <a:cs typeface="Calibri"/>
                <a:sym typeface="Calibri"/>
              </a:rPr>
              <a:t>Then </a:t>
            </a:r>
            <a:endParaRPr sz="850">
              <a:solidFill>
                <a:srgbClr val="6E7480"/>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850">
                <a:solidFill>
                  <a:srgbClr val="6E7480"/>
                </a:solidFill>
                <a:latin typeface="Calibri"/>
                <a:ea typeface="Calibri"/>
                <a:cs typeface="Calibri"/>
                <a:sym typeface="Calibri"/>
              </a:rPr>
              <a:t>Əməliyyat 409 Conflict ilə rədd edilir</a:t>
            </a:r>
            <a:endParaRPr b="0" i="0" sz="850" u="none" cap="none" strike="noStrike">
              <a:solidFill>
                <a:schemeClr val="dk1"/>
              </a:solidFill>
              <a:latin typeface="Calibri"/>
              <a:ea typeface="Calibri"/>
              <a:cs typeface="Calibri"/>
              <a:sym typeface="Calibri"/>
            </a:endParaRPr>
          </a:p>
        </p:txBody>
      </p:sp>
      <p:sp>
        <p:nvSpPr>
          <p:cNvPr id="263" name="Google Shape;263;p7"/>
          <p:cNvSpPr/>
          <p:nvPr/>
        </p:nvSpPr>
        <p:spPr>
          <a:xfrm>
            <a:off x="8266176" y="4489704"/>
            <a:ext cx="658368" cy="219456"/>
          </a:xfrm>
          <a:prstGeom prst="roundRect">
            <a:avLst>
              <a:gd fmla="val 20833"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7"/>
          <p:cNvSpPr/>
          <p:nvPr/>
        </p:nvSpPr>
        <p:spPr>
          <a:xfrm>
            <a:off x="8266176" y="4489704"/>
            <a:ext cx="658368"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80"/>
              <a:buFont typeface="Calibri"/>
              <a:buNone/>
            </a:pPr>
            <a:r>
              <a:rPr b="1" i="0" lang="en-US" sz="1080" u="none" cap="none" strike="noStrike">
                <a:solidFill>
                  <a:srgbClr val="1E4FD0"/>
                </a:solidFill>
                <a:latin typeface="Calibri"/>
                <a:ea typeface="Calibri"/>
                <a:cs typeface="Calibri"/>
                <a:sym typeface="Calibri"/>
              </a:rPr>
              <a:t>AC-0</a:t>
            </a:r>
            <a:r>
              <a:rPr b="1" i="0" lang="en-US" sz="1080" u="none" cap="none" strike="noStrike">
                <a:solidFill>
                  <a:srgbClr val="1E4FD0"/>
                </a:solidFill>
                <a:latin typeface="Calibri"/>
                <a:ea typeface="Calibri"/>
                <a:cs typeface="Calibri"/>
                <a:sym typeface="Calibri"/>
              </a:rPr>
              <a:t>6</a:t>
            </a:r>
            <a:endParaRPr b="0" i="0" sz="1080" u="none" cap="none" strike="noStrike">
              <a:solidFill>
                <a:schemeClr val="dk1"/>
              </a:solidFill>
              <a:latin typeface="Calibri"/>
              <a:ea typeface="Calibri"/>
              <a:cs typeface="Calibri"/>
              <a:sym typeface="Calibri"/>
            </a:endParaRPr>
          </a:p>
        </p:txBody>
      </p:sp>
      <p:sp>
        <p:nvSpPr>
          <p:cNvPr id="265" name="Google Shape;265;p7"/>
          <p:cNvSpPr/>
          <p:nvPr/>
        </p:nvSpPr>
        <p:spPr>
          <a:xfrm>
            <a:off x="8266176" y="4764024"/>
            <a:ext cx="3072384" cy="9326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6BFF"/>
              </a:buClr>
              <a:buSzPts val="880"/>
              <a:buFont typeface="Calibri"/>
              <a:buNone/>
            </a:pPr>
            <a:r>
              <a:rPr b="1" i="0" lang="en-US" sz="850" u="none" cap="none" strike="noStrike">
                <a:solidFill>
                  <a:srgbClr val="2F6BFF"/>
                </a:solidFill>
                <a:latin typeface="Calibri"/>
                <a:ea typeface="Calibri"/>
                <a:cs typeface="Calibri"/>
                <a:sym typeface="Calibri"/>
              </a:rPr>
              <a:t>Given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7480"/>
              </a:buClr>
              <a:buSzPts val="880"/>
              <a:buFont typeface="Calibri"/>
              <a:buNone/>
            </a:pPr>
            <a:r>
              <a:rPr b="0" i="0" lang="en-US" sz="850" u="none" cap="none" strike="noStrike">
                <a:solidFill>
                  <a:srgbClr val="6E7480"/>
                </a:solidFill>
                <a:latin typeface="Calibri"/>
                <a:ea typeface="Calibri"/>
                <a:cs typeface="Calibri"/>
                <a:sym typeface="Calibri"/>
              </a:rPr>
              <a:t>Prerequisite müəyyən edilib, Student PASSED nəticəsinə malik deyil</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F6BFF"/>
              </a:buClr>
              <a:buSzPts val="880"/>
              <a:buFont typeface="Calibri"/>
              <a:buNone/>
            </a:pPr>
            <a:r>
              <a:rPr b="1" i="0" lang="en-US" sz="850" u="none" cap="none" strike="noStrike">
                <a:solidFill>
                  <a:srgbClr val="2F6BFF"/>
                </a:solidFill>
                <a:latin typeface="Calibri"/>
                <a:ea typeface="Calibri"/>
                <a:cs typeface="Calibri"/>
                <a:sym typeface="Calibri"/>
              </a:rPr>
              <a:t>When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7480"/>
              </a:buClr>
              <a:buSzPts val="880"/>
              <a:buFont typeface="Calibri"/>
              <a:buNone/>
            </a:pPr>
            <a:r>
              <a:rPr b="0" i="0" lang="en-US" sz="850" u="none" cap="none" strike="noStrike">
                <a:solidFill>
                  <a:srgbClr val="6E7480"/>
                </a:solidFill>
                <a:latin typeface="Calibri"/>
                <a:ea typeface="Calibri"/>
                <a:cs typeface="Calibri"/>
                <a:sym typeface="Calibri"/>
              </a:rPr>
              <a:t>Student qeydiyyata cəhd edir</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F8A70"/>
              </a:buClr>
              <a:buSzPts val="880"/>
              <a:buFont typeface="Calibri"/>
              <a:buNone/>
            </a:pPr>
            <a:r>
              <a:rPr b="1" i="0" lang="en-US" sz="850" u="none" cap="none" strike="noStrike">
                <a:solidFill>
                  <a:srgbClr val="1F8A70"/>
                </a:solidFill>
                <a:latin typeface="Calibri"/>
                <a:ea typeface="Calibri"/>
                <a:cs typeface="Calibri"/>
                <a:sym typeface="Calibri"/>
              </a:rPr>
              <a:t>Then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7480"/>
              </a:buClr>
              <a:buSzPts val="880"/>
              <a:buFont typeface="Calibri"/>
              <a:buNone/>
            </a:pPr>
            <a:r>
              <a:rPr b="0" i="0" lang="en-US" sz="850" u="none" cap="none" strike="noStrike">
                <a:solidFill>
                  <a:srgbClr val="6E7480"/>
                </a:solidFill>
                <a:latin typeface="Calibri"/>
                <a:ea typeface="Calibri"/>
                <a:cs typeface="Calibri"/>
                <a:sym typeface="Calibri"/>
              </a:rPr>
              <a:t>Qeydiyyat rədd edilir</a:t>
            </a:r>
            <a:endParaRPr b="0" i="0" sz="850" u="none" cap="none" strike="noStrike">
              <a:solidFill>
                <a:schemeClr val="dk1"/>
              </a:solidFill>
              <a:latin typeface="Calibri"/>
              <a:ea typeface="Calibri"/>
              <a:cs typeface="Calibri"/>
              <a:sym typeface="Calibri"/>
            </a:endParaRPr>
          </a:p>
        </p:txBody>
      </p:sp>
      <p:sp>
        <p:nvSpPr>
          <p:cNvPr id="266" name="Google Shape;266;p7"/>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7"/>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268" name="Google Shape;268;p7"/>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7</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273" name="Shape 273"/>
        <p:cNvGrpSpPr/>
        <p:nvPr/>
      </p:nvGrpSpPr>
      <p:grpSpPr>
        <a:xfrm>
          <a:off x="0" y="0"/>
          <a:ext cx="0" cy="0"/>
          <a:chOff x="0" y="0"/>
          <a:chExt cx="0" cy="0"/>
        </a:xfrm>
      </p:grpSpPr>
      <p:sp>
        <p:nvSpPr>
          <p:cNvPr id="274" name="Google Shape;274;p8"/>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8"/>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07 — Business Rules, Validations &amp; Edge Cases</a:t>
            </a:r>
            <a:endParaRPr b="0" i="0" sz="2500" u="none" cap="none" strike="noStrike">
              <a:solidFill>
                <a:schemeClr val="dk1"/>
              </a:solidFill>
              <a:latin typeface="Calibri"/>
              <a:ea typeface="Calibri"/>
              <a:cs typeface="Calibri"/>
              <a:sym typeface="Calibri"/>
            </a:endParaRPr>
          </a:p>
        </p:txBody>
      </p:sp>
      <p:sp>
        <p:nvSpPr>
          <p:cNvPr id="276" name="Google Shape;276;p8"/>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API və database dizaynına keçməzdən əvvəl məntiqin görünən hala gətirilməsi.</a:t>
            </a:r>
            <a:endParaRPr b="0" i="0" sz="1200" u="none" cap="none" strike="noStrike">
              <a:solidFill>
                <a:schemeClr val="dk1"/>
              </a:solidFill>
              <a:latin typeface="Calibri"/>
              <a:ea typeface="Calibri"/>
              <a:cs typeface="Calibri"/>
              <a:sym typeface="Calibri"/>
            </a:endParaRPr>
          </a:p>
        </p:txBody>
      </p:sp>
      <p:sp>
        <p:nvSpPr>
          <p:cNvPr id="277" name="Google Shape;277;p8"/>
          <p:cNvSpPr/>
          <p:nvPr/>
        </p:nvSpPr>
        <p:spPr>
          <a:xfrm>
            <a:off x="640080"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8"/>
          <p:cNvSpPr/>
          <p:nvPr/>
        </p:nvSpPr>
        <p:spPr>
          <a:xfrm>
            <a:off x="822960"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550" u="none" cap="none" strike="noStrike">
                <a:solidFill>
                  <a:srgbClr val="232A46"/>
                </a:solidFill>
                <a:latin typeface="Arial"/>
                <a:ea typeface="Arial"/>
                <a:cs typeface="Arial"/>
                <a:sym typeface="Arial"/>
              </a:rPr>
              <a:t>Business Rules</a:t>
            </a:r>
            <a:endParaRPr b="0" i="0" sz="1550" u="none" cap="none" strike="noStrike">
              <a:solidFill>
                <a:schemeClr val="dk1"/>
              </a:solidFill>
              <a:latin typeface="Calibri"/>
              <a:ea typeface="Calibri"/>
              <a:cs typeface="Calibri"/>
              <a:sym typeface="Calibri"/>
            </a:endParaRPr>
          </a:p>
        </p:txBody>
      </p:sp>
      <p:sp>
        <p:nvSpPr>
          <p:cNvPr id="279" name="Google Shape;279;p8"/>
          <p:cNvSpPr/>
          <p:nvPr/>
        </p:nvSpPr>
        <p:spPr>
          <a:xfrm>
            <a:off x="822960" y="1892808"/>
            <a:ext cx="969264" cy="210312"/>
          </a:xfrm>
          <a:prstGeom prst="roundRect">
            <a:avLst>
              <a:gd fmla="val 21739"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8"/>
          <p:cNvSpPr/>
          <p:nvPr/>
        </p:nvSpPr>
        <p:spPr>
          <a:xfrm>
            <a:off x="822960" y="1892808"/>
            <a:ext cx="96926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960" u="none" cap="none" strike="noStrike">
                <a:solidFill>
                  <a:srgbClr val="1E4FD0"/>
                </a:solidFill>
                <a:latin typeface="Calibri"/>
                <a:ea typeface="Calibri"/>
                <a:cs typeface="Calibri"/>
                <a:sym typeface="Calibri"/>
              </a:rPr>
              <a:t>BR-006</a:t>
            </a:r>
            <a:endParaRPr b="0" i="0" sz="960" u="none" cap="none" strike="noStrike">
              <a:solidFill>
                <a:schemeClr val="dk1"/>
              </a:solidFill>
              <a:latin typeface="Calibri"/>
              <a:ea typeface="Calibri"/>
              <a:cs typeface="Calibri"/>
              <a:sym typeface="Calibri"/>
            </a:endParaRPr>
          </a:p>
        </p:txBody>
      </p:sp>
      <p:sp>
        <p:nvSpPr>
          <p:cNvPr id="281" name="Google Shape;281;p8"/>
          <p:cNvSpPr/>
          <p:nvPr/>
        </p:nvSpPr>
        <p:spPr>
          <a:xfrm>
            <a:off x="822960" y="2148840"/>
            <a:ext cx="3072384" cy="29260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20"/>
              <a:buFont typeface="Calibri"/>
              <a:buNone/>
            </a:pPr>
            <a:r>
              <a:rPr b="0" i="0" lang="en-US" sz="1020" u="none" cap="none" strike="noStrike">
                <a:solidFill>
                  <a:srgbClr val="6E7480"/>
                </a:solidFill>
                <a:latin typeface="Calibri"/>
                <a:ea typeface="Calibri"/>
                <a:cs typeface="Calibri"/>
                <a:sym typeface="Calibri"/>
              </a:rPr>
              <a:t>Enrollment yalnız OPEN statuslu Course üçün mümkündür.</a:t>
            </a:r>
            <a:endParaRPr b="0" i="0" sz="1020" u="none" cap="none" strike="noStrike">
              <a:solidFill>
                <a:schemeClr val="dk1"/>
              </a:solidFill>
              <a:latin typeface="Calibri"/>
              <a:ea typeface="Calibri"/>
              <a:cs typeface="Calibri"/>
              <a:sym typeface="Calibri"/>
            </a:endParaRPr>
          </a:p>
        </p:txBody>
      </p:sp>
      <p:sp>
        <p:nvSpPr>
          <p:cNvPr id="282" name="Google Shape;282;p8"/>
          <p:cNvSpPr/>
          <p:nvPr/>
        </p:nvSpPr>
        <p:spPr>
          <a:xfrm>
            <a:off x="822960" y="2450592"/>
            <a:ext cx="969264" cy="210312"/>
          </a:xfrm>
          <a:prstGeom prst="roundRect">
            <a:avLst>
              <a:gd fmla="val 21739"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8"/>
          <p:cNvSpPr/>
          <p:nvPr/>
        </p:nvSpPr>
        <p:spPr>
          <a:xfrm>
            <a:off x="822960" y="2450592"/>
            <a:ext cx="96926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960" u="none" cap="none" strike="noStrike">
                <a:solidFill>
                  <a:srgbClr val="1E4FD0"/>
                </a:solidFill>
                <a:latin typeface="Calibri"/>
                <a:ea typeface="Calibri"/>
                <a:cs typeface="Calibri"/>
                <a:sym typeface="Calibri"/>
              </a:rPr>
              <a:t>BR-007</a:t>
            </a:r>
            <a:endParaRPr b="0" i="0" sz="960" u="none" cap="none" strike="noStrike">
              <a:solidFill>
                <a:schemeClr val="dk1"/>
              </a:solidFill>
              <a:latin typeface="Calibri"/>
              <a:ea typeface="Calibri"/>
              <a:cs typeface="Calibri"/>
              <a:sym typeface="Calibri"/>
            </a:endParaRPr>
          </a:p>
        </p:txBody>
      </p:sp>
      <p:sp>
        <p:nvSpPr>
          <p:cNvPr id="284" name="Google Shape;284;p8"/>
          <p:cNvSpPr/>
          <p:nvPr/>
        </p:nvSpPr>
        <p:spPr>
          <a:xfrm>
            <a:off x="822960" y="2706624"/>
            <a:ext cx="3072384" cy="29260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20"/>
              <a:buFont typeface="Calibri"/>
              <a:buNone/>
            </a:pPr>
            <a:r>
              <a:rPr b="0" i="0" lang="en-US" sz="1020" u="none" cap="none" strike="noStrike">
                <a:solidFill>
                  <a:srgbClr val="6E7480"/>
                </a:solidFill>
                <a:latin typeface="Calibri"/>
                <a:ea typeface="Calibri"/>
                <a:cs typeface="Calibri"/>
                <a:sym typeface="Calibri"/>
              </a:rPr>
              <a:t>ACTIVE enrollment sayı Course Instance capacity-sini keçə bilməz.</a:t>
            </a:r>
            <a:endParaRPr b="0" i="0" sz="1020" u="none" cap="none" strike="noStrike">
              <a:solidFill>
                <a:schemeClr val="dk1"/>
              </a:solidFill>
              <a:latin typeface="Calibri"/>
              <a:ea typeface="Calibri"/>
              <a:cs typeface="Calibri"/>
              <a:sym typeface="Calibri"/>
            </a:endParaRPr>
          </a:p>
        </p:txBody>
      </p:sp>
      <p:sp>
        <p:nvSpPr>
          <p:cNvPr id="285" name="Google Shape;285;p8"/>
          <p:cNvSpPr/>
          <p:nvPr/>
        </p:nvSpPr>
        <p:spPr>
          <a:xfrm>
            <a:off x="822960" y="3008376"/>
            <a:ext cx="969264" cy="210312"/>
          </a:xfrm>
          <a:prstGeom prst="roundRect">
            <a:avLst>
              <a:gd fmla="val 21739"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8"/>
          <p:cNvSpPr/>
          <p:nvPr/>
        </p:nvSpPr>
        <p:spPr>
          <a:xfrm>
            <a:off x="822960" y="3008376"/>
            <a:ext cx="96926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960" u="none" cap="none" strike="noStrike">
                <a:solidFill>
                  <a:srgbClr val="1E4FD0"/>
                </a:solidFill>
                <a:latin typeface="Calibri"/>
                <a:ea typeface="Calibri"/>
                <a:cs typeface="Calibri"/>
                <a:sym typeface="Calibri"/>
              </a:rPr>
              <a:t>BR-008</a:t>
            </a:r>
            <a:endParaRPr b="0" i="0" sz="960" u="none" cap="none" strike="noStrike">
              <a:solidFill>
                <a:schemeClr val="dk1"/>
              </a:solidFill>
              <a:latin typeface="Calibri"/>
              <a:ea typeface="Calibri"/>
              <a:cs typeface="Calibri"/>
              <a:sym typeface="Calibri"/>
            </a:endParaRPr>
          </a:p>
        </p:txBody>
      </p:sp>
      <p:sp>
        <p:nvSpPr>
          <p:cNvPr id="287" name="Google Shape;287;p8"/>
          <p:cNvSpPr/>
          <p:nvPr/>
        </p:nvSpPr>
        <p:spPr>
          <a:xfrm>
            <a:off x="822960" y="3264408"/>
            <a:ext cx="3072384" cy="29260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20"/>
              <a:buFont typeface="Calibri"/>
              <a:buNone/>
            </a:pPr>
            <a:r>
              <a:rPr b="0" i="0" lang="en-US" sz="1020" u="none" cap="none" strike="noStrike">
                <a:solidFill>
                  <a:srgbClr val="6E7480"/>
                </a:solidFill>
                <a:latin typeface="Calibri"/>
                <a:ea typeface="Calibri"/>
                <a:cs typeface="Calibri"/>
                <a:sym typeface="Calibri"/>
              </a:rPr>
              <a:t>Eyni Student + Course Instance üzrə yalnız 1 ACTIVE enrollment.</a:t>
            </a:r>
            <a:endParaRPr b="0" i="0" sz="1020" u="none" cap="none" strike="noStrike">
              <a:solidFill>
                <a:schemeClr val="dk1"/>
              </a:solidFill>
              <a:latin typeface="Calibri"/>
              <a:ea typeface="Calibri"/>
              <a:cs typeface="Calibri"/>
              <a:sym typeface="Calibri"/>
            </a:endParaRPr>
          </a:p>
        </p:txBody>
      </p:sp>
      <p:sp>
        <p:nvSpPr>
          <p:cNvPr id="288" name="Google Shape;288;p8"/>
          <p:cNvSpPr/>
          <p:nvPr/>
        </p:nvSpPr>
        <p:spPr>
          <a:xfrm>
            <a:off x="822960" y="3566160"/>
            <a:ext cx="969264" cy="210312"/>
          </a:xfrm>
          <a:prstGeom prst="roundRect">
            <a:avLst>
              <a:gd fmla="val 21739"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8"/>
          <p:cNvSpPr/>
          <p:nvPr/>
        </p:nvSpPr>
        <p:spPr>
          <a:xfrm>
            <a:off x="822960" y="3566160"/>
            <a:ext cx="96926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960" u="none" cap="none" strike="noStrike">
                <a:solidFill>
                  <a:srgbClr val="1E4FD0"/>
                </a:solidFill>
                <a:latin typeface="Calibri"/>
                <a:ea typeface="Calibri"/>
                <a:cs typeface="Calibri"/>
                <a:sym typeface="Calibri"/>
              </a:rPr>
              <a:t>BR-009</a:t>
            </a:r>
            <a:endParaRPr b="0" i="0" sz="960" u="none" cap="none" strike="noStrike">
              <a:solidFill>
                <a:schemeClr val="dk1"/>
              </a:solidFill>
              <a:latin typeface="Calibri"/>
              <a:ea typeface="Calibri"/>
              <a:cs typeface="Calibri"/>
              <a:sym typeface="Calibri"/>
            </a:endParaRPr>
          </a:p>
        </p:txBody>
      </p:sp>
      <p:sp>
        <p:nvSpPr>
          <p:cNvPr id="290" name="Google Shape;290;p8"/>
          <p:cNvSpPr/>
          <p:nvPr/>
        </p:nvSpPr>
        <p:spPr>
          <a:xfrm>
            <a:off x="822960" y="3822192"/>
            <a:ext cx="3072384" cy="29260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20"/>
              <a:buFont typeface="Calibri"/>
              <a:buNone/>
            </a:pPr>
            <a:r>
              <a:rPr b="0" i="0" lang="en-US" sz="1020" u="none" cap="none" strike="noStrike">
                <a:solidFill>
                  <a:srgbClr val="6E7480"/>
                </a:solidFill>
                <a:latin typeface="Calibri"/>
                <a:ea typeface="Calibri"/>
                <a:cs typeface="Calibri"/>
                <a:sym typeface="Calibri"/>
              </a:rPr>
              <a:t>Prerequisite tələb olunursa, əvvəlki kurs PASSED olmalıdır.</a:t>
            </a:r>
            <a:endParaRPr b="0" i="0" sz="1020" u="none" cap="none" strike="noStrike">
              <a:solidFill>
                <a:schemeClr val="dk1"/>
              </a:solidFill>
              <a:latin typeface="Calibri"/>
              <a:ea typeface="Calibri"/>
              <a:cs typeface="Calibri"/>
              <a:sym typeface="Calibri"/>
            </a:endParaRPr>
          </a:p>
        </p:txBody>
      </p:sp>
      <p:sp>
        <p:nvSpPr>
          <p:cNvPr id="291" name="Google Shape;291;p8"/>
          <p:cNvSpPr/>
          <p:nvPr/>
        </p:nvSpPr>
        <p:spPr>
          <a:xfrm>
            <a:off x="822960" y="4123944"/>
            <a:ext cx="969264" cy="210312"/>
          </a:xfrm>
          <a:prstGeom prst="roundRect">
            <a:avLst>
              <a:gd fmla="val 21739"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8"/>
          <p:cNvSpPr/>
          <p:nvPr/>
        </p:nvSpPr>
        <p:spPr>
          <a:xfrm>
            <a:off x="822960" y="4123944"/>
            <a:ext cx="96926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960" u="none" cap="none" strike="noStrike">
                <a:solidFill>
                  <a:srgbClr val="1E4FD0"/>
                </a:solidFill>
                <a:latin typeface="Calibri"/>
                <a:ea typeface="Calibri"/>
                <a:cs typeface="Calibri"/>
                <a:sym typeface="Calibri"/>
              </a:rPr>
              <a:t>BR-016 / 017</a:t>
            </a:r>
            <a:endParaRPr b="0" i="0" sz="960" u="none" cap="none" strike="noStrike">
              <a:solidFill>
                <a:schemeClr val="dk1"/>
              </a:solidFill>
              <a:latin typeface="Calibri"/>
              <a:ea typeface="Calibri"/>
              <a:cs typeface="Calibri"/>
              <a:sym typeface="Calibri"/>
            </a:endParaRPr>
          </a:p>
        </p:txBody>
      </p:sp>
      <p:sp>
        <p:nvSpPr>
          <p:cNvPr id="293" name="Google Shape;293;p8"/>
          <p:cNvSpPr/>
          <p:nvPr/>
        </p:nvSpPr>
        <p:spPr>
          <a:xfrm>
            <a:off x="822960" y="4379976"/>
            <a:ext cx="3072384" cy="29260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20"/>
              <a:buFont typeface="Calibri"/>
              <a:buNone/>
            </a:pPr>
            <a:r>
              <a:rPr b="0" i="0" lang="en-US" sz="1020" u="none" cap="none" strike="noStrike">
                <a:solidFill>
                  <a:srgbClr val="6E7480"/>
                </a:solidFill>
                <a:latin typeface="Calibri"/>
                <a:ea typeface="Calibri"/>
                <a:cs typeface="Calibri"/>
                <a:sym typeface="Calibri"/>
              </a:rPr>
              <a:t>PASSED / FAILED course pass_score əsasında avtomatik təyin olunur.</a:t>
            </a:r>
            <a:endParaRPr b="0" i="0" sz="1020" u="none" cap="none" strike="noStrike">
              <a:solidFill>
                <a:schemeClr val="dk1"/>
              </a:solidFill>
              <a:latin typeface="Calibri"/>
              <a:ea typeface="Calibri"/>
              <a:cs typeface="Calibri"/>
              <a:sym typeface="Calibri"/>
            </a:endParaRPr>
          </a:p>
        </p:txBody>
      </p:sp>
      <p:sp>
        <p:nvSpPr>
          <p:cNvPr id="294" name="Google Shape;294;p8"/>
          <p:cNvSpPr/>
          <p:nvPr/>
        </p:nvSpPr>
        <p:spPr>
          <a:xfrm>
            <a:off x="822960" y="4681728"/>
            <a:ext cx="969264" cy="210312"/>
          </a:xfrm>
          <a:prstGeom prst="roundRect">
            <a:avLst>
              <a:gd fmla="val 21739"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8"/>
          <p:cNvSpPr/>
          <p:nvPr/>
        </p:nvSpPr>
        <p:spPr>
          <a:xfrm>
            <a:off x="822960" y="4681728"/>
            <a:ext cx="96926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960" u="none" cap="none" strike="noStrike">
                <a:solidFill>
                  <a:srgbClr val="1E4FD0"/>
                </a:solidFill>
                <a:latin typeface="Calibri"/>
                <a:ea typeface="Calibri"/>
                <a:cs typeface="Calibri"/>
                <a:sym typeface="Calibri"/>
              </a:rPr>
              <a:t>BR-023</a:t>
            </a:r>
            <a:endParaRPr b="0" i="0" sz="960" u="none" cap="none" strike="noStrike">
              <a:solidFill>
                <a:schemeClr val="dk1"/>
              </a:solidFill>
              <a:latin typeface="Calibri"/>
              <a:ea typeface="Calibri"/>
              <a:cs typeface="Calibri"/>
              <a:sym typeface="Calibri"/>
            </a:endParaRPr>
          </a:p>
        </p:txBody>
      </p:sp>
      <p:sp>
        <p:nvSpPr>
          <p:cNvPr id="296" name="Google Shape;296;p8"/>
          <p:cNvSpPr/>
          <p:nvPr/>
        </p:nvSpPr>
        <p:spPr>
          <a:xfrm>
            <a:off x="822960" y="4937760"/>
            <a:ext cx="3072384" cy="29260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20"/>
              <a:buFont typeface="Calibri"/>
              <a:buNone/>
            </a:pPr>
            <a:r>
              <a:rPr b="0" i="0" lang="en-US" sz="1020" u="none" cap="none" strike="noStrike">
                <a:solidFill>
                  <a:srgbClr val="6E7480"/>
                </a:solidFill>
                <a:latin typeface="Calibri"/>
                <a:ea typeface="Calibri"/>
                <a:cs typeface="Calibri"/>
                <a:sym typeface="Calibri"/>
              </a:rPr>
              <a:t>Hər Certificate üçün unikal verification code yaradılır.</a:t>
            </a:r>
            <a:endParaRPr b="0" i="0" sz="1020" u="none" cap="none" strike="noStrike">
              <a:solidFill>
                <a:schemeClr val="dk1"/>
              </a:solidFill>
              <a:latin typeface="Calibri"/>
              <a:ea typeface="Calibri"/>
              <a:cs typeface="Calibri"/>
              <a:sym typeface="Calibri"/>
            </a:endParaRPr>
          </a:p>
        </p:txBody>
      </p:sp>
      <p:sp>
        <p:nvSpPr>
          <p:cNvPr id="297" name="Google Shape;297;p8"/>
          <p:cNvSpPr/>
          <p:nvPr/>
        </p:nvSpPr>
        <p:spPr>
          <a:xfrm>
            <a:off x="822960" y="5239512"/>
            <a:ext cx="969264" cy="210312"/>
          </a:xfrm>
          <a:prstGeom prst="roundRect">
            <a:avLst>
              <a:gd fmla="val 21739"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8"/>
          <p:cNvSpPr/>
          <p:nvPr/>
        </p:nvSpPr>
        <p:spPr>
          <a:xfrm>
            <a:off x="822960" y="5239512"/>
            <a:ext cx="96926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960" u="none" cap="none" strike="noStrike">
                <a:solidFill>
                  <a:srgbClr val="1E4FD0"/>
                </a:solidFill>
                <a:latin typeface="Calibri"/>
                <a:ea typeface="Calibri"/>
                <a:cs typeface="Calibri"/>
                <a:sym typeface="Calibri"/>
              </a:rPr>
              <a:t>BR-026</a:t>
            </a:r>
            <a:endParaRPr b="0" i="0" sz="960" u="none" cap="none" strike="noStrike">
              <a:solidFill>
                <a:schemeClr val="dk1"/>
              </a:solidFill>
              <a:latin typeface="Calibri"/>
              <a:ea typeface="Calibri"/>
              <a:cs typeface="Calibri"/>
              <a:sym typeface="Calibri"/>
            </a:endParaRPr>
          </a:p>
        </p:txBody>
      </p:sp>
      <p:sp>
        <p:nvSpPr>
          <p:cNvPr id="299" name="Google Shape;299;p8"/>
          <p:cNvSpPr/>
          <p:nvPr/>
        </p:nvSpPr>
        <p:spPr>
          <a:xfrm>
            <a:off x="822960" y="5495544"/>
            <a:ext cx="3072384" cy="29260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20"/>
              <a:buFont typeface="Calibri"/>
              <a:buNone/>
            </a:pPr>
            <a:r>
              <a:rPr b="0" i="0" lang="en-US" sz="1020" u="none" cap="none" strike="noStrike">
                <a:solidFill>
                  <a:srgbClr val="6E7480"/>
                </a:solidFill>
                <a:latin typeface="Calibri"/>
                <a:ea typeface="Calibri"/>
                <a:cs typeface="Calibri"/>
                <a:sym typeface="Calibri"/>
              </a:rPr>
              <a:t>Teacher yalnız təyin olunmuş session üzrə daxil edə bilər.</a:t>
            </a:r>
            <a:endParaRPr b="0" i="0" sz="1020" u="none" cap="none" strike="noStrike">
              <a:solidFill>
                <a:schemeClr val="dk1"/>
              </a:solidFill>
              <a:latin typeface="Calibri"/>
              <a:ea typeface="Calibri"/>
              <a:cs typeface="Calibri"/>
              <a:sym typeface="Calibri"/>
            </a:endParaRPr>
          </a:p>
        </p:txBody>
      </p:sp>
      <p:sp>
        <p:nvSpPr>
          <p:cNvPr id="300" name="Google Shape;300;p8"/>
          <p:cNvSpPr/>
          <p:nvPr/>
        </p:nvSpPr>
        <p:spPr>
          <a:xfrm>
            <a:off x="4361688"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8"/>
          <p:cNvSpPr/>
          <p:nvPr/>
        </p:nvSpPr>
        <p:spPr>
          <a:xfrm>
            <a:off x="4544568"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550" u="none" cap="none" strike="noStrike">
                <a:solidFill>
                  <a:srgbClr val="232A46"/>
                </a:solidFill>
                <a:latin typeface="Arial"/>
                <a:ea typeface="Arial"/>
                <a:cs typeface="Arial"/>
                <a:sym typeface="Arial"/>
              </a:rPr>
              <a:t>Validation Logic</a:t>
            </a:r>
            <a:endParaRPr b="0" i="0" sz="1550" u="none" cap="none" strike="noStrike">
              <a:solidFill>
                <a:schemeClr val="dk1"/>
              </a:solidFill>
              <a:latin typeface="Calibri"/>
              <a:ea typeface="Calibri"/>
              <a:cs typeface="Calibri"/>
              <a:sym typeface="Calibri"/>
            </a:endParaRPr>
          </a:p>
        </p:txBody>
      </p:sp>
      <p:sp>
        <p:nvSpPr>
          <p:cNvPr id="302" name="Google Shape;302;p8"/>
          <p:cNvSpPr/>
          <p:nvPr/>
        </p:nvSpPr>
        <p:spPr>
          <a:xfrm>
            <a:off x="4544568" y="1929384"/>
            <a:ext cx="32004" cy="420624"/>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8"/>
          <p:cNvSpPr/>
          <p:nvPr/>
        </p:nvSpPr>
        <p:spPr>
          <a:xfrm>
            <a:off x="4681728" y="1892808"/>
            <a:ext cx="30906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Course</a:t>
            </a:r>
            <a:endParaRPr b="0" i="0" sz="1140" u="none" cap="none" strike="noStrike">
              <a:solidFill>
                <a:schemeClr val="dk1"/>
              </a:solidFill>
              <a:latin typeface="Calibri"/>
              <a:ea typeface="Calibri"/>
              <a:cs typeface="Calibri"/>
              <a:sym typeface="Calibri"/>
            </a:endParaRPr>
          </a:p>
        </p:txBody>
      </p:sp>
      <p:sp>
        <p:nvSpPr>
          <p:cNvPr id="304" name="Google Shape;304;p8"/>
          <p:cNvSpPr/>
          <p:nvPr/>
        </p:nvSpPr>
        <p:spPr>
          <a:xfrm>
            <a:off x="4681728" y="2112264"/>
            <a:ext cx="3072384"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80"/>
              <a:buFont typeface="Calibri"/>
              <a:buNone/>
            </a:pPr>
            <a:r>
              <a:rPr b="0" i="0" lang="en-US" sz="980" u="none" cap="none" strike="noStrike">
                <a:solidFill>
                  <a:srgbClr val="6E7480"/>
                </a:solidFill>
                <a:latin typeface="Calibri"/>
                <a:ea typeface="Calibri"/>
                <a:cs typeface="Calibri"/>
                <a:sym typeface="Calibri"/>
              </a:rPr>
              <a:t>UUID formatı, VARCHAR uzunluğu, status enum </a:t>
            </a:r>
            <a:endParaRPr b="0" i="0" sz="980" u="none" cap="none" strike="noStrike">
              <a:solidFill>
                <a:schemeClr val="dk1"/>
              </a:solidFill>
              <a:latin typeface="Calibri"/>
              <a:ea typeface="Calibri"/>
              <a:cs typeface="Calibri"/>
              <a:sym typeface="Calibri"/>
            </a:endParaRPr>
          </a:p>
        </p:txBody>
      </p:sp>
      <p:sp>
        <p:nvSpPr>
          <p:cNvPr id="305" name="Google Shape;305;p8"/>
          <p:cNvSpPr/>
          <p:nvPr/>
        </p:nvSpPr>
        <p:spPr>
          <a:xfrm>
            <a:off x="4544568" y="2487168"/>
            <a:ext cx="32004" cy="420624"/>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8"/>
          <p:cNvSpPr/>
          <p:nvPr/>
        </p:nvSpPr>
        <p:spPr>
          <a:xfrm>
            <a:off x="4681728" y="2450592"/>
            <a:ext cx="30906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Session</a:t>
            </a:r>
            <a:endParaRPr b="0" i="0" sz="1140" u="none" cap="none" strike="noStrike">
              <a:solidFill>
                <a:schemeClr val="dk1"/>
              </a:solidFill>
              <a:latin typeface="Calibri"/>
              <a:ea typeface="Calibri"/>
              <a:cs typeface="Calibri"/>
              <a:sym typeface="Calibri"/>
            </a:endParaRPr>
          </a:p>
        </p:txBody>
      </p:sp>
      <p:sp>
        <p:nvSpPr>
          <p:cNvPr id="307" name="Google Shape;307;p8"/>
          <p:cNvSpPr/>
          <p:nvPr/>
        </p:nvSpPr>
        <p:spPr>
          <a:xfrm>
            <a:off x="4681728" y="2670048"/>
            <a:ext cx="3072384"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80"/>
              <a:buFont typeface="Calibri"/>
              <a:buNone/>
            </a:pPr>
            <a:r>
              <a:rPr b="0" i="0" lang="en-US" sz="980" u="none" cap="none" strike="noStrike">
                <a:solidFill>
                  <a:srgbClr val="6E7480"/>
                </a:solidFill>
                <a:latin typeface="Calibri"/>
                <a:ea typeface="Calibri"/>
                <a:cs typeface="Calibri"/>
                <a:sym typeface="Calibri"/>
              </a:rPr>
              <a:t>start_date / end_date məcburiliyi, capacity &gt; 0, ACTIVE teacher təyinatı</a:t>
            </a:r>
            <a:endParaRPr b="0" i="0" sz="980" u="none" cap="none" strike="noStrike">
              <a:solidFill>
                <a:schemeClr val="dk1"/>
              </a:solidFill>
              <a:latin typeface="Calibri"/>
              <a:ea typeface="Calibri"/>
              <a:cs typeface="Calibri"/>
              <a:sym typeface="Calibri"/>
            </a:endParaRPr>
          </a:p>
        </p:txBody>
      </p:sp>
      <p:sp>
        <p:nvSpPr>
          <p:cNvPr id="308" name="Google Shape;308;p8"/>
          <p:cNvSpPr/>
          <p:nvPr/>
        </p:nvSpPr>
        <p:spPr>
          <a:xfrm>
            <a:off x="4544568" y="3044952"/>
            <a:ext cx="32004" cy="420624"/>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8"/>
          <p:cNvSpPr/>
          <p:nvPr/>
        </p:nvSpPr>
        <p:spPr>
          <a:xfrm>
            <a:off x="4681728" y="3008376"/>
            <a:ext cx="30906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User</a:t>
            </a:r>
            <a:endParaRPr b="0" i="0" sz="1140" u="none" cap="none" strike="noStrike">
              <a:solidFill>
                <a:schemeClr val="dk1"/>
              </a:solidFill>
              <a:latin typeface="Calibri"/>
              <a:ea typeface="Calibri"/>
              <a:cs typeface="Calibri"/>
              <a:sym typeface="Calibri"/>
            </a:endParaRPr>
          </a:p>
        </p:txBody>
      </p:sp>
      <p:sp>
        <p:nvSpPr>
          <p:cNvPr id="310" name="Google Shape;310;p8"/>
          <p:cNvSpPr/>
          <p:nvPr/>
        </p:nvSpPr>
        <p:spPr>
          <a:xfrm>
            <a:off x="4681728" y="3227832"/>
            <a:ext cx="3072384"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80"/>
              <a:buFont typeface="Calibri"/>
              <a:buNone/>
            </a:pPr>
            <a:r>
              <a:rPr b="0" i="0" lang="en-US" sz="980" u="none" cap="none" strike="noStrike">
                <a:solidFill>
                  <a:srgbClr val="6E7480"/>
                </a:solidFill>
                <a:latin typeface="Calibri"/>
                <a:ea typeface="Calibri"/>
                <a:cs typeface="Calibri"/>
                <a:sym typeface="Calibri"/>
              </a:rPr>
              <a:t>Unikal email, role və status enum, parol hash-i</a:t>
            </a:r>
            <a:endParaRPr b="0" i="0" sz="980" u="none" cap="none" strike="noStrike">
              <a:solidFill>
                <a:schemeClr val="dk1"/>
              </a:solidFill>
              <a:latin typeface="Calibri"/>
              <a:ea typeface="Calibri"/>
              <a:cs typeface="Calibri"/>
              <a:sym typeface="Calibri"/>
            </a:endParaRPr>
          </a:p>
        </p:txBody>
      </p:sp>
      <p:sp>
        <p:nvSpPr>
          <p:cNvPr id="311" name="Google Shape;311;p8"/>
          <p:cNvSpPr/>
          <p:nvPr/>
        </p:nvSpPr>
        <p:spPr>
          <a:xfrm>
            <a:off x="4544568" y="3602736"/>
            <a:ext cx="32004" cy="420624"/>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8"/>
          <p:cNvSpPr/>
          <p:nvPr/>
        </p:nvSpPr>
        <p:spPr>
          <a:xfrm>
            <a:off x="4681728" y="3566160"/>
            <a:ext cx="30906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Enrollment</a:t>
            </a:r>
            <a:endParaRPr b="0" i="0" sz="1140" u="none" cap="none" strike="noStrike">
              <a:solidFill>
                <a:schemeClr val="dk1"/>
              </a:solidFill>
              <a:latin typeface="Calibri"/>
              <a:ea typeface="Calibri"/>
              <a:cs typeface="Calibri"/>
              <a:sym typeface="Calibri"/>
            </a:endParaRPr>
          </a:p>
        </p:txBody>
      </p:sp>
      <p:sp>
        <p:nvSpPr>
          <p:cNvPr id="313" name="Google Shape;313;p8"/>
          <p:cNvSpPr/>
          <p:nvPr/>
        </p:nvSpPr>
        <p:spPr>
          <a:xfrm>
            <a:off x="4681728" y="3785616"/>
            <a:ext cx="3072384"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80"/>
              <a:buFont typeface="Calibri"/>
              <a:buNone/>
            </a:pPr>
            <a:r>
              <a:rPr b="0" i="0" lang="en-US" sz="980" u="none" cap="none" strike="noStrike">
                <a:solidFill>
                  <a:srgbClr val="6E7480"/>
                </a:solidFill>
                <a:latin typeface="Calibri"/>
                <a:ea typeface="Calibri"/>
                <a:cs typeface="Calibri"/>
                <a:sym typeface="Calibri"/>
              </a:rPr>
              <a:t>Mövcud Student / Course Instance, OPEN status, capacity, duplicate, prerequisite</a:t>
            </a:r>
            <a:endParaRPr b="0" i="0" sz="980" u="none" cap="none" strike="noStrike">
              <a:solidFill>
                <a:schemeClr val="dk1"/>
              </a:solidFill>
              <a:latin typeface="Calibri"/>
              <a:ea typeface="Calibri"/>
              <a:cs typeface="Calibri"/>
              <a:sym typeface="Calibri"/>
            </a:endParaRPr>
          </a:p>
        </p:txBody>
      </p:sp>
      <p:sp>
        <p:nvSpPr>
          <p:cNvPr id="314" name="Google Shape;314;p8"/>
          <p:cNvSpPr/>
          <p:nvPr/>
        </p:nvSpPr>
        <p:spPr>
          <a:xfrm>
            <a:off x="4544568" y="4160520"/>
            <a:ext cx="32004" cy="420624"/>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8"/>
          <p:cNvSpPr/>
          <p:nvPr/>
        </p:nvSpPr>
        <p:spPr>
          <a:xfrm>
            <a:off x="4681728" y="4123944"/>
            <a:ext cx="30906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Attendance</a:t>
            </a:r>
            <a:endParaRPr b="0" i="0" sz="1140" u="none" cap="none" strike="noStrike">
              <a:solidFill>
                <a:schemeClr val="dk1"/>
              </a:solidFill>
              <a:latin typeface="Calibri"/>
              <a:ea typeface="Calibri"/>
              <a:cs typeface="Calibri"/>
              <a:sym typeface="Calibri"/>
            </a:endParaRPr>
          </a:p>
        </p:txBody>
      </p:sp>
      <p:sp>
        <p:nvSpPr>
          <p:cNvPr id="316" name="Google Shape;316;p8"/>
          <p:cNvSpPr/>
          <p:nvPr/>
        </p:nvSpPr>
        <p:spPr>
          <a:xfrm>
            <a:off x="4681728" y="4343400"/>
            <a:ext cx="3072384"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80"/>
              <a:buFont typeface="Calibri"/>
              <a:buNone/>
            </a:pPr>
            <a:r>
              <a:rPr b="0" i="0" lang="en-US" sz="980" u="none" cap="none" strike="noStrike">
                <a:solidFill>
                  <a:srgbClr val="6E7480"/>
                </a:solidFill>
                <a:latin typeface="Calibri"/>
                <a:ea typeface="Calibri"/>
                <a:cs typeface="Calibri"/>
                <a:sym typeface="Calibri"/>
              </a:rPr>
              <a:t>Bir session_date üçün bir record, PRESENT / ABSENT / EXCUSED enum</a:t>
            </a:r>
            <a:endParaRPr b="0" i="0" sz="980" u="none" cap="none" strike="noStrike">
              <a:solidFill>
                <a:schemeClr val="dk1"/>
              </a:solidFill>
              <a:latin typeface="Calibri"/>
              <a:ea typeface="Calibri"/>
              <a:cs typeface="Calibri"/>
              <a:sym typeface="Calibri"/>
            </a:endParaRPr>
          </a:p>
        </p:txBody>
      </p:sp>
      <p:sp>
        <p:nvSpPr>
          <p:cNvPr id="317" name="Google Shape;317;p8"/>
          <p:cNvSpPr/>
          <p:nvPr/>
        </p:nvSpPr>
        <p:spPr>
          <a:xfrm>
            <a:off x="4544568" y="4718304"/>
            <a:ext cx="32004" cy="420624"/>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8"/>
          <p:cNvSpPr/>
          <p:nvPr/>
        </p:nvSpPr>
        <p:spPr>
          <a:xfrm>
            <a:off x="4681728" y="4681728"/>
            <a:ext cx="30906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Assessment</a:t>
            </a:r>
            <a:endParaRPr b="0" i="0" sz="1140" u="none" cap="none" strike="noStrike">
              <a:solidFill>
                <a:schemeClr val="dk1"/>
              </a:solidFill>
              <a:latin typeface="Calibri"/>
              <a:ea typeface="Calibri"/>
              <a:cs typeface="Calibri"/>
              <a:sym typeface="Calibri"/>
            </a:endParaRPr>
          </a:p>
        </p:txBody>
      </p:sp>
      <p:sp>
        <p:nvSpPr>
          <p:cNvPr id="319" name="Google Shape;319;p8"/>
          <p:cNvSpPr/>
          <p:nvPr/>
        </p:nvSpPr>
        <p:spPr>
          <a:xfrm>
            <a:off x="4681728" y="4901184"/>
            <a:ext cx="3072384"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80"/>
              <a:buFont typeface="Calibri"/>
              <a:buNone/>
            </a:pPr>
            <a:r>
              <a:rPr b="0" i="0" lang="en-US" sz="980" u="none" cap="none" strike="noStrike">
                <a:solidFill>
                  <a:srgbClr val="6E7480"/>
                </a:solidFill>
                <a:latin typeface="Calibri"/>
                <a:ea typeface="Calibri"/>
                <a:cs typeface="Calibri"/>
                <a:sym typeface="Calibri"/>
              </a:rPr>
              <a:t>score aralığı, enrollment üzrə tək nəticə, pass_score müqayisəsi</a:t>
            </a:r>
            <a:endParaRPr b="0" i="0" sz="980" u="none" cap="none" strike="noStrike">
              <a:solidFill>
                <a:schemeClr val="dk1"/>
              </a:solidFill>
              <a:latin typeface="Calibri"/>
              <a:ea typeface="Calibri"/>
              <a:cs typeface="Calibri"/>
              <a:sym typeface="Calibri"/>
            </a:endParaRPr>
          </a:p>
        </p:txBody>
      </p:sp>
      <p:sp>
        <p:nvSpPr>
          <p:cNvPr id="320" name="Google Shape;320;p8"/>
          <p:cNvSpPr/>
          <p:nvPr/>
        </p:nvSpPr>
        <p:spPr>
          <a:xfrm>
            <a:off x="4544568" y="5276088"/>
            <a:ext cx="32004" cy="420624"/>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8"/>
          <p:cNvSpPr/>
          <p:nvPr/>
        </p:nvSpPr>
        <p:spPr>
          <a:xfrm>
            <a:off x="4681728" y="5239512"/>
            <a:ext cx="30906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Certificate</a:t>
            </a:r>
            <a:endParaRPr b="0" i="0" sz="1140" u="none" cap="none" strike="noStrike">
              <a:solidFill>
                <a:schemeClr val="dk1"/>
              </a:solidFill>
              <a:latin typeface="Calibri"/>
              <a:ea typeface="Calibri"/>
              <a:cs typeface="Calibri"/>
              <a:sym typeface="Calibri"/>
            </a:endParaRPr>
          </a:p>
        </p:txBody>
      </p:sp>
      <p:sp>
        <p:nvSpPr>
          <p:cNvPr id="322" name="Google Shape;322;p8"/>
          <p:cNvSpPr/>
          <p:nvPr/>
        </p:nvSpPr>
        <p:spPr>
          <a:xfrm>
            <a:off x="4681728" y="5458968"/>
            <a:ext cx="3072384"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80"/>
              <a:buFont typeface="Calibri"/>
              <a:buNone/>
            </a:pPr>
            <a:r>
              <a:rPr b="0" i="0" lang="en-US" sz="980" u="none" cap="none" strike="noStrike">
                <a:solidFill>
                  <a:srgbClr val="6E7480"/>
                </a:solidFill>
                <a:latin typeface="Calibri"/>
                <a:ea typeface="Calibri"/>
                <a:cs typeface="Calibri"/>
                <a:sym typeface="Calibri"/>
              </a:rPr>
              <a:t>ELIGIBLE şərtləri, unikal verification_code, status enum</a:t>
            </a:r>
            <a:endParaRPr b="0" i="0" sz="980" u="none" cap="none" strike="noStrike">
              <a:solidFill>
                <a:schemeClr val="dk1"/>
              </a:solidFill>
              <a:latin typeface="Calibri"/>
              <a:ea typeface="Calibri"/>
              <a:cs typeface="Calibri"/>
              <a:sym typeface="Calibri"/>
            </a:endParaRPr>
          </a:p>
        </p:txBody>
      </p:sp>
      <p:sp>
        <p:nvSpPr>
          <p:cNvPr id="323" name="Google Shape;323;p8"/>
          <p:cNvSpPr/>
          <p:nvPr/>
        </p:nvSpPr>
        <p:spPr>
          <a:xfrm>
            <a:off x="8083296"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8"/>
          <p:cNvSpPr/>
          <p:nvPr/>
        </p:nvSpPr>
        <p:spPr>
          <a:xfrm>
            <a:off x="8266176"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550" u="none" cap="none" strike="noStrike">
                <a:solidFill>
                  <a:srgbClr val="232A46"/>
                </a:solidFill>
                <a:latin typeface="Arial"/>
                <a:ea typeface="Arial"/>
                <a:cs typeface="Arial"/>
                <a:sym typeface="Arial"/>
              </a:rPr>
              <a:t>Edge Cases / Exceptions</a:t>
            </a:r>
            <a:endParaRPr b="0" i="0" sz="1550" u="none" cap="none" strike="noStrike">
              <a:solidFill>
                <a:schemeClr val="dk1"/>
              </a:solidFill>
              <a:latin typeface="Calibri"/>
              <a:ea typeface="Calibri"/>
              <a:cs typeface="Calibri"/>
              <a:sym typeface="Calibri"/>
            </a:endParaRPr>
          </a:p>
        </p:txBody>
      </p:sp>
      <p:sp>
        <p:nvSpPr>
          <p:cNvPr id="325" name="Google Shape;325;p8"/>
          <p:cNvSpPr/>
          <p:nvPr/>
        </p:nvSpPr>
        <p:spPr>
          <a:xfrm>
            <a:off x="8266176" y="1892808"/>
            <a:ext cx="640080" cy="210312"/>
          </a:xfrm>
          <a:prstGeom prst="roundRect">
            <a:avLst>
              <a:gd fmla="val 21739" name="adj"/>
            </a:avLst>
          </a:prstGeom>
          <a:solidFill>
            <a:srgbClr val="FDF1EC"/>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8"/>
          <p:cNvSpPr/>
          <p:nvPr/>
        </p:nvSpPr>
        <p:spPr>
          <a:xfrm>
            <a:off x="8266176" y="1892808"/>
            <a:ext cx="64008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85B2E"/>
              </a:buClr>
              <a:buSzPts val="760"/>
              <a:buFont typeface="Calibri"/>
              <a:buNone/>
            </a:pPr>
            <a:r>
              <a:rPr b="1" i="0" lang="en-US" sz="960" u="none" cap="none" strike="noStrike">
                <a:solidFill>
                  <a:srgbClr val="A85B2E"/>
                </a:solidFill>
                <a:latin typeface="Calibri"/>
                <a:ea typeface="Calibri"/>
                <a:cs typeface="Calibri"/>
                <a:sym typeface="Calibri"/>
              </a:rPr>
              <a:t>EC-01</a:t>
            </a:r>
            <a:endParaRPr b="0" i="0" sz="960" u="none" cap="none" strike="noStrike">
              <a:solidFill>
                <a:schemeClr val="dk1"/>
              </a:solidFill>
              <a:latin typeface="Calibri"/>
              <a:ea typeface="Calibri"/>
              <a:cs typeface="Calibri"/>
              <a:sym typeface="Calibri"/>
            </a:endParaRPr>
          </a:p>
        </p:txBody>
      </p:sp>
      <p:sp>
        <p:nvSpPr>
          <p:cNvPr id="327" name="Google Shape;327;p8"/>
          <p:cNvSpPr/>
          <p:nvPr/>
        </p:nvSpPr>
        <p:spPr>
          <a:xfrm>
            <a:off x="8266176" y="2148840"/>
            <a:ext cx="3072384"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00"/>
              <a:buFont typeface="Calibri"/>
              <a:buNone/>
            </a:pPr>
            <a:r>
              <a:rPr b="0" i="0" lang="en-US" sz="1000" u="none" cap="none" strike="noStrike">
                <a:solidFill>
                  <a:srgbClr val="6E7480"/>
                </a:solidFill>
                <a:latin typeface="Calibri"/>
                <a:ea typeface="Calibri"/>
                <a:cs typeface="Calibri"/>
                <a:sym typeface="Calibri"/>
              </a:rPr>
              <a:t>İki Student eyni anda son boş yerə sorğu göndərir → capacity tranzaksiya səviyyəsində tətbiq olunur.</a:t>
            </a:r>
            <a:endParaRPr b="0" i="0" sz="1000" u="none" cap="none" strike="noStrike">
              <a:solidFill>
                <a:schemeClr val="dk1"/>
              </a:solidFill>
              <a:latin typeface="Calibri"/>
              <a:ea typeface="Calibri"/>
              <a:cs typeface="Calibri"/>
              <a:sym typeface="Calibri"/>
            </a:endParaRPr>
          </a:p>
        </p:txBody>
      </p:sp>
      <p:sp>
        <p:nvSpPr>
          <p:cNvPr id="328" name="Google Shape;328;p8"/>
          <p:cNvSpPr/>
          <p:nvPr/>
        </p:nvSpPr>
        <p:spPr>
          <a:xfrm>
            <a:off x="8266176" y="2551176"/>
            <a:ext cx="640080" cy="210312"/>
          </a:xfrm>
          <a:prstGeom prst="roundRect">
            <a:avLst>
              <a:gd fmla="val 21739" name="adj"/>
            </a:avLst>
          </a:prstGeom>
          <a:solidFill>
            <a:srgbClr val="FDF1EC"/>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8"/>
          <p:cNvSpPr/>
          <p:nvPr/>
        </p:nvSpPr>
        <p:spPr>
          <a:xfrm>
            <a:off x="8266176" y="2551176"/>
            <a:ext cx="64008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85B2E"/>
              </a:buClr>
              <a:buSzPts val="760"/>
              <a:buFont typeface="Calibri"/>
              <a:buNone/>
            </a:pPr>
            <a:r>
              <a:rPr b="1" i="0" lang="en-US" sz="960" u="none" cap="none" strike="noStrike">
                <a:solidFill>
                  <a:srgbClr val="A85B2E"/>
                </a:solidFill>
                <a:latin typeface="Calibri"/>
                <a:ea typeface="Calibri"/>
                <a:cs typeface="Calibri"/>
                <a:sym typeface="Calibri"/>
              </a:rPr>
              <a:t>EC-02</a:t>
            </a:r>
            <a:endParaRPr b="0" i="0" sz="960" u="none" cap="none" strike="noStrike">
              <a:solidFill>
                <a:schemeClr val="dk1"/>
              </a:solidFill>
              <a:latin typeface="Calibri"/>
              <a:ea typeface="Calibri"/>
              <a:cs typeface="Calibri"/>
              <a:sym typeface="Calibri"/>
            </a:endParaRPr>
          </a:p>
        </p:txBody>
      </p:sp>
      <p:sp>
        <p:nvSpPr>
          <p:cNvPr id="330" name="Google Shape;330;p8"/>
          <p:cNvSpPr/>
          <p:nvPr/>
        </p:nvSpPr>
        <p:spPr>
          <a:xfrm>
            <a:off x="8266176" y="2807208"/>
            <a:ext cx="3072384"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00"/>
              <a:buFont typeface="Calibri"/>
              <a:buNone/>
            </a:pPr>
            <a:r>
              <a:rPr b="0" i="0" lang="en-US" sz="1000" u="none" cap="none" strike="noStrike">
                <a:solidFill>
                  <a:srgbClr val="6E7480"/>
                </a:solidFill>
                <a:latin typeface="Calibri"/>
                <a:ea typeface="Calibri"/>
                <a:cs typeface="Calibri"/>
                <a:sym typeface="Calibri"/>
              </a:rPr>
              <a:t>İkinci ACTIVE enrollment cəhdi → 409 Conflict.</a:t>
            </a:r>
            <a:endParaRPr b="0" i="0" sz="1000" u="none" cap="none" strike="noStrike">
              <a:solidFill>
                <a:schemeClr val="dk1"/>
              </a:solidFill>
              <a:latin typeface="Calibri"/>
              <a:ea typeface="Calibri"/>
              <a:cs typeface="Calibri"/>
              <a:sym typeface="Calibri"/>
            </a:endParaRPr>
          </a:p>
        </p:txBody>
      </p:sp>
      <p:sp>
        <p:nvSpPr>
          <p:cNvPr id="331" name="Google Shape;331;p8"/>
          <p:cNvSpPr/>
          <p:nvPr/>
        </p:nvSpPr>
        <p:spPr>
          <a:xfrm>
            <a:off x="8266176" y="3209544"/>
            <a:ext cx="640080" cy="210312"/>
          </a:xfrm>
          <a:prstGeom prst="roundRect">
            <a:avLst>
              <a:gd fmla="val 21739" name="adj"/>
            </a:avLst>
          </a:prstGeom>
          <a:solidFill>
            <a:srgbClr val="FDF1EC"/>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8"/>
          <p:cNvSpPr/>
          <p:nvPr/>
        </p:nvSpPr>
        <p:spPr>
          <a:xfrm>
            <a:off x="8266176" y="3209544"/>
            <a:ext cx="64008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85B2E"/>
              </a:buClr>
              <a:buSzPts val="760"/>
              <a:buFont typeface="Calibri"/>
              <a:buNone/>
            </a:pPr>
            <a:r>
              <a:rPr b="1" i="0" lang="en-US" sz="960" u="none" cap="none" strike="noStrike">
                <a:solidFill>
                  <a:srgbClr val="A85B2E"/>
                </a:solidFill>
                <a:latin typeface="Calibri"/>
                <a:ea typeface="Calibri"/>
                <a:cs typeface="Calibri"/>
                <a:sym typeface="Calibri"/>
              </a:rPr>
              <a:t>EC-03</a:t>
            </a:r>
            <a:endParaRPr b="0" i="0" sz="960" u="none" cap="none" strike="noStrike">
              <a:solidFill>
                <a:schemeClr val="dk1"/>
              </a:solidFill>
              <a:latin typeface="Calibri"/>
              <a:ea typeface="Calibri"/>
              <a:cs typeface="Calibri"/>
              <a:sym typeface="Calibri"/>
            </a:endParaRPr>
          </a:p>
        </p:txBody>
      </p:sp>
      <p:sp>
        <p:nvSpPr>
          <p:cNvPr id="333" name="Google Shape;333;p8"/>
          <p:cNvSpPr/>
          <p:nvPr/>
        </p:nvSpPr>
        <p:spPr>
          <a:xfrm>
            <a:off x="8266176" y="3465576"/>
            <a:ext cx="3072384"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00"/>
              <a:buFont typeface="Calibri"/>
              <a:buNone/>
            </a:pPr>
            <a:r>
              <a:rPr b="0" i="0" lang="en-US" sz="1000" u="none" cap="none" strike="noStrike">
                <a:solidFill>
                  <a:srgbClr val="6E7480"/>
                </a:solidFill>
                <a:latin typeface="Calibri"/>
                <a:ea typeface="Calibri"/>
                <a:cs typeface="Calibri"/>
                <a:sym typeface="Calibri"/>
              </a:rPr>
              <a:t>Kataloq açıqkən Course statusu dəyişir → emal zamanı status yenidən yoxlanılır.</a:t>
            </a:r>
            <a:endParaRPr b="0" i="0" sz="1000" u="none" cap="none" strike="noStrike">
              <a:solidFill>
                <a:schemeClr val="dk1"/>
              </a:solidFill>
              <a:latin typeface="Calibri"/>
              <a:ea typeface="Calibri"/>
              <a:cs typeface="Calibri"/>
              <a:sym typeface="Calibri"/>
            </a:endParaRPr>
          </a:p>
        </p:txBody>
      </p:sp>
      <p:sp>
        <p:nvSpPr>
          <p:cNvPr id="334" name="Google Shape;334;p8"/>
          <p:cNvSpPr/>
          <p:nvPr/>
        </p:nvSpPr>
        <p:spPr>
          <a:xfrm>
            <a:off x="8266176" y="3867912"/>
            <a:ext cx="640080" cy="210312"/>
          </a:xfrm>
          <a:prstGeom prst="roundRect">
            <a:avLst>
              <a:gd fmla="val 21739" name="adj"/>
            </a:avLst>
          </a:prstGeom>
          <a:solidFill>
            <a:srgbClr val="FDF1EC"/>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8"/>
          <p:cNvSpPr/>
          <p:nvPr/>
        </p:nvSpPr>
        <p:spPr>
          <a:xfrm>
            <a:off x="8266176" y="3867912"/>
            <a:ext cx="64008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85B2E"/>
              </a:buClr>
              <a:buSzPts val="760"/>
              <a:buFont typeface="Calibri"/>
              <a:buNone/>
            </a:pPr>
            <a:r>
              <a:rPr b="1" i="0" lang="en-US" sz="960" u="none" cap="none" strike="noStrike">
                <a:solidFill>
                  <a:srgbClr val="A85B2E"/>
                </a:solidFill>
                <a:latin typeface="Calibri"/>
                <a:ea typeface="Calibri"/>
                <a:cs typeface="Calibri"/>
                <a:sym typeface="Calibri"/>
              </a:rPr>
              <a:t>EC-06</a:t>
            </a:r>
            <a:endParaRPr b="0" i="0" sz="960" u="none" cap="none" strike="noStrike">
              <a:solidFill>
                <a:schemeClr val="dk1"/>
              </a:solidFill>
              <a:latin typeface="Calibri"/>
              <a:ea typeface="Calibri"/>
              <a:cs typeface="Calibri"/>
              <a:sym typeface="Calibri"/>
            </a:endParaRPr>
          </a:p>
        </p:txBody>
      </p:sp>
      <p:sp>
        <p:nvSpPr>
          <p:cNvPr id="336" name="Google Shape;336;p8"/>
          <p:cNvSpPr/>
          <p:nvPr/>
        </p:nvSpPr>
        <p:spPr>
          <a:xfrm>
            <a:off x="8266176" y="4123944"/>
            <a:ext cx="3072384"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00"/>
              <a:buFont typeface="Calibri"/>
              <a:buNone/>
            </a:pPr>
            <a:r>
              <a:rPr b="0" i="0" lang="en-US" sz="1000" u="none" cap="none" strike="noStrike">
                <a:solidFill>
                  <a:srgbClr val="6E7480"/>
                </a:solidFill>
                <a:latin typeface="Calibri"/>
                <a:ea typeface="Calibri"/>
                <a:cs typeface="Calibri"/>
                <a:sym typeface="Calibri"/>
              </a:rPr>
              <a:t>Teacher özgə session-a attendance daxil edir → 403 Forbidden.</a:t>
            </a:r>
            <a:endParaRPr b="0" i="0" sz="1000" u="none" cap="none" strike="noStrike">
              <a:solidFill>
                <a:schemeClr val="dk1"/>
              </a:solidFill>
              <a:latin typeface="Calibri"/>
              <a:ea typeface="Calibri"/>
              <a:cs typeface="Calibri"/>
              <a:sym typeface="Calibri"/>
            </a:endParaRPr>
          </a:p>
        </p:txBody>
      </p:sp>
      <p:sp>
        <p:nvSpPr>
          <p:cNvPr id="337" name="Google Shape;337;p8"/>
          <p:cNvSpPr/>
          <p:nvPr/>
        </p:nvSpPr>
        <p:spPr>
          <a:xfrm>
            <a:off x="8266176" y="4526280"/>
            <a:ext cx="640080" cy="210312"/>
          </a:xfrm>
          <a:prstGeom prst="roundRect">
            <a:avLst>
              <a:gd fmla="val 21739" name="adj"/>
            </a:avLst>
          </a:prstGeom>
          <a:solidFill>
            <a:srgbClr val="FDF1EC"/>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8"/>
          <p:cNvSpPr/>
          <p:nvPr/>
        </p:nvSpPr>
        <p:spPr>
          <a:xfrm>
            <a:off x="8266176" y="4526280"/>
            <a:ext cx="64008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85B2E"/>
              </a:buClr>
              <a:buSzPts val="760"/>
              <a:buFont typeface="Calibri"/>
              <a:buNone/>
            </a:pPr>
            <a:r>
              <a:rPr b="1" i="0" lang="en-US" sz="960" u="none" cap="none" strike="noStrike">
                <a:solidFill>
                  <a:srgbClr val="A85B2E"/>
                </a:solidFill>
                <a:latin typeface="Calibri"/>
                <a:ea typeface="Calibri"/>
                <a:cs typeface="Calibri"/>
                <a:sym typeface="Calibri"/>
              </a:rPr>
              <a:t>EC-07</a:t>
            </a:r>
            <a:endParaRPr b="0" i="0" sz="960" u="none" cap="none" strike="noStrike">
              <a:solidFill>
                <a:schemeClr val="dk1"/>
              </a:solidFill>
              <a:latin typeface="Calibri"/>
              <a:ea typeface="Calibri"/>
              <a:cs typeface="Calibri"/>
              <a:sym typeface="Calibri"/>
            </a:endParaRPr>
          </a:p>
        </p:txBody>
      </p:sp>
      <p:sp>
        <p:nvSpPr>
          <p:cNvPr id="339" name="Google Shape;339;p8"/>
          <p:cNvSpPr/>
          <p:nvPr/>
        </p:nvSpPr>
        <p:spPr>
          <a:xfrm>
            <a:off x="8266176" y="4782312"/>
            <a:ext cx="3072384"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00"/>
              <a:buFont typeface="Calibri"/>
              <a:buNone/>
            </a:pPr>
            <a:r>
              <a:rPr b="0" i="0" lang="en-US" sz="1000" u="none" cap="none" strike="noStrike">
                <a:solidFill>
                  <a:srgbClr val="6E7480"/>
                </a:solidFill>
                <a:latin typeface="Calibri"/>
                <a:ea typeface="Calibri"/>
                <a:cs typeface="Calibri"/>
                <a:sym typeface="Calibri"/>
              </a:rPr>
              <a:t>Eyni session_date üçün ikinci attendance → duplicate saxlanılmır.</a:t>
            </a:r>
            <a:endParaRPr b="0" i="0" sz="1000" u="none" cap="none" strike="noStrike">
              <a:solidFill>
                <a:schemeClr val="dk1"/>
              </a:solidFill>
              <a:latin typeface="Calibri"/>
              <a:ea typeface="Calibri"/>
              <a:cs typeface="Calibri"/>
              <a:sym typeface="Calibri"/>
            </a:endParaRPr>
          </a:p>
        </p:txBody>
      </p:sp>
      <p:sp>
        <p:nvSpPr>
          <p:cNvPr id="340" name="Google Shape;340;p8"/>
          <p:cNvSpPr/>
          <p:nvPr/>
        </p:nvSpPr>
        <p:spPr>
          <a:xfrm>
            <a:off x="8266176" y="5184648"/>
            <a:ext cx="640080" cy="210312"/>
          </a:xfrm>
          <a:prstGeom prst="roundRect">
            <a:avLst>
              <a:gd fmla="val 21739" name="adj"/>
            </a:avLst>
          </a:prstGeom>
          <a:solidFill>
            <a:srgbClr val="FDF1EC"/>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8"/>
          <p:cNvSpPr/>
          <p:nvPr/>
        </p:nvSpPr>
        <p:spPr>
          <a:xfrm>
            <a:off x="8266176" y="5184648"/>
            <a:ext cx="64008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85B2E"/>
              </a:buClr>
              <a:buSzPts val="760"/>
              <a:buFont typeface="Calibri"/>
              <a:buNone/>
            </a:pPr>
            <a:r>
              <a:rPr b="1" i="0" lang="en-US" sz="960" u="none" cap="none" strike="noStrike">
                <a:solidFill>
                  <a:srgbClr val="A85B2E"/>
                </a:solidFill>
                <a:latin typeface="Calibri"/>
                <a:ea typeface="Calibri"/>
                <a:cs typeface="Calibri"/>
                <a:sym typeface="Calibri"/>
              </a:rPr>
              <a:t>EC-08</a:t>
            </a:r>
            <a:endParaRPr b="0" i="0" sz="960" u="none" cap="none" strike="noStrike">
              <a:solidFill>
                <a:schemeClr val="dk1"/>
              </a:solidFill>
              <a:latin typeface="Calibri"/>
              <a:ea typeface="Calibri"/>
              <a:cs typeface="Calibri"/>
              <a:sym typeface="Calibri"/>
            </a:endParaRPr>
          </a:p>
        </p:txBody>
      </p:sp>
      <p:sp>
        <p:nvSpPr>
          <p:cNvPr id="342" name="Google Shape;342;p8"/>
          <p:cNvSpPr/>
          <p:nvPr/>
        </p:nvSpPr>
        <p:spPr>
          <a:xfrm>
            <a:off x="8266176" y="5440680"/>
            <a:ext cx="3072384" cy="384048"/>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900"/>
              <a:buFont typeface="Calibri"/>
              <a:buNone/>
            </a:pPr>
            <a:r>
              <a:rPr b="0" i="0" lang="en-US" sz="1000" u="none" cap="none" strike="noStrike">
                <a:solidFill>
                  <a:srgbClr val="6E7480"/>
                </a:solidFill>
                <a:latin typeface="Calibri"/>
                <a:ea typeface="Calibri"/>
                <a:cs typeface="Calibri"/>
                <a:sym typeface="Calibri"/>
              </a:rPr>
              <a:t>Heç bir attendance yoxdur → NULLIF ilə sıfıra bölünmənin qarşısı alınır.</a:t>
            </a:r>
            <a:endParaRPr b="0" i="0" sz="1000" u="none" cap="none" strike="noStrike">
              <a:solidFill>
                <a:schemeClr val="dk1"/>
              </a:solidFill>
              <a:latin typeface="Calibri"/>
              <a:ea typeface="Calibri"/>
              <a:cs typeface="Calibri"/>
              <a:sym typeface="Calibri"/>
            </a:endParaRPr>
          </a:p>
        </p:txBody>
      </p:sp>
      <p:sp>
        <p:nvSpPr>
          <p:cNvPr id="343" name="Google Shape;343;p8"/>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8"/>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345" name="Google Shape;345;p8"/>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8</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350" name="Shape 350"/>
        <p:cNvGrpSpPr/>
        <p:nvPr/>
      </p:nvGrpSpPr>
      <p:grpSpPr>
        <a:xfrm>
          <a:off x="0" y="0"/>
          <a:ext cx="0" cy="0"/>
          <a:chOff x="0" y="0"/>
          <a:chExt cx="0" cy="0"/>
        </a:xfrm>
      </p:grpSpPr>
      <p:sp>
        <p:nvSpPr>
          <p:cNvPr id="351" name="Google Shape;351;p9"/>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9"/>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08 — Technical Design: Data + API</a:t>
            </a:r>
            <a:endParaRPr b="0" i="0" sz="2500" u="none" cap="none" strike="noStrike">
              <a:solidFill>
                <a:schemeClr val="dk1"/>
              </a:solidFill>
              <a:latin typeface="Calibri"/>
              <a:ea typeface="Calibri"/>
              <a:cs typeface="Calibri"/>
              <a:sym typeface="Calibri"/>
            </a:endParaRPr>
          </a:p>
        </p:txBody>
      </p:sp>
      <p:sp>
        <p:nvSpPr>
          <p:cNvPr id="353" name="Google Shape;353;p9"/>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Biznes tələblərinin faktiki texniki artefaktlarla əlaqələndirilməsi.</a:t>
            </a:r>
            <a:endParaRPr b="0" i="0" sz="1200" u="none" cap="none" strike="noStrike">
              <a:solidFill>
                <a:schemeClr val="dk1"/>
              </a:solidFill>
              <a:latin typeface="Calibri"/>
              <a:ea typeface="Calibri"/>
              <a:cs typeface="Calibri"/>
              <a:sym typeface="Calibri"/>
            </a:endParaRPr>
          </a:p>
        </p:txBody>
      </p:sp>
      <p:sp>
        <p:nvSpPr>
          <p:cNvPr id="354" name="Google Shape;354;p9"/>
          <p:cNvSpPr/>
          <p:nvPr/>
        </p:nvSpPr>
        <p:spPr>
          <a:xfrm>
            <a:off x="-99474" y="1385250"/>
            <a:ext cx="5860200" cy="4526400"/>
          </a:xfrm>
          <a:prstGeom prst="roundRect">
            <a:avLst>
              <a:gd fmla="val 1414"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9"/>
          <p:cNvSpPr/>
          <p:nvPr/>
        </p:nvSpPr>
        <p:spPr>
          <a:xfrm>
            <a:off x="822960" y="1545336"/>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550" u="none" cap="none" strike="noStrike">
                <a:solidFill>
                  <a:srgbClr val="232A46"/>
                </a:solidFill>
                <a:latin typeface="Arial"/>
                <a:ea typeface="Arial"/>
                <a:cs typeface="Arial"/>
                <a:sym typeface="Arial"/>
              </a:rPr>
              <a:t>ERD / Data Model</a:t>
            </a:r>
            <a:endParaRPr b="0" i="0" sz="1550" u="none" cap="none" strike="noStrike">
              <a:solidFill>
                <a:schemeClr val="dk1"/>
              </a:solidFill>
              <a:latin typeface="Calibri"/>
              <a:ea typeface="Calibri"/>
              <a:cs typeface="Calibri"/>
              <a:sym typeface="Calibri"/>
            </a:endParaRPr>
          </a:p>
        </p:txBody>
      </p:sp>
      <p:sp>
        <p:nvSpPr>
          <p:cNvPr id="356" name="Google Shape;356;p9"/>
          <p:cNvSpPr/>
          <p:nvPr/>
        </p:nvSpPr>
        <p:spPr>
          <a:xfrm>
            <a:off x="822960" y="1911096"/>
            <a:ext cx="1444752" cy="420624"/>
          </a:xfrm>
          <a:prstGeom prst="roundRect">
            <a:avLst>
              <a:gd fmla="val 10870" name="adj"/>
            </a:avLst>
          </a:prstGeom>
          <a:solidFill>
            <a:srgbClr val="232A46"/>
          </a:solidFill>
          <a:ln cap="flat" cmpd="sng" w="12700">
            <a:solidFill>
              <a:srgbClr val="232A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9"/>
          <p:cNvSpPr/>
          <p:nvPr/>
        </p:nvSpPr>
        <p:spPr>
          <a:xfrm>
            <a:off x="822960" y="1956816"/>
            <a:ext cx="1444752"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839"/>
              <a:buFont typeface="Calibri"/>
              <a:buNone/>
            </a:pPr>
            <a:r>
              <a:rPr b="1" i="0" lang="en-US" sz="1040" u="none" cap="none" strike="noStrike">
                <a:solidFill>
                  <a:srgbClr val="FFFFFF"/>
                </a:solidFill>
                <a:latin typeface="Calibri"/>
                <a:ea typeface="Calibri"/>
                <a:cs typeface="Calibri"/>
                <a:sym typeface="Calibri"/>
              </a:rPr>
              <a:t>USER</a:t>
            </a:r>
            <a:endParaRPr b="0" i="0" sz="1040" u="none" cap="none" strike="noStrike">
              <a:solidFill>
                <a:schemeClr val="dk1"/>
              </a:solidFill>
              <a:latin typeface="Calibri"/>
              <a:ea typeface="Calibri"/>
              <a:cs typeface="Calibri"/>
              <a:sym typeface="Calibri"/>
            </a:endParaRPr>
          </a:p>
        </p:txBody>
      </p:sp>
      <p:sp>
        <p:nvSpPr>
          <p:cNvPr id="358" name="Google Shape;358;p9"/>
          <p:cNvSpPr/>
          <p:nvPr/>
        </p:nvSpPr>
        <p:spPr>
          <a:xfrm>
            <a:off x="822960" y="2130552"/>
            <a:ext cx="1444800" cy="164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A9C6E8"/>
              </a:buClr>
              <a:buSzPts val="700"/>
              <a:buFont typeface="Calibri"/>
              <a:buNone/>
            </a:pPr>
            <a:r>
              <a:rPr b="0" i="0" lang="en-US" sz="800" u="none" cap="none" strike="noStrike">
                <a:solidFill>
                  <a:srgbClr val="A9C6E8"/>
                </a:solidFill>
                <a:latin typeface="Calibri"/>
                <a:ea typeface="Calibri"/>
                <a:cs typeface="Calibri"/>
                <a:sym typeface="Calibri"/>
              </a:rPr>
              <a:t>role · status</a:t>
            </a:r>
            <a:endParaRPr b="0" i="0" sz="800" u="none" cap="none" strike="noStrike">
              <a:solidFill>
                <a:schemeClr val="dk1"/>
              </a:solidFill>
              <a:latin typeface="Calibri"/>
              <a:ea typeface="Calibri"/>
              <a:cs typeface="Calibri"/>
              <a:sym typeface="Calibri"/>
            </a:endParaRPr>
          </a:p>
        </p:txBody>
      </p:sp>
      <p:sp>
        <p:nvSpPr>
          <p:cNvPr id="359" name="Google Shape;359;p9"/>
          <p:cNvSpPr/>
          <p:nvPr/>
        </p:nvSpPr>
        <p:spPr>
          <a:xfrm>
            <a:off x="768101" y="2606050"/>
            <a:ext cx="731400" cy="420600"/>
          </a:xfrm>
          <a:prstGeom prst="roundRect">
            <a:avLst>
              <a:gd fmla="val 10870"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232A46"/>
              </a:buClr>
              <a:buSzPts val="839"/>
              <a:buFont typeface="Calibri"/>
              <a:buNone/>
            </a:pPr>
            <a:r>
              <a:t/>
            </a:r>
            <a:endParaRPr b="1" sz="1040">
              <a:solidFill>
                <a:srgbClr val="232A46"/>
              </a:solidFill>
              <a:latin typeface="Calibri"/>
              <a:ea typeface="Calibri"/>
              <a:cs typeface="Calibri"/>
              <a:sym typeface="Calibri"/>
            </a:endParaRPr>
          </a:p>
          <a:p>
            <a:pPr indent="0" lvl="0" marL="0" rtl="0" algn="ctr">
              <a:spcBef>
                <a:spcPts val="0"/>
              </a:spcBef>
              <a:spcAft>
                <a:spcPts val="0"/>
              </a:spcAft>
              <a:buClr>
                <a:srgbClr val="232A46"/>
              </a:buClr>
              <a:buSzPts val="839"/>
              <a:buFont typeface="Calibri"/>
              <a:buNone/>
            </a:pPr>
            <a:r>
              <a:rPr b="1" lang="en-US" sz="1040">
                <a:solidFill>
                  <a:srgbClr val="232A46"/>
                </a:solidFill>
                <a:latin typeface="Calibri"/>
                <a:ea typeface="Calibri"/>
                <a:cs typeface="Calibri"/>
                <a:sym typeface="Calibri"/>
              </a:rPr>
              <a:t>STUDENT</a:t>
            </a:r>
            <a:endParaRPr b="1" sz="1040">
              <a:solidFill>
                <a:srgbClr val="232A46"/>
              </a:solidFill>
              <a:latin typeface="Calibri"/>
              <a:ea typeface="Calibri"/>
              <a:cs typeface="Calibri"/>
              <a:sym typeface="Calibri"/>
            </a:endParaRPr>
          </a:p>
          <a:p>
            <a:pPr indent="0" lvl="0" marL="0" rtl="0" algn="l">
              <a:spcBef>
                <a:spcPts val="0"/>
              </a:spcBef>
              <a:spcAft>
                <a:spcPts val="0"/>
              </a:spcAft>
              <a:buClr>
                <a:srgbClr val="8B909C"/>
              </a:buClr>
              <a:buSzPts val="700"/>
              <a:buFont typeface="Calibri"/>
              <a:buNone/>
            </a:pPr>
            <a:r>
              <a:rPr lang="en-US" sz="800">
                <a:solidFill>
                  <a:srgbClr val="8B909C"/>
                </a:solidFill>
                <a:latin typeface="Calibri"/>
                <a:ea typeface="Calibri"/>
                <a:cs typeface="Calibri"/>
                <a:sym typeface="Calibri"/>
              </a:rPr>
              <a:t>      1:0..1</a:t>
            </a:r>
            <a:endParaRPr sz="800">
              <a:solidFill>
                <a:schemeClr val="dk1"/>
              </a:solidFill>
              <a:latin typeface="Calibri"/>
              <a:ea typeface="Calibri"/>
              <a:cs typeface="Calibri"/>
              <a:sym typeface="Calibri"/>
            </a:endParaRPr>
          </a:p>
          <a:p>
            <a:pPr indent="0" lvl="0" marL="0" rtl="0" algn="ctr">
              <a:spcBef>
                <a:spcPts val="0"/>
              </a:spcBef>
              <a:spcAft>
                <a:spcPts val="0"/>
              </a:spcAft>
              <a:buClr>
                <a:srgbClr val="232A46"/>
              </a:buClr>
              <a:buSzPts val="839"/>
              <a:buFont typeface="Calibri"/>
              <a:buNone/>
            </a:pPr>
            <a:r>
              <a:t/>
            </a:r>
            <a:endParaRPr b="1" sz="1040">
              <a:solidFill>
                <a:srgbClr val="232A46"/>
              </a:solidFill>
              <a:latin typeface="Calibri"/>
              <a:ea typeface="Calibri"/>
              <a:cs typeface="Calibri"/>
              <a:sym typeface="Calibri"/>
            </a:endParaRPr>
          </a:p>
        </p:txBody>
      </p:sp>
      <p:sp>
        <p:nvSpPr>
          <p:cNvPr id="360" name="Google Shape;360;p9"/>
          <p:cNvSpPr/>
          <p:nvPr/>
        </p:nvSpPr>
        <p:spPr>
          <a:xfrm>
            <a:off x="-240" y="2250285"/>
            <a:ext cx="6768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32A46"/>
              </a:buClr>
              <a:buSzPts val="839"/>
              <a:buFont typeface="Calibri"/>
              <a:buNone/>
            </a:pPr>
            <a:r>
              <a:t/>
            </a:r>
            <a:endParaRPr b="0" i="0" sz="1040" u="none" cap="none" strike="noStrike">
              <a:solidFill>
                <a:schemeClr val="dk1"/>
              </a:solidFill>
              <a:latin typeface="Calibri"/>
              <a:ea typeface="Calibri"/>
              <a:cs typeface="Calibri"/>
              <a:sym typeface="Calibri"/>
            </a:endParaRPr>
          </a:p>
        </p:txBody>
      </p:sp>
      <p:sp>
        <p:nvSpPr>
          <p:cNvPr id="361" name="Google Shape;361;p9"/>
          <p:cNvSpPr/>
          <p:nvPr/>
        </p:nvSpPr>
        <p:spPr>
          <a:xfrm>
            <a:off x="289560" y="2830059"/>
            <a:ext cx="676800" cy="164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700"/>
              <a:buFont typeface="Calibri"/>
              <a:buNone/>
            </a:pPr>
            <a:r>
              <a:t/>
            </a:r>
            <a:endParaRPr b="0" i="0" sz="800" u="none" cap="none" strike="noStrike">
              <a:solidFill>
                <a:schemeClr val="dk1"/>
              </a:solidFill>
              <a:latin typeface="Calibri"/>
              <a:ea typeface="Calibri"/>
              <a:cs typeface="Calibri"/>
              <a:sym typeface="Calibri"/>
            </a:endParaRPr>
          </a:p>
        </p:txBody>
      </p:sp>
      <p:sp>
        <p:nvSpPr>
          <p:cNvPr id="362" name="Google Shape;362;p9"/>
          <p:cNvSpPr/>
          <p:nvPr/>
        </p:nvSpPr>
        <p:spPr>
          <a:xfrm>
            <a:off x="1591056" y="2606040"/>
            <a:ext cx="676656" cy="420624"/>
          </a:xfrm>
          <a:prstGeom prst="roundRect">
            <a:avLst>
              <a:gd fmla="val 10870"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9"/>
          <p:cNvSpPr/>
          <p:nvPr/>
        </p:nvSpPr>
        <p:spPr>
          <a:xfrm>
            <a:off x="1591056" y="2651760"/>
            <a:ext cx="676656"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TEACHER</a:t>
            </a:r>
            <a:endParaRPr b="0" i="0" sz="1040" u="none" cap="none" strike="noStrike">
              <a:solidFill>
                <a:schemeClr val="dk1"/>
              </a:solidFill>
              <a:latin typeface="Calibri"/>
              <a:ea typeface="Calibri"/>
              <a:cs typeface="Calibri"/>
              <a:sym typeface="Calibri"/>
            </a:endParaRPr>
          </a:p>
        </p:txBody>
      </p:sp>
      <p:sp>
        <p:nvSpPr>
          <p:cNvPr id="364" name="Google Shape;364;p9"/>
          <p:cNvSpPr/>
          <p:nvPr/>
        </p:nvSpPr>
        <p:spPr>
          <a:xfrm>
            <a:off x="1591056" y="2825496"/>
            <a:ext cx="676656"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700"/>
              <a:buFont typeface="Calibri"/>
              <a:buNone/>
            </a:pPr>
            <a:r>
              <a:rPr b="0" i="0" lang="en-US" sz="800" u="none" cap="none" strike="noStrike">
                <a:solidFill>
                  <a:srgbClr val="8B909C"/>
                </a:solidFill>
                <a:latin typeface="Calibri"/>
                <a:ea typeface="Calibri"/>
                <a:cs typeface="Calibri"/>
                <a:sym typeface="Calibri"/>
              </a:rPr>
              <a:t>1:0..1</a:t>
            </a:r>
            <a:endParaRPr b="0" i="0" sz="800" u="none" cap="none" strike="noStrike">
              <a:solidFill>
                <a:schemeClr val="dk1"/>
              </a:solidFill>
              <a:latin typeface="Calibri"/>
              <a:ea typeface="Calibri"/>
              <a:cs typeface="Calibri"/>
              <a:sym typeface="Calibri"/>
            </a:endParaRPr>
          </a:p>
        </p:txBody>
      </p:sp>
      <p:sp>
        <p:nvSpPr>
          <p:cNvPr id="365" name="Google Shape;365;p9"/>
          <p:cNvSpPr/>
          <p:nvPr/>
        </p:nvSpPr>
        <p:spPr>
          <a:xfrm>
            <a:off x="1152144" y="2331720"/>
            <a:ext cx="20117" cy="274320"/>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9"/>
          <p:cNvSpPr/>
          <p:nvPr/>
        </p:nvSpPr>
        <p:spPr>
          <a:xfrm>
            <a:off x="1920240" y="2331720"/>
            <a:ext cx="20117" cy="274320"/>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9"/>
          <p:cNvSpPr/>
          <p:nvPr/>
        </p:nvSpPr>
        <p:spPr>
          <a:xfrm>
            <a:off x="1152144" y="2331720"/>
            <a:ext cx="786384" cy="20117"/>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9"/>
          <p:cNvSpPr/>
          <p:nvPr/>
        </p:nvSpPr>
        <p:spPr>
          <a:xfrm>
            <a:off x="2578608" y="1911096"/>
            <a:ext cx="1572768" cy="420624"/>
          </a:xfrm>
          <a:prstGeom prst="roundRect">
            <a:avLst>
              <a:gd fmla="val 10870" name="adj"/>
            </a:avLst>
          </a:prstGeom>
          <a:solidFill>
            <a:srgbClr val="232A46"/>
          </a:solidFill>
          <a:ln cap="flat" cmpd="sng" w="12700">
            <a:solidFill>
              <a:srgbClr val="232A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9"/>
          <p:cNvSpPr/>
          <p:nvPr/>
        </p:nvSpPr>
        <p:spPr>
          <a:xfrm>
            <a:off x="2578608" y="1956816"/>
            <a:ext cx="1572768"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839"/>
              <a:buFont typeface="Calibri"/>
              <a:buNone/>
            </a:pPr>
            <a:r>
              <a:rPr b="1" i="0" lang="en-US" sz="1040" u="none" cap="none" strike="noStrike">
                <a:solidFill>
                  <a:srgbClr val="FFFFFF"/>
                </a:solidFill>
                <a:latin typeface="Calibri"/>
                <a:ea typeface="Calibri"/>
                <a:cs typeface="Calibri"/>
                <a:sym typeface="Calibri"/>
              </a:rPr>
              <a:t>COURSE</a:t>
            </a:r>
            <a:endParaRPr b="0" i="0" sz="1040" u="none" cap="none" strike="noStrike">
              <a:solidFill>
                <a:schemeClr val="dk1"/>
              </a:solidFill>
              <a:latin typeface="Calibri"/>
              <a:ea typeface="Calibri"/>
              <a:cs typeface="Calibri"/>
              <a:sym typeface="Calibri"/>
            </a:endParaRPr>
          </a:p>
        </p:txBody>
      </p:sp>
      <p:sp>
        <p:nvSpPr>
          <p:cNvPr id="370" name="Google Shape;370;p9"/>
          <p:cNvSpPr/>
          <p:nvPr/>
        </p:nvSpPr>
        <p:spPr>
          <a:xfrm>
            <a:off x="2578608" y="2130552"/>
            <a:ext cx="1572768"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A9C6E8"/>
              </a:buClr>
              <a:buSzPts val="700"/>
              <a:buFont typeface="Calibri"/>
              <a:buNone/>
            </a:pPr>
            <a:r>
              <a:rPr b="0" i="0" lang="en-US" sz="800" u="none" cap="none" strike="noStrike">
                <a:solidFill>
                  <a:srgbClr val="A9C6E8"/>
                </a:solidFill>
                <a:latin typeface="Calibri"/>
                <a:ea typeface="Calibri"/>
                <a:cs typeface="Calibri"/>
                <a:sym typeface="Calibri"/>
              </a:rPr>
              <a:t>pass_score · min_att%</a:t>
            </a:r>
            <a:endParaRPr b="0" i="0" sz="800" u="none" cap="none" strike="noStrike">
              <a:solidFill>
                <a:schemeClr val="dk1"/>
              </a:solidFill>
              <a:latin typeface="Calibri"/>
              <a:ea typeface="Calibri"/>
              <a:cs typeface="Calibri"/>
              <a:sym typeface="Calibri"/>
            </a:endParaRPr>
          </a:p>
        </p:txBody>
      </p:sp>
      <p:sp>
        <p:nvSpPr>
          <p:cNvPr id="371" name="Google Shape;371;p9"/>
          <p:cNvSpPr/>
          <p:nvPr/>
        </p:nvSpPr>
        <p:spPr>
          <a:xfrm>
            <a:off x="2578608" y="2606040"/>
            <a:ext cx="1572768" cy="420624"/>
          </a:xfrm>
          <a:prstGeom prst="roundRect">
            <a:avLst>
              <a:gd fmla="val 10870"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9"/>
          <p:cNvSpPr/>
          <p:nvPr/>
        </p:nvSpPr>
        <p:spPr>
          <a:xfrm>
            <a:off x="2578608" y="2651760"/>
            <a:ext cx="1572768"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COURSE_INSTANCE</a:t>
            </a:r>
            <a:endParaRPr b="0" i="0" sz="1040" u="none" cap="none" strike="noStrike">
              <a:solidFill>
                <a:schemeClr val="dk1"/>
              </a:solidFill>
              <a:latin typeface="Calibri"/>
              <a:ea typeface="Calibri"/>
              <a:cs typeface="Calibri"/>
              <a:sym typeface="Calibri"/>
            </a:endParaRPr>
          </a:p>
        </p:txBody>
      </p:sp>
      <p:sp>
        <p:nvSpPr>
          <p:cNvPr id="373" name="Google Shape;373;p9"/>
          <p:cNvSpPr/>
          <p:nvPr/>
        </p:nvSpPr>
        <p:spPr>
          <a:xfrm>
            <a:off x="2578608" y="2825496"/>
            <a:ext cx="1572768"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700"/>
              <a:buFont typeface="Calibri"/>
              <a:buNone/>
            </a:pPr>
            <a:r>
              <a:rPr b="0" i="0" lang="en-US" sz="800" u="none" cap="none" strike="noStrike">
                <a:solidFill>
                  <a:srgbClr val="8B909C"/>
                </a:solidFill>
                <a:latin typeface="Calibri"/>
                <a:ea typeface="Calibri"/>
                <a:cs typeface="Calibri"/>
                <a:sym typeface="Calibri"/>
              </a:rPr>
              <a:t>capacity · teacher_id</a:t>
            </a:r>
            <a:endParaRPr b="0" i="0" sz="800" u="none" cap="none" strike="noStrike">
              <a:solidFill>
                <a:schemeClr val="dk1"/>
              </a:solidFill>
              <a:latin typeface="Calibri"/>
              <a:ea typeface="Calibri"/>
              <a:cs typeface="Calibri"/>
              <a:sym typeface="Calibri"/>
            </a:endParaRPr>
          </a:p>
        </p:txBody>
      </p:sp>
      <p:sp>
        <p:nvSpPr>
          <p:cNvPr id="374" name="Google Shape;374;p9"/>
          <p:cNvSpPr/>
          <p:nvPr/>
        </p:nvSpPr>
        <p:spPr>
          <a:xfrm>
            <a:off x="3346704" y="2331720"/>
            <a:ext cx="20117" cy="274320"/>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9"/>
          <p:cNvSpPr/>
          <p:nvPr/>
        </p:nvSpPr>
        <p:spPr>
          <a:xfrm>
            <a:off x="2578608" y="1709928"/>
            <a:ext cx="1572768"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700"/>
              <a:buFont typeface="Calibri"/>
              <a:buNone/>
            </a:pPr>
            <a:r>
              <a:rPr b="0" i="1" lang="en-US" sz="700" u="none" cap="none" strike="noStrike">
                <a:solidFill>
                  <a:srgbClr val="8B909C"/>
                </a:solidFill>
                <a:latin typeface="Calibri"/>
                <a:ea typeface="Calibri"/>
                <a:cs typeface="Calibri"/>
                <a:sym typeface="Calibri"/>
              </a:rPr>
              <a:t>prerequisite 1 : 0..N</a:t>
            </a:r>
            <a:endParaRPr b="0" i="0" sz="700" u="none" cap="none" strike="noStrike">
              <a:solidFill>
                <a:schemeClr val="dk1"/>
              </a:solidFill>
              <a:latin typeface="Calibri"/>
              <a:ea typeface="Calibri"/>
              <a:cs typeface="Calibri"/>
              <a:sym typeface="Calibri"/>
            </a:endParaRPr>
          </a:p>
        </p:txBody>
      </p:sp>
      <p:sp>
        <p:nvSpPr>
          <p:cNvPr id="376" name="Google Shape;376;p9"/>
          <p:cNvSpPr/>
          <p:nvPr/>
        </p:nvSpPr>
        <p:spPr>
          <a:xfrm>
            <a:off x="4279392" y="2258568"/>
            <a:ext cx="1481328" cy="420624"/>
          </a:xfrm>
          <a:prstGeom prst="roundRect">
            <a:avLst>
              <a:gd fmla="val 10870" name="adj"/>
            </a:avLst>
          </a:prstGeom>
          <a:solidFill>
            <a:srgbClr val="E7EFFF"/>
          </a:solidFill>
          <a:ln cap="flat" cmpd="sng" w="12700">
            <a:solidFill>
              <a:srgbClr val="C9DA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9"/>
          <p:cNvSpPr/>
          <p:nvPr/>
        </p:nvSpPr>
        <p:spPr>
          <a:xfrm>
            <a:off x="4279392" y="2304288"/>
            <a:ext cx="1481328"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ENROLLMENT</a:t>
            </a:r>
            <a:endParaRPr b="0" i="0" sz="1040" u="none" cap="none" strike="noStrike">
              <a:solidFill>
                <a:schemeClr val="dk1"/>
              </a:solidFill>
              <a:latin typeface="Calibri"/>
              <a:ea typeface="Calibri"/>
              <a:cs typeface="Calibri"/>
              <a:sym typeface="Calibri"/>
            </a:endParaRPr>
          </a:p>
        </p:txBody>
      </p:sp>
      <p:sp>
        <p:nvSpPr>
          <p:cNvPr id="378" name="Google Shape;378;p9"/>
          <p:cNvSpPr/>
          <p:nvPr/>
        </p:nvSpPr>
        <p:spPr>
          <a:xfrm>
            <a:off x="4279392" y="2478024"/>
            <a:ext cx="1481328"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700"/>
              <a:buFont typeface="Calibri"/>
              <a:buNone/>
            </a:pPr>
            <a:r>
              <a:rPr b="0" i="0" lang="en-US" sz="800" u="none" cap="none" strike="noStrike">
                <a:solidFill>
                  <a:srgbClr val="8B909C"/>
                </a:solidFill>
                <a:latin typeface="Calibri"/>
                <a:ea typeface="Calibri"/>
                <a:cs typeface="Calibri"/>
                <a:sym typeface="Calibri"/>
              </a:rPr>
              <a:t>status · date</a:t>
            </a:r>
            <a:endParaRPr b="0" i="0" sz="800" u="none" cap="none" strike="noStrike">
              <a:solidFill>
                <a:schemeClr val="dk1"/>
              </a:solidFill>
              <a:latin typeface="Calibri"/>
              <a:ea typeface="Calibri"/>
              <a:cs typeface="Calibri"/>
              <a:sym typeface="Calibri"/>
            </a:endParaRPr>
          </a:p>
        </p:txBody>
      </p:sp>
      <p:sp>
        <p:nvSpPr>
          <p:cNvPr id="379" name="Google Shape;379;p9"/>
          <p:cNvSpPr/>
          <p:nvPr/>
        </p:nvSpPr>
        <p:spPr>
          <a:xfrm>
            <a:off x="4151376" y="2468880"/>
            <a:ext cx="128016" cy="20117"/>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9"/>
          <p:cNvSpPr/>
          <p:nvPr/>
        </p:nvSpPr>
        <p:spPr>
          <a:xfrm>
            <a:off x="2267712" y="2816352"/>
            <a:ext cx="310896" cy="20117"/>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9"/>
          <p:cNvSpPr/>
          <p:nvPr/>
        </p:nvSpPr>
        <p:spPr>
          <a:xfrm>
            <a:off x="1097280" y="3337560"/>
            <a:ext cx="1517904" cy="420624"/>
          </a:xfrm>
          <a:prstGeom prst="roundRect">
            <a:avLst>
              <a:gd fmla="val 10870"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9"/>
          <p:cNvSpPr/>
          <p:nvPr/>
        </p:nvSpPr>
        <p:spPr>
          <a:xfrm>
            <a:off x="1097280" y="3383280"/>
            <a:ext cx="151790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ATTENDANCE</a:t>
            </a:r>
            <a:endParaRPr b="0" i="0" sz="1040" u="none" cap="none" strike="noStrike">
              <a:solidFill>
                <a:schemeClr val="dk1"/>
              </a:solidFill>
              <a:latin typeface="Calibri"/>
              <a:ea typeface="Calibri"/>
              <a:cs typeface="Calibri"/>
              <a:sym typeface="Calibri"/>
            </a:endParaRPr>
          </a:p>
        </p:txBody>
      </p:sp>
      <p:sp>
        <p:nvSpPr>
          <p:cNvPr id="383" name="Google Shape;383;p9"/>
          <p:cNvSpPr/>
          <p:nvPr/>
        </p:nvSpPr>
        <p:spPr>
          <a:xfrm>
            <a:off x="1097280" y="3557016"/>
            <a:ext cx="1517904"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700"/>
              <a:buFont typeface="Calibri"/>
              <a:buNone/>
            </a:pPr>
            <a:r>
              <a:rPr b="0" i="0" lang="en-US" sz="800" u="none" cap="none" strike="noStrike">
                <a:solidFill>
                  <a:srgbClr val="8B909C"/>
                </a:solidFill>
                <a:latin typeface="Calibri"/>
                <a:ea typeface="Calibri"/>
                <a:cs typeface="Calibri"/>
                <a:sym typeface="Calibri"/>
              </a:rPr>
              <a:t>session_date · status</a:t>
            </a:r>
            <a:endParaRPr b="0" i="0" sz="800" u="none" cap="none" strike="noStrike">
              <a:solidFill>
                <a:schemeClr val="dk1"/>
              </a:solidFill>
              <a:latin typeface="Calibri"/>
              <a:ea typeface="Calibri"/>
              <a:cs typeface="Calibri"/>
              <a:sym typeface="Calibri"/>
            </a:endParaRPr>
          </a:p>
        </p:txBody>
      </p:sp>
      <p:sp>
        <p:nvSpPr>
          <p:cNvPr id="384" name="Google Shape;384;p9"/>
          <p:cNvSpPr/>
          <p:nvPr/>
        </p:nvSpPr>
        <p:spPr>
          <a:xfrm>
            <a:off x="2761488" y="3337560"/>
            <a:ext cx="1700784" cy="420624"/>
          </a:xfrm>
          <a:prstGeom prst="roundRect">
            <a:avLst>
              <a:gd fmla="val 10870"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9"/>
          <p:cNvSpPr/>
          <p:nvPr/>
        </p:nvSpPr>
        <p:spPr>
          <a:xfrm>
            <a:off x="2761488" y="3383280"/>
            <a:ext cx="170078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ASSESSMENT_RESULT</a:t>
            </a:r>
            <a:endParaRPr b="0" i="0" sz="1040" u="none" cap="none" strike="noStrike">
              <a:solidFill>
                <a:schemeClr val="dk1"/>
              </a:solidFill>
              <a:latin typeface="Calibri"/>
              <a:ea typeface="Calibri"/>
              <a:cs typeface="Calibri"/>
              <a:sym typeface="Calibri"/>
            </a:endParaRPr>
          </a:p>
        </p:txBody>
      </p:sp>
      <p:sp>
        <p:nvSpPr>
          <p:cNvPr id="386" name="Google Shape;386;p9"/>
          <p:cNvSpPr/>
          <p:nvPr/>
        </p:nvSpPr>
        <p:spPr>
          <a:xfrm>
            <a:off x="2761488" y="3557016"/>
            <a:ext cx="1700784"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700"/>
              <a:buFont typeface="Calibri"/>
              <a:buNone/>
            </a:pPr>
            <a:r>
              <a:rPr b="0" i="0" lang="en-US" sz="800" u="none" cap="none" strike="noStrike">
                <a:solidFill>
                  <a:srgbClr val="8B909C"/>
                </a:solidFill>
                <a:latin typeface="Calibri"/>
                <a:ea typeface="Calibri"/>
                <a:cs typeface="Calibri"/>
                <a:sym typeface="Calibri"/>
              </a:rPr>
              <a:t>score · result_status</a:t>
            </a:r>
            <a:endParaRPr b="0" i="0" sz="800" u="none" cap="none" strike="noStrike">
              <a:solidFill>
                <a:schemeClr val="dk1"/>
              </a:solidFill>
              <a:latin typeface="Calibri"/>
              <a:ea typeface="Calibri"/>
              <a:cs typeface="Calibri"/>
              <a:sym typeface="Calibri"/>
            </a:endParaRPr>
          </a:p>
        </p:txBody>
      </p:sp>
      <p:sp>
        <p:nvSpPr>
          <p:cNvPr id="387" name="Google Shape;387;p9"/>
          <p:cNvSpPr/>
          <p:nvPr/>
        </p:nvSpPr>
        <p:spPr>
          <a:xfrm>
            <a:off x="4608576" y="3337560"/>
            <a:ext cx="1152144" cy="420624"/>
          </a:xfrm>
          <a:prstGeom prst="roundRect">
            <a:avLst>
              <a:gd fmla="val 10870"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9"/>
          <p:cNvSpPr/>
          <p:nvPr/>
        </p:nvSpPr>
        <p:spPr>
          <a:xfrm>
            <a:off x="4608576" y="3383280"/>
            <a:ext cx="115214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CERTIFICATE</a:t>
            </a:r>
            <a:endParaRPr b="0" i="0" sz="1040" u="none" cap="none" strike="noStrike">
              <a:solidFill>
                <a:schemeClr val="dk1"/>
              </a:solidFill>
              <a:latin typeface="Calibri"/>
              <a:ea typeface="Calibri"/>
              <a:cs typeface="Calibri"/>
              <a:sym typeface="Calibri"/>
            </a:endParaRPr>
          </a:p>
        </p:txBody>
      </p:sp>
      <p:sp>
        <p:nvSpPr>
          <p:cNvPr id="389" name="Google Shape;389;p9"/>
          <p:cNvSpPr/>
          <p:nvPr/>
        </p:nvSpPr>
        <p:spPr>
          <a:xfrm>
            <a:off x="4608576" y="3557016"/>
            <a:ext cx="1152144"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B909C"/>
              </a:buClr>
              <a:buSzPts val="700"/>
              <a:buFont typeface="Calibri"/>
              <a:buNone/>
            </a:pPr>
            <a:r>
              <a:rPr b="0" i="0" lang="en-US" sz="800" u="none" cap="none" strike="noStrike">
                <a:solidFill>
                  <a:srgbClr val="8B909C"/>
                </a:solidFill>
                <a:latin typeface="Calibri"/>
                <a:ea typeface="Calibri"/>
                <a:cs typeface="Calibri"/>
                <a:sym typeface="Calibri"/>
              </a:rPr>
              <a:t>verification_code</a:t>
            </a:r>
            <a:endParaRPr b="0" i="0" sz="800" u="none" cap="none" strike="noStrike">
              <a:solidFill>
                <a:schemeClr val="dk1"/>
              </a:solidFill>
              <a:latin typeface="Calibri"/>
              <a:ea typeface="Calibri"/>
              <a:cs typeface="Calibri"/>
              <a:sym typeface="Calibri"/>
            </a:endParaRPr>
          </a:p>
        </p:txBody>
      </p:sp>
      <p:sp>
        <p:nvSpPr>
          <p:cNvPr id="390" name="Google Shape;390;p9"/>
          <p:cNvSpPr/>
          <p:nvPr/>
        </p:nvSpPr>
        <p:spPr>
          <a:xfrm>
            <a:off x="1856232" y="3136392"/>
            <a:ext cx="20117" cy="201168"/>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9"/>
          <p:cNvSpPr/>
          <p:nvPr/>
        </p:nvSpPr>
        <p:spPr>
          <a:xfrm>
            <a:off x="3611880" y="3136392"/>
            <a:ext cx="20117" cy="201168"/>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9"/>
          <p:cNvSpPr/>
          <p:nvPr/>
        </p:nvSpPr>
        <p:spPr>
          <a:xfrm>
            <a:off x="5184648" y="3136392"/>
            <a:ext cx="20117" cy="201168"/>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9"/>
          <p:cNvSpPr/>
          <p:nvPr/>
        </p:nvSpPr>
        <p:spPr>
          <a:xfrm>
            <a:off x="1856232" y="3136392"/>
            <a:ext cx="3346704" cy="20117"/>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9"/>
          <p:cNvSpPr/>
          <p:nvPr/>
        </p:nvSpPr>
        <p:spPr>
          <a:xfrm>
            <a:off x="5020056" y="2679192"/>
            <a:ext cx="20117" cy="457200"/>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9"/>
          <p:cNvSpPr/>
          <p:nvPr/>
        </p:nvSpPr>
        <p:spPr>
          <a:xfrm>
            <a:off x="1645920" y="3154680"/>
            <a:ext cx="457200" cy="1463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4FD0"/>
              </a:buClr>
              <a:buSzPts val="680"/>
              <a:buFont typeface="Calibri"/>
              <a:buNone/>
            </a:pPr>
            <a:r>
              <a:rPr b="0" i="0" lang="en-US" sz="680" u="none" cap="none" strike="noStrike">
                <a:solidFill>
                  <a:srgbClr val="1E4FD0"/>
                </a:solidFill>
                <a:latin typeface="Calibri"/>
                <a:ea typeface="Calibri"/>
                <a:cs typeface="Calibri"/>
                <a:sym typeface="Calibri"/>
              </a:rPr>
              <a:t>1 : N</a:t>
            </a:r>
            <a:endParaRPr b="0" i="0" sz="680" u="none" cap="none" strike="noStrike">
              <a:solidFill>
                <a:schemeClr val="dk1"/>
              </a:solidFill>
              <a:latin typeface="Calibri"/>
              <a:ea typeface="Calibri"/>
              <a:cs typeface="Calibri"/>
              <a:sym typeface="Calibri"/>
            </a:endParaRPr>
          </a:p>
        </p:txBody>
      </p:sp>
      <p:sp>
        <p:nvSpPr>
          <p:cNvPr id="396" name="Google Shape;396;p9"/>
          <p:cNvSpPr/>
          <p:nvPr/>
        </p:nvSpPr>
        <p:spPr>
          <a:xfrm>
            <a:off x="3401568" y="3154680"/>
            <a:ext cx="457200" cy="1463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4FD0"/>
              </a:buClr>
              <a:buSzPts val="680"/>
              <a:buFont typeface="Calibri"/>
              <a:buNone/>
            </a:pPr>
            <a:r>
              <a:rPr b="0" i="0" lang="en-US" sz="680" u="none" cap="none" strike="noStrike">
                <a:solidFill>
                  <a:srgbClr val="1E4FD0"/>
                </a:solidFill>
                <a:latin typeface="Calibri"/>
                <a:ea typeface="Calibri"/>
                <a:cs typeface="Calibri"/>
                <a:sym typeface="Calibri"/>
              </a:rPr>
              <a:t>1 : 1</a:t>
            </a:r>
            <a:endParaRPr b="0" i="0" sz="680" u="none" cap="none" strike="noStrike">
              <a:solidFill>
                <a:schemeClr val="dk1"/>
              </a:solidFill>
              <a:latin typeface="Calibri"/>
              <a:ea typeface="Calibri"/>
              <a:cs typeface="Calibri"/>
              <a:sym typeface="Calibri"/>
            </a:endParaRPr>
          </a:p>
        </p:txBody>
      </p:sp>
      <p:sp>
        <p:nvSpPr>
          <p:cNvPr id="397" name="Google Shape;397;p9"/>
          <p:cNvSpPr/>
          <p:nvPr/>
        </p:nvSpPr>
        <p:spPr>
          <a:xfrm>
            <a:off x="4956048" y="3154680"/>
            <a:ext cx="502920" cy="1463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4FD0"/>
              </a:buClr>
              <a:buSzPts val="680"/>
              <a:buFont typeface="Calibri"/>
              <a:buNone/>
            </a:pPr>
            <a:r>
              <a:rPr b="0" i="0" lang="en-US" sz="680" u="none" cap="none" strike="noStrike">
                <a:solidFill>
                  <a:srgbClr val="1E4FD0"/>
                </a:solidFill>
                <a:latin typeface="Calibri"/>
                <a:ea typeface="Calibri"/>
                <a:cs typeface="Calibri"/>
                <a:sym typeface="Calibri"/>
              </a:rPr>
              <a:t>1 : 0..1</a:t>
            </a:r>
            <a:endParaRPr b="0" i="0" sz="680" u="none" cap="none" strike="noStrike">
              <a:solidFill>
                <a:schemeClr val="dk1"/>
              </a:solidFill>
              <a:latin typeface="Calibri"/>
              <a:ea typeface="Calibri"/>
              <a:cs typeface="Calibri"/>
              <a:sym typeface="Calibri"/>
            </a:endParaRPr>
          </a:p>
        </p:txBody>
      </p:sp>
      <p:sp>
        <p:nvSpPr>
          <p:cNvPr id="398" name="Google Shape;398;p9"/>
          <p:cNvSpPr/>
          <p:nvPr/>
        </p:nvSpPr>
        <p:spPr>
          <a:xfrm>
            <a:off x="2761488" y="4032504"/>
            <a:ext cx="1700784" cy="420624"/>
          </a:xfrm>
          <a:prstGeom prst="roundRect">
            <a:avLst>
              <a:gd fmla="val 10870" name="adj"/>
            </a:avLst>
          </a:prstGeom>
          <a:solidFill>
            <a:srgbClr val="232A46"/>
          </a:solidFill>
          <a:ln cap="flat" cmpd="sng" w="12700">
            <a:solidFill>
              <a:srgbClr val="232A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9"/>
          <p:cNvSpPr/>
          <p:nvPr/>
        </p:nvSpPr>
        <p:spPr>
          <a:xfrm>
            <a:off x="2761488" y="4078224"/>
            <a:ext cx="170078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839"/>
              <a:buFont typeface="Calibri"/>
              <a:buNone/>
            </a:pPr>
            <a:r>
              <a:rPr b="1" i="0" lang="en-US" sz="1040" u="none" cap="none" strike="noStrike">
                <a:solidFill>
                  <a:srgbClr val="FFFFFF"/>
                </a:solidFill>
                <a:latin typeface="Calibri"/>
                <a:ea typeface="Calibri"/>
                <a:cs typeface="Calibri"/>
                <a:sym typeface="Calibri"/>
              </a:rPr>
              <a:t>AUDIT_LOG</a:t>
            </a:r>
            <a:endParaRPr b="0" i="0" sz="1040" u="none" cap="none" strike="noStrike">
              <a:solidFill>
                <a:schemeClr val="dk1"/>
              </a:solidFill>
              <a:latin typeface="Calibri"/>
              <a:ea typeface="Calibri"/>
              <a:cs typeface="Calibri"/>
              <a:sym typeface="Calibri"/>
            </a:endParaRPr>
          </a:p>
        </p:txBody>
      </p:sp>
      <p:sp>
        <p:nvSpPr>
          <p:cNvPr id="400" name="Google Shape;400;p9"/>
          <p:cNvSpPr/>
          <p:nvPr/>
        </p:nvSpPr>
        <p:spPr>
          <a:xfrm>
            <a:off x="2761488" y="4251960"/>
            <a:ext cx="1700784" cy="1645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A9C6E8"/>
              </a:buClr>
              <a:buSzPts val="700"/>
              <a:buFont typeface="Calibri"/>
              <a:buNone/>
            </a:pPr>
            <a:r>
              <a:rPr b="0" i="0" lang="en-US" sz="800" u="none" cap="none" strike="noStrike">
                <a:solidFill>
                  <a:srgbClr val="A9C6E8"/>
                </a:solidFill>
                <a:latin typeface="Calibri"/>
                <a:ea typeface="Calibri"/>
                <a:cs typeface="Calibri"/>
                <a:sym typeface="Calibri"/>
              </a:rPr>
              <a:t>kritik dəyişikliklər</a:t>
            </a:r>
            <a:endParaRPr b="0" i="0" sz="800" u="none" cap="none" strike="noStrike">
              <a:solidFill>
                <a:schemeClr val="dk1"/>
              </a:solidFill>
              <a:latin typeface="Calibri"/>
              <a:ea typeface="Calibri"/>
              <a:cs typeface="Calibri"/>
              <a:sym typeface="Calibri"/>
            </a:endParaRPr>
          </a:p>
        </p:txBody>
      </p:sp>
      <p:sp>
        <p:nvSpPr>
          <p:cNvPr id="401" name="Google Shape;401;p9"/>
          <p:cNvSpPr/>
          <p:nvPr/>
        </p:nvSpPr>
        <p:spPr>
          <a:xfrm>
            <a:off x="822960" y="4636008"/>
            <a:ext cx="4956048" cy="100584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232A46"/>
              </a:buClr>
              <a:buSzPts val="880"/>
              <a:buFont typeface="Calibri"/>
              <a:buNone/>
            </a:pPr>
            <a:r>
              <a:rPr b="1" i="0" lang="en-US" sz="980" u="none" cap="none" strike="noStrike">
                <a:solidFill>
                  <a:srgbClr val="232A46"/>
                </a:solidFill>
                <a:latin typeface="Calibri"/>
                <a:ea typeface="Calibri"/>
                <a:cs typeface="Calibri"/>
                <a:sym typeface="Calibri"/>
              </a:rPr>
              <a:t>PK / FK:  </a:t>
            </a:r>
            <a:r>
              <a:rPr b="0" i="0" lang="en-US" sz="980" u="none" cap="none" strike="noStrike">
                <a:solidFill>
                  <a:srgbClr val="6E7480"/>
                </a:solidFill>
                <a:latin typeface="Calibri"/>
                <a:ea typeface="Calibri"/>
                <a:cs typeface="Calibri"/>
                <a:sym typeface="Calibri"/>
              </a:rPr>
              <a:t>bütün entity-lərdə UUID PK; FK-lar cardinality ilə birlikdə sənədləşdirilib.</a:t>
            </a:r>
            <a:endParaRPr b="0" i="0" sz="980" u="none" cap="none" strike="noStrike">
              <a:solidFill>
                <a:schemeClr val="dk1"/>
              </a:solidFill>
              <a:latin typeface="Calibri"/>
              <a:ea typeface="Calibri"/>
              <a:cs typeface="Calibri"/>
              <a:sym typeface="Calibri"/>
            </a:endParaRPr>
          </a:p>
          <a:p>
            <a:pPr indent="0" lvl="0" marL="0" marR="0" rtl="0" algn="l">
              <a:lnSpc>
                <a:spcPct val="102000"/>
              </a:lnSpc>
              <a:spcBef>
                <a:spcPts val="400"/>
              </a:spcBef>
              <a:spcAft>
                <a:spcPts val="0"/>
              </a:spcAft>
              <a:buClr>
                <a:srgbClr val="232A46"/>
              </a:buClr>
              <a:buSzPts val="880"/>
              <a:buFont typeface="Calibri"/>
              <a:buNone/>
            </a:pPr>
            <a:r>
              <a:rPr b="1" i="0" lang="en-US" sz="980" u="none" cap="none" strike="noStrike">
                <a:solidFill>
                  <a:srgbClr val="232A46"/>
                </a:solidFill>
                <a:latin typeface="Calibri"/>
                <a:ea typeface="Calibri"/>
                <a:cs typeface="Calibri"/>
                <a:sym typeface="Calibri"/>
              </a:rPr>
              <a:t>Status sahələri:  </a:t>
            </a:r>
            <a:r>
              <a:rPr b="0" i="0" lang="en-US" sz="980" u="none" cap="none" strike="noStrike">
                <a:solidFill>
                  <a:srgbClr val="6E7480"/>
                </a:solidFill>
                <a:latin typeface="Calibri"/>
                <a:ea typeface="Calibri"/>
                <a:cs typeface="Calibri"/>
                <a:sym typeface="Calibri"/>
              </a:rPr>
              <a:t>Course, Course Instance, Enrollment, Assessment Result və Certificate üçün enum.</a:t>
            </a:r>
            <a:endParaRPr b="0" i="0" sz="980" u="none" cap="none" strike="noStrike">
              <a:solidFill>
                <a:schemeClr val="dk1"/>
              </a:solidFill>
              <a:latin typeface="Calibri"/>
              <a:ea typeface="Calibri"/>
              <a:cs typeface="Calibri"/>
              <a:sym typeface="Calibri"/>
            </a:endParaRPr>
          </a:p>
          <a:p>
            <a:pPr indent="0" lvl="0" marL="0" marR="0" rtl="0" algn="l">
              <a:lnSpc>
                <a:spcPct val="102000"/>
              </a:lnSpc>
              <a:spcBef>
                <a:spcPts val="400"/>
              </a:spcBef>
              <a:spcAft>
                <a:spcPts val="0"/>
              </a:spcAft>
              <a:buClr>
                <a:srgbClr val="232A46"/>
              </a:buClr>
              <a:buSzPts val="880"/>
              <a:buFont typeface="Calibri"/>
              <a:buNone/>
            </a:pPr>
            <a:r>
              <a:rPr b="1" i="0" lang="en-US" sz="980" u="none" cap="none" strike="noStrike">
                <a:solidFill>
                  <a:srgbClr val="232A46"/>
                </a:solidFill>
                <a:latin typeface="Calibri"/>
                <a:ea typeface="Calibri"/>
                <a:cs typeface="Calibri"/>
                <a:sym typeface="Calibri"/>
              </a:rPr>
              <a:t>Audit field-lər:  </a:t>
            </a:r>
            <a:r>
              <a:rPr b="0" i="0" lang="en-US" sz="980" u="none" cap="none" strike="noStrike">
                <a:solidFill>
                  <a:srgbClr val="6E7480"/>
                </a:solidFill>
                <a:latin typeface="Calibri"/>
                <a:ea typeface="Calibri"/>
                <a:cs typeface="Calibri"/>
                <a:sym typeface="Calibri"/>
              </a:rPr>
              <a:t>created_at / updated_at və AUDIT_LOG üzrə append-only iz.</a:t>
            </a:r>
            <a:endParaRPr b="0" i="0" sz="980" u="none" cap="none" strike="noStrike">
              <a:solidFill>
                <a:schemeClr val="dk1"/>
              </a:solidFill>
              <a:latin typeface="Calibri"/>
              <a:ea typeface="Calibri"/>
              <a:cs typeface="Calibri"/>
              <a:sym typeface="Calibri"/>
            </a:endParaRPr>
          </a:p>
        </p:txBody>
      </p:sp>
      <p:sp>
        <p:nvSpPr>
          <p:cNvPr id="402" name="Google Shape;402;p9"/>
          <p:cNvSpPr/>
          <p:nvPr/>
        </p:nvSpPr>
        <p:spPr>
          <a:xfrm>
            <a:off x="6227064" y="1417320"/>
            <a:ext cx="5321808" cy="4526280"/>
          </a:xfrm>
          <a:prstGeom prst="roundRect">
            <a:avLst>
              <a:gd fmla="val 1414"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9"/>
          <p:cNvSpPr/>
          <p:nvPr/>
        </p:nvSpPr>
        <p:spPr>
          <a:xfrm>
            <a:off x="6409944" y="1545336"/>
            <a:ext cx="495604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550" u="none" cap="none" strike="noStrike">
                <a:solidFill>
                  <a:srgbClr val="232A46"/>
                </a:solidFill>
                <a:latin typeface="Arial"/>
                <a:ea typeface="Arial"/>
                <a:cs typeface="Arial"/>
                <a:sym typeface="Arial"/>
              </a:rPr>
              <a:t>API Design</a:t>
            </a:r>
            <a:endParaRPr b="0" i="0" sz="1550" u="none" cap="none" strike="noStrike">
              <a:solidFill>
                <a:schemeClr val="dk1"/>
              </a:solidFill>
              <a:latin typeface="Calibri"/>
              <a:ea typeface="Calibri"/>
              <a:cs typeface="Calibri"/>
              <a:sym typeface="Calibri"/>
            </a:endParaRPr>
          </a:p>
        </p:txBody>
      </p:sp>
      <p:sp>
        <p:nvSpPr>
          <p:cNvPr id="404" name="Google Shape;404;p9"/>
          <p:cNvSpPr/>
          <p:nvPr/>
        </p:nvSpPr>
        <p:spPr>
          <a:xfrm>
            <a:off x="6409944" y="1911096"/>
            <a:ext cx="585216" cy="219456"/>
          </a:xfrm>
          <a:prstGeom prst="roundRect">
            <a:avLst>
              <a:gd fmla="val 16667" name="adj"/>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9"/>
          <p:cNvSpPr/>
          <p:nvPr/>
        </p:nvSpPr>
        <p:spPr>
          <a:xfrm>
            <a:off x="6409944" y="1911096"/>
            <a:ext cx="585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40"/>
              <a:buFont typeface="Calibri"/>
              <a:buNone/>
            </a:pPr>
            <a:r>
              <a:rPr b="1" i="0" lang="en-US" sz="940" u="none" cap="none" strike="noStrike">
                <a:solidFill>
                  <a:srgbClr val="FFFFFF"/>
                </a:solidFill>
                <a:latin typeface="Calibri"/>
                <a:ea typeface="Calibri"/>
                <a:cs typeface="Calibri"/>
                <a:sym typeface="Calibri"/>
              </a:rPr>
              <a:t>GET</a:t>
            </a:r>
            <a:endParaRPr b="0" i="0" sz="940" u="none" cap="none" strike="noStrike">
              <a:solidFill>
                <a:schemeClr val="dk1"/>
              </a:solidFill>
              <a:latin typeface="Calibri"/>
              <a:ea typeface="Calibri"/>
              <a:cs typeface="Calibri"/>
              <a:sym typeface="Calibri"/>
            </a:endParaRPr>
          </a:p>
        </p:txBody>
      </p:sp>
      <p:sp>
        <p:nvSpPr>
          <p:cNvPr id="406" name="Google Shape;406;p9"/>
          <p:cNvSpPr/>
          <p:nvPr/>
        </p:nvSpPr>
        <p:spPr>
          <a:xfrm>
            <a:off x="7104888" y="1911096"/>
            <a:ext cx="29809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60"/>
              <a:buFont typeface="Calibri"/>
              <a:buNone/>
            </a:pPr>
            <a:r>
              <a:rPr b="0" i="0" lang="en-US" sz="1060" u="none" cap="none" strike="noStrike">
                <a:solidFill>
                  <a:srgbClr val="232A46"/>
                </a:solidFill>
                <a:latin typeface="Calibri"/>
                <a:ea typeface="Calibri"/>
                <a:cs typeface="Calibri"/>
                <a:sym typeface="Calibri"/>
              </a:rPr>
              <a:t>/courses?status=eq.OPEN</a:t>
            </a:r>
            <a:endParaRPr b="0" i="0" sz="1060" u="none" cap="none" strike="noStrike">
              <a:solidFill>
                <a:schemeClr val="dk1"/>
              </a:solidFill>
              <a:latin typeface="Calibri"/>
              <a:ea typeface="Calibri"/>
              <a:cs typeface="Calibri"/>
              <a:sym typeface="Calibri"/>
            </a:endParaRPr>
          </a:p>
        </p:txBody>
      </p:sp>
      <p:sp>
        <p:nvSpPr>
          <p:cNvPr id="407" name="Google Shape;407;p9"/>
          <p:cNvSpPr/>
          <p:nvPr/>
        </p:nvSpPr>
        <p:spPr>
          <a:xfrm>
            <a:off x="10122408" y="1911096"/>
            <a:ext cx="12435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0" i="0" lang="en-US" sz="1020" u="none" cap="none" strike="noStrike">
                <a:solidFill>
                  <a:srgbClr val="8B909C"/>
                </a:solidFill>
                <a:latin typeface="Calibri"/>
                <a:ea typeface="Calibri"/>
                <a:cs typeface="Calibri"/>
                <a:sym typeface="Calibri"/>
              </a:rPr>
              <a:t>OPEN kurs kataloqu</a:t>
            </a:r>
            <a:endParaRPr b="0" i="0" sz="1020" u="none" cap="none" strike="noStrike">
              <a:solidFill>
                <a:schemeClr val="dk1"/>
              </a:solidFill>
              <a:latin typeface="Calibri"/>
              <a:ea typeface="Calibri"/>
              <a:cs typeface="Calibri"/>
              <a:sym typeface="Calibri"/>
            </a:endParaRPr>
          </a:p>
        </p:txBody>
      </p:sp>
      <p:sp>
        <p:nvSpPr>
          <p:cNvPr id="408" name="Google Shape;408;p9"/>
          <p:cNvSpPr/>
          <p:nvPr/>
        </p:nvSpPr>
        <p:spPr>
          <a:xfrm>
            <a:off x="6409944" y="2295144"/>
            <a:ext cx="585216" cy="219456"/>
          </a:xfrm>
          <a:prstGeom prst="roundRect">
            <a:avLst>
              <a:gd fmla="val 16667" name="adj"/>
            </a:avLst>
          </a:prstGeom>
          <a:solidFill>
            <a:srgbClr val="1F8A70"/>
          </a:solidFill>
          <a:ln cap="flat" cmpd="sng" w="12700">
            <a:solidFill>
              <a:srgbClr val="1F8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9"/>
          <p:cNvSpPr/>
          <p:nvPr/>
        </p:nvSpPr>
        <p:spPr>
          <a:xfrm>
            <a:off x="6409944" y="2295144"/>
            <a:ext cx="585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40"/>
              <a:buFont typeface="Calibri"/>
              <a:buNone/>
            </a:pPr>
            <a:r>
              <a:rPr b="1" i="0" lang="en-US" sz="940" u="none" cap="none" strike="noStrike">
                <a:solidFill>
                  <a:srgbClr val="FFFFFF"/>
                </a:solidFill>
                <a:latin typeface="Calibri"/>
                <a:ea typeface="Calibri"/>
                <a:cs typeface="Calibri"/>
                <a:sym typeface="Calibri"/>
              </a:rPr>
              <a:t>POST</a:t>
            </a:r>
            <a:endParaRPr b="0" i="0" sz="940" u="none" cap="none" strike="noStrike">
              <a:solidFill>
                <a:schemeClr val="dk1"/>
              </a:solidFill>
              <a:latin typeface="Calibri"/>
              <a:ea typeface="Calibri"/>
              <a:cs typeface="Calibri"/>
              <a:sym typeface="Calibri"/>
            </a:endParaRPr>
          </a:p>
        </p:txBody>
      </p:sp>
      <p:sp>
        <p:nvSpPr>
          <p:cNvPr id="410" name="Google Shape;410;p9"/>
          <p:cNvSpPr/>
          <p:nvPr/>
        </p:nvSpPr>
        <p:spPr>
          <a:xfrm>
            <a:off x="7104888" y="2295144"/>
            <a:ext cx="29809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60"/>
              <a:buFont typeface="Calibri"/>
              <a:buNone/>
            </a:pPr>
            <a:r>
              <a:rPr b="0" i="0" lang="en-US" sz="1060" u="none" cap="none" strike="noStrike">
                <a:solidFill>
                  <a:srgbClr val="232A46"/>
                </a:solidFill>
                <a:latin typeface="Calibri"/>
                <a:ea typeface="Calibri"/>
                <a:cs typeface="Calibri"/>
                <a:sym typeface="Calibri"/>
              </a:rPr>
              <a:t>/enrollments</a:t>
            </a:r>
            <a:endParaRPr b="0" i="0" sz="1060" u="none" cap="none" strike="noStrike">
              <a:solidFill>
                <a:schemeClr val="dk1"/>
              </a:solidFill>
              <a:latin typeface="Calibri"/>
              <a:ea typeface="Calibri"/>
              <a:cs typeface="Calibri"/>
              <a:sym typeface="Calibri"/>
            </a:endParaRPr>
          </a:p>
        </p:txBody>
      </p:sp>
      <p:sp>
        <p:nvSpPr>
          <p:cNvPr id="411" name="Google Shape;411;p9"/>
          <p:cNvSpPr/>
          <p:nvPr/>
        </p:nvSpPr>
        <p:spPr>
          <a:xfrm>
            <a:off x="10122408" y="2295144"/>
            <a:ext cx="12435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0" i="0" lang="en-US" sz="1020" u="none" cap="none" strike="noStrike">
                <a:solidFill>
                  <a:srgbClr val="8B909C"/>
                </a:solidFill>
                <a:latin typeface="Calibri"/>
                <a:ea typeface="Calibri"/>
                <a:cs typeface="Calibri"/>
                <a:sym typeface="Calibri"/>
              </a:rPr>
              <a:t>Yeni ACTIVE enrollment</a:t>
            </a:r>
            <a:endParaRPr b="0" i="0" sz="1020" u="none" cap="none" strike="noStrike">
              <a:solidFill>
                <a:schemeClr val="dk1"/>
              </a:solidFill>
              <a:latin typeface="Calibri"/>
              <a:ea typeface="Calibri"/>
              <a:cs typeface="Calibri"/>
              <a:sym typeface="Calibri"/>
            </a:endParaRPr>
          </a:p>
        </p:txBody>
      </p:sp>
      <p:sp>
        <p:nvSpPr>
          <p:cNvPr id="412" name="Google Shape;412;p9"/>
          <p:cNvSpPr/>
          <p:nvPr/>
        </p:nvSpPr>
        <p:spPr>
          <a:xfrm>
            <a:off x="6409944" y="2679192"/>
            <a:ext cx="585216" cy="219456"/>
          </a:xfrm>
          <a:prstGeom prst="roundRect">
            <a:avLst>
              <a:gd fmla="val 16667" name="adj"/>
            </a:avLst>
          </a:prstGeom>
          <a:solidFill>
            <a:srgbClr val="B9770E"/>
          </a:solidFill>
          <a:ln cap="flat" cmpd="sng" w="12700">
            <a:solidFill>
              <a:srgbClr val="B9770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9"/>
          <p:cNvSpPr/>
          <p:nvPr/>
        </p:nvSpPr>
        <p:spPr>
          <a:xfrm>
            <a:off x="6409944" y="2679192"/>
            <a:ext cx="585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40"/>
              <a:buFont typeface="Calibri"/>
              <a:buNone/>
            </a:pPr>
            <a:r>
              <a:rPr b="1" i="0" lang="en-US" sz="940" u="none" cap="none" strike="noStrike">
                <a:solidFill>
                  <a:srgbClr val="FFFFFF"/>
                </a:solidFill>
                <a:latin typeface="Calibri"/>
                <a:ea typeface="Calibri"/>
                <a:cs typeface="Calibri"/>
                <a:sym typeface="Calibri"/>
              </a:rPr>
              <a:t>PATCH</a:t>
            </a:r>
            <a:endParaRPr b="0" i="0" sz="940" u="none" cap="none" strike="noStrike">
              <a:solidFill>
                <a:schemeClr val="dk1"/>
              </a:solidFill>
              <a:latin typeface="Calibri"/>
              <a:ea typeface="Calibri"/>
              <a:cs typeface="Calibri"/>
              <a:sym typeface="Calibri"/>
            </a:endParaRPr>
          </a:p>
        </p:txBody>
      </p:sp>
      <p:sp>
        <p:nvSpPr>
          <p:cNvPr id="414" name="Google Shape;414;p9"/>
          <p:cNvSpPr/>
          <p:nvPr/>
        </p:nvSpPr>
        <p:spPr>
          <a:xfrm>
            <a:off x="7104888" y="2679192"/>
            <a:ext cx="29809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60"/>
              <a:buFont typeface="Calibri"/>
              <a:buNone/>
            </a:pPr>
            <a:r>
              <a:rPr b="0" i="0" lang="en-US" sz="1060" u="none" cap="none" strike="noStrike">
                <a:solidFill>
                  <a:srgbClr val="232A46"/>
                </a:solidFill>
                <a:latin typeface="Calibri"/>
                <a:ea typeface="Calibri"/>
                <a:cs typeface="Calibri"/>
                <a:sym typeface="Calibri"/>
              </a:rPr>
              <a:t>/enrollments?id=eq.{id}</a:t>
            </a:r>
            <a:endParaRPr b="0" i="0" sz="1060" u="none" cap="none" strike="noStrike">
              <a:solidFill>
                <a:schemeClr val="dk1"/>
              </a:solidFill>
              <a:latin typeface="Calibri"/>
              <a:ea typeface="Calibri"/>
              <a:cs typeface="Calibri"/>
              <a:sym typeface="Calibri"/>
            </a:endParaRPr>
          </a:p>
        </p:txBody>
      </p:sp>
      <p:sp>
        <p:nvSpPr>
          <p:cNvPr id="415" name="Google Shape;415;p9"/>
          <p:cNvSpPr/>
          <p:nvPr/>
        </p:nvSpPr>
        <p:spPr>
          <a:xfrm>
            <a:off x="10122408" y="2679192"/>
            <a:ext cx="12435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0" i="0" lang="en-US" sz="1020" u="none" cap="none" strike="noStrike">
                <a:solidFill>
                  <a:srgbClr val="8B909C"/>
                </a:solidFill>
                <a:latin typeface="Calibri"/>
                <a:ea typeface="Calibri"/>
                <a:cs typeface="Calibri"/>
                <a:sym typeface="Calibri"/>
              </a:rPr>
              <a:t>CANCELLED statusuna keçid</a:t>
            </a:r>
            <a:endParaRPr b="0" i="0" sz="1020" u="none" cap="none" strike="noStrike">
              <a:solidFill>
                <a:schemeClr val="dk1"/>
              </a:solidFill>
              <a:latin typeface="Calibri"/>
              <a:ea typeface="Calibri"/>
              <a:cs typeface="Calibri"/>
              <a:sym typeface="Calibri"/>
            </a:endParaRPr>
          </a:p>
        </p:txBody>
      </p:sp>
      <p:sp>
        <p:nvSpPr>
          <p:cNvPr id="416" name="Google Shape;416;p9"/>
          <p:cNvSpPr/>
          <p:nvPr/>
        </p:nvSpPr>
        <p:spPr>
          <a:xfrm>
            <a:off x="6409944" y="3063240"/>
            <a:ext cx="585216" cy="219456"/>
          </a:xfrm>
          <a:prstGeom prst="roundRect">
            <a:avLst>
              <a:gd fmla="val 16667" name="adj"/>
            </a:avLst>
          </a:prstGeom>
          <a:solidFill>
            <a:srgbClr val="1F8A70"/>
          </a:solidFill>
          <a:ln cap="flat" cmpd="sng" w="12700">
            <a:solidFill>
              <a:srgbClr val="1F8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9"/>
          <p:cNvSpPr/>
          <p:nvPr/>
        </p:nvSpPr>
        <p:spPr>
          <a:xfrm>
            <a:off x="6409944" y="3063240"/>
            <a:ext cx="585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40"/>
              <a:buFont typeface="Calibri"/>
              <a:buNone/>
            </a:pPr>
            <a:r>
              <a:rPr b="1" i="0" lang="en-US" sz="940" u="none" cap="none" strike="noStrike">
                <a:solidFill>
                  <a:srgbClr val="FFFFFF"/>
                </a:solidFill>
                <a:latin typeface="Calibri"/>
                <a:ea typeface="Calibri"/>
                <a:cs typeface="Calibri"/>
                <a:sym typeface="Calibri"/>
              </a:rPr>
              <a:t>POST</a:t>
            </a:r>
            <a:endParaRPr b="0" i="0" sz="940" u="none" cap="none" strike="noStrike">
              <a:solidFill>
                <a:schemeClr val="dk1"/>
              </a:solidFill>
              <a:latin typeface="Calibri"/>
              <a:ea typeface="Calibri"/>
              <a:cs typeface="Calibri"/>
              <a:sym typeface="Calibri"/>
            </a:endParaRPr>
          </a:p>
        </p:txBody>
      </p:sp>
      <p:sp>
        <p:nvSpPr>
          <p:cNvPr id="418" name="Google Shape;418;p9"/>
          <p:cNvSpPr/>
          <p:nvPr/>
        </p:nvSpPr>
        <p:spPr>
          <a:xfrm>
            <a:off x="7104888" y="3063240"/>
            <a:ext cx="29809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60"/>
              <a:buFont typeface="Calibri"/>
              <a:buNone/>
            </a:pPr>
            <a:r>
              <a:rPr b="0" i="0" lang="en-US" sz="1060" u="none" cap="none" strike="noStrike">
                <a:solidFill>
                  <a:srgbClr val="232A46"/>
                </a:solidFill>
                <a:latin typeface="Calibri"/>
                <a:ea typeface="Calibri"/>
                <a:cs typeface="Calibri"/>
                <a:sym typeface="Calibri"/>
              </a:rPr>
              <a:t>/attendance</a:t>
            </a:r>
            <a:endParaRPr b="0" i="0" sz="1060" u="none" cap="none" strike="noStrike">
              <a:solidFill>
                <a:schemeClr val="dk1"/>
              </a:solidFill>
              <a:latin typeface="Calibri"/>
              <a:ea typeface="Calibri"/>
              <a:cs typeface="Calibri"/>
              <a:sym typeface="Calibri"/>
            </a:endParaRPr>
          </a:p>
        </p:txBody>
      </p:sp>
      <p:sp>
        <p:nvSpPr>
          <p:cNvPr id="419" name="Google Shape;419;p9"/>
          <p:cNvSpPr/>
          <p:nvPr/>
        </p:nvSpPr>
        <p:spPr>
          <a:xfrm>
            <a:off x="10122408" y="3063240"/>
            <a:ext cx="12435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0" i="0" lang="en-US" sz="1020" u="none" cap="none" strike="noStrike">
                <a:solidFill>
                  <a:srgbClr val="8B909C"/>
                </a:solidFill>
                <a:latin typeface="Calibri"/>
                <a:ea typeface="Calibri"/>
                <a:cs typeface="Calibri"/>
                <a:sym typeface="Calibri"/>
              </a:rPr>
              <a:t>Davamiyyət qeydi</a:t>
            </a:r>
            <a:endParaRPr b="0" i="0" sz="1020" u="none" cap="none" strike="noStrike">
              <a:solidFill>
                <a:schemeClr val="dk1"/>
              </a:solidFill>
              <a:latin typeface="Calibri"/>
              <a:ea typeface="Calibri"/>
              <a:cs typeface="Calibri"/>
              <a:sym typeface="Calibri"/>
            </a:endParaRPr>
          </a:p>
        </p:txBody>
      </p:sp>
      <p:sp>
        <p:nvSpPr>
          <p:cNvPr id="420" name="Google Shape;420;p9"/>
          <p:cNvSpPr/>
          <p:nvPr/>
        </p:nvSpPr>
        <p:spPr>
          <a:xfrm>
            <a:off x="6409944" y="3447288"/>
            <a:ext cx="585216" cy="219456"/>
          </a:xfrm>
          <a:prstGeom prst="roundRect">
            <a:avLst>
              <a:gd fmla="val 16667" name="adj"/>
            </a:avLst>
          </a:prstGeom>
          <a:solidFill>
            <a:srgbClr val="1F8A70"/>
          </a:solidFill>
          <a:ln cap="flat" cmpd="sng" w="12700">
            <a:solidFill>
              <a:srgbClr val="1F8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9"/>
          <p:cNvSpPr/>
          <p:nvPr/>
        </p:nvSpPr>
        <p:spPr>
          <a:xfrm>
            <a:off x="6409944" y="3447288"/>
            <a:ext cx="585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40"/>
              <a:buFont typeface="Calibri"/>
              <a:buNone/>
            </a:pPr>
            <a:r>
              <a:rPr b="1" i="0" lang="en-US" sz="940" u="none" cap="none" strike="noStrike">
                <a:solidFill>
                  <a:srgbClr val="FFFFFF"/>
                </a:solidFill>
                <a:latin typeface="Calibri"/>
                <a:ea typeface="Calibri"/>
                <a:cs typeface="Calibri"/>
                <a:sym typeface="Calibri"/>
              </a:rPr>
              <a:t>POST</a:t>
            </a:r>
            <a:endParaRPr b="0" i="0" sz="940" u="none" cap="none" strike="noStrike">
              <a:solidFill>
                <a:schemeClr val="dk1"/>
              </a:solidFill>
              <a:latin typeface="Calibri"/>
              <a:ea typeface="Calibri"/>
              <a:cs typeface="Calibri"/>
              <a:sym typeface="Calibri"/>
            </a:endParaRPr>
          </a:p>
        </p:txBody>
      </p:sp>
      <p:sp>
        <p:nvSpPr>
          <p:cNvPr id="422" name="Google Shape;422;p9"/>
          <p:cNvSpPr/>
          <p:nvPr/>
        </p:nvSpPr>
        <p:spPr>
          <a:xfrm>
            <a:off x="7104888" y="3447288"/>
            <a:ext cx="29809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60"/>
              <a:buFont typeface="Calibri"/>
              <a:buNone/>
            </a:pPr>
            <a:r>
              <a:rPr b="0" i="0" lang="en-US" sz="1060" u="none" cap="none" strike="noStrike">
                <a:solidFill>
                  <a:srgbClr val="232A46"/>
                </a:solidFill>
                <a:latin typeface="Calibri"/>
                <a:ea typeface="Calibri"/>
                <a:cs typeface="Calibri"/>
                <a:sym typeface="Calibri"/>
              </a:rPr>
              <a:t>/assessment_results</a:t>
            </a:r>
            <a:endParaRPr b="0" i="0" sz="1060" u="none" cap="none" strike="noStrike">
              <a:solidFill>
                <a:schemeClr val="dk1"/>
              </a:solidFill>
              <a:latin typeface="Calibri"/>
              <a:ea typeface="Calibri"/>
              <a:cs typeface="Calibri"/>
              <a:sym typeface="Calibri"/>
            </a:endParaRPr>
          </a:p>
        </p:txBody>
      </p:sp>
      <p:sp>
        <p:nvSpPr>
          <p:cNvPr id="423" name="Google Shape;423;p9"/>
          <p:cNvSpPr/>
          <p:nvPr/>
        </p:nvSpPr>
        <p:spPr>
          <a:xfrm>
            <a:off x="10122408" y="3447288"/>
            <a:ext cx="12435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0" i="0" lang="en-US" sz="1020" u="none" cap="none" strike="noStrike">
                <a:solidFill>
                  <a:srgbClr val="8B909C"/>
                </a:solidFill>
                <a:latin typeface="Calibri"/>
                <a:ea typeface="Calibri"/>
                <a:cs typeface="Calibri"/>
                <a:sym typeface="Calibri"/>
              </a:rPr>
              <a:t>Qiymətləndirmə nəticəsi</a:t>
            </a:r>
            <a:endParaRPr b="0" i="0" sz="1020" u="none" cap="none" strike="noStrike">
              <a:solidFill>
                <a:schemeClr val="dk1"/>
              </a:solidFill>
              <a:latin typeface="Calibri"/>
              <a:ea typeface="Calibri"/>
              <a:cs typeface="Calibri"/>
              <a:sym typeface="Calibri"/>
            </a:endParaRPr>
          </a:p>
        </p:txBody>
      </p:sp>
      <p:sp>
        <p:nvSpPr>
          <p:cNvPr id="424" name="Google Shape;424;p9"/>
          <p:cNvSpPr/>
          <p:nvPr/>
        </p:nvSpPr>
        <p:spPr>
          <a:xfrm>
            <a:off x="6409944" y="3831336"/>
            <a:ext cx="585216" cy="219456"/>
          </a:xfrm>
          <a:prstGeom prst="roundRect">
            <a:avLst>
              <a:gd fmla="val 16667" name="adj"/>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9"/>
          <p:cNvSpPr/>
          <p:nvPr/>
        </p:nvSpPr>
        <p:spPr>
          <a:xfrm>
            <a:off x="6409944" y="3831336"/>
            <a:ext cx="585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40"/>
              <a:buFont typeface="Calibri"/>
              <a:buNone/>
            </a:pPr>
            <a:r>
              <a:rPr b="1" i="0" lang="en-US" sz="940" u="none" cap="none" strike="noStrike">
                <a:solidFill>
                  <a:srgbClr val="FFFFFF"/>
                </a:solidFill>
                <a:latin typeface="Calibri"/>
                <a:ea typeface="Calibri"/>
                <a:cs typeface="Calibri"/>
                <a:sym typeface="Calibri"/>
              </a:rPr>
              <a:t>GET</a:t>
            </a:r>
            <a:endParaRPr b="0" i="0" sz="940" u="none" cap="none" strike="noStrike">
              <a:solidFill>
                <a:schemeClr val="dk1"/>
              </a:solidFill>
              <a:latin typeface="Calibri"/>
              <a:ea typeface="Calibri"/>
              <a:cs typeface="Calibri"/>
              <a:sym typeface="Calibri"/>
            </a:endParaRPr>
          </a:p>
        </p:txBody>
      </p:sp>
      <p:sp>
        <p:nvSpPr>
          <p:cNvPr id="426" name="Google Shape;426;p9"/>
          <p:cNvSpPr/>
          <p:nvPr/>
        </p:nvSpPr>
        <p:spPr>
          <a:xfrm>
            <a:off x="7104888" y="3831336"/>
            <a:ext cx="29809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860"/>
              <a:buFont typeface="Calibri"/>
              <a:buNone/>
            </a:pPr>
            <a:r>
              <a:rPr b="0" i="0" lang="en-US" sz="1060" u="none" cap="none" strike="noStrike">
                <a:solidFill>
                  <a:srgbClr val="232A46"/>
                </a:solidFill>
                <a:latin typeface="Calibri"/>
                <a:ea typeface="Calibri"/>
                <a:cs typeface="Calibri"/>
                <a:sym typeface="Calibri"/>
              </a:rPr>
              <a:t>/certificates?verification_code=eq.{code}</a:t>
            </a:r>
            <a:endParaRPr b="0" i="0" sz="1060" u="none" cap="none" strike="noStrike">
              <a:solidFill>
                <a:schemeClr val="dk1"/>
              </a:solidFill>
              <a:latin typeface="Calibri"/>
              <a:ea typeface="Calibri"/>
              <a:cs typeface="Calibri"/>
              <a:sym typeface="Calibri"/>
            </a:endParaRPr>
          </a:p>
        </p:txBody>
      </p:sp>
      <p:sp>
        <p:nvSpPr>
          <p:cNvPr id="427" name="Google Shape;427;p9"/>
          <p:cNvSpPr/>
          <p:nvPr/>
        </p:nvSpPr>
        <p:spPr>
          <a:xfrm>
            <a:off x="10122408" y="3831336"/>
            <a:ext cx="12435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0" i="0" lang="en-US" sz="1020" u="none" cap="none" strike="noStrike">
                <a:solidFill>
                  <a:srgbClr val="8B909C"/>
                </a:solidFill>
                <a:latin typeface="Calibri"/>
                <a:ea typeface="Calibri"/>
                <a:cs typeface="Calibri"/>
                <a:sym typeface="Calibri"/>
              </a:rPr>
              <a:t>Public verification</a:t>
            </a:r>
            <a:endParaRPr b="0" i="0" sz="1020" u="none" cap="none" strike="noStrike">
              <a:solidFill>
                <a:schemeClr val="dk1"/>
              </a:solidFill>
              <a:latin typeface="Calibri"/>
              <a:ea typeface="Calibri"/>
              <a:cs typeface="Calibri"/>
              <a:sym typeface="Calibri"/>
            </a:endParaRPr>
          </a:p>
        </p:txBody>
      </p:sp>
      <p:sp>
        <p:nvSpPr>
          <p:cNvPr id="428" name="Google Shape;428;p9"/>
          <p:cNvSpPr/>
          <p:nvPr/>
        </p:nvSpPr>
        <p:spPr>
          <a:xfrm>
            <a:off x="6409944" y="4288536"/>
            <a:ext cx="2377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6BFF"/>
              </a:buClr>
              <a:buSzPts val="860"/>
              <a:buFont typeface="Calibri"/>
              <a:buNone/>
            </a:pPr>
            <a:r>
              <a:rPr b="1" i="0" lang="en-US" sz="1060" u="none" cap="none" strike="noStrike">
                <a:solidFill>
                  <a:srgbClr val="2F6BFF"/>
                </a:solidFill>
                <a:latin typeface="Calibri"/>
                <a:ea typeface="Calibri"/>
                <a:cs typeface="Calibri"/>
                <a:sym typeface="Calibri"/>
              </a:rPr>
              <a:t>POST /enrollments — request</a:t>
            </a:r>
            <a:endParaRPr b="0" i="0" sz="1060" u="none" cap="none" strike="noStrike">
              <a:solidFill>
                <a:schemeClr val="dk1"/>
              </a:solidFill>
              <a:latin typeface="Calibri"/>
              <a:ea typeface="Calibri"/>
              <a:cs typeface="Calibri"/>
              <a:sym typeface="Calibri"/>
            </a:endParaRPr>
          </a:p>
        </p:txBody>
      </p:sp>
      <p:sp>
        <p:nvSpPr>
          <p:cNvPr id="429" name="Google Shape;429;p9"/>
          <p:cNvSpPr/>
          <p:nvPr/>
        </p:nvSpPr>
        <p:spPr>
          <a:xfrm>
            <a:off x="6409944" y="4507992"/>
            <a:ext cx="2395728" cy="786384"/>
          </a:xfrm>
          <a:prstGeom prst="roundRect">
            <a:avLst>
              <a:gd fmla="val 5814" name="adj"/>
            </a:avLst>
          </a:prstGeom>
          <a:solidFill>
            <a:srgbClr val="F4F6FB"/>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9"/>
          <p:cNvSpPr/>
          <p:nvPr/>
        </p:nvSpPr>
        <p:spPr>
          <a:xfrm>
            <a:off x="6519672" y="4581144"/>
            <a:ext cx="2194560"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586E"/>
              </a:buClr>
              <a:buSzPts val="760"/>
              <a:buFont typeface="Calibri"/>
              <a:buNone/>
            </a:pPr>
            <a:r>
              <a:rPr b="0" i="0" lang="en-US" sz="960" u="none" cap="none" strike="noStrike">
                <a:solidFill>
                  <a:srgbClr val="46586E"/>
                </a:solidFill>
                <a:latin typeface="Calibri"/>
                <a:ea typeface="Calibri"/>
                <a:cs typeface="Calibri"/>
                <a:sym typeface="Calibri"/>
              </a:rPr>
              <a:t>{</a:t>
            </a:r>
            <a:endParaRPr b="0" i="0" sz="96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6586E"/>
              </a:buClr>
              <a:buSzPts val="760"/>
              <a:buFont typeface="Calibri"/>
              <a:buNone/>
            </a:pPr>
            <a:r>
              <a:rPr b="0" i="0" lang="en-US" sz="960" u="none" cap="none" strike="noStrike">
                <a:solidFill>
                  <a:srgbClr val="46586E"/>
                </a:solidFill>
                <a:latin typeface="Calibri"/>
                <a:ea typeface="Calibri"/>
                <a:cs typeface="Calibri"/>
                <a:sym typeface="Calibri"/>
              </a:rPr>
              <a:t>  "student_id": "48f443e4-…",</a:t>
            </a:r>
            <a:endParaRPr b="0" i="0" sz="96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6586E"/>
              </a:buClr>
              <a:buSzPts val="760"/>
              <a:buFont typeface="Calibri"/>
              <a:buNone/>
            </a:pPr>
            <a:r>
              <a:rPr b="0" i="0" lang="en-US" sz="960" u="none" cap="none" strike="noStrike">
                <a:solidFill>
                  <a:srgbClr val="46586E"/>
                </a:solidFill>
                <a:latin typeface="Calibri"/>
                <a:ea typeface="Calibri"/>
                <a:cs typeface="Calibri"/>
                <a:sym typeface="Calibri"/>
              </a:rPr>
              <a:t>  "course_instance_id": "d492994c-…"</a:t>
            </a:r>
            <a:endParaRPr b="0" i="0" sz="96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6586E"/>
              </a:buClr>
              <a:buSzPts val="760"/>
              <a:buFont typeface="Calibri"/>
              <a:buNone/>
            </a:pPr>
            <a:r>
              <a:rPr b="0" i="0" lang="en-US" sz="960" u="none" cap="none" strike="noStrike">
                <a:solidFill>
                  <a:srgbClr val="46586E"/>
                </a:solidFill>
                <a:latin typeface="Calibri"/>
                <a:ea typeface="Calibri"/>
                <a:cs typeface="Calibri"/>
                <a:sym typeface="Calibri"/>
              </a:rPr>
              <a:t>}</a:t>
            </a:r>
            <a:endParaRPr b="0" i="0" sz="960" u="none" cap="none" strike="noStrike">
              <a:solidFill>
                <a:schemeClr val="dk1"/>
              </a:solidFill>
              <a:latin typeface="Calibri"/>
              <a:ea typeface="Calibri"/>
              <a:cs typeface="Calibri"/>
              <a:sym typeface="Calibri"/>
            </a:endParaRPr>
          </a:p>
        </p:txBody>
      </p:sp>
      <p:sp>
        <p:nvSpPr>
          <p:cNvPr id="431" name="Google Shape;431;p9"/>
          <p:cNvSpPr/>
          <p:nvPr/>
        </p:nvSpPr>
        <p:spPr>
          <a:xfrm>
            <a:off x="8970264" y="4288536"/>
            <a:ext cx="2377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0392B"/>
              </a:buClr>
              <a:buSzPts val="860"/>
              <a:buFont typeface="Calibri"/>
              <a:buNone/>
            </a:pPr>
            <a:r>
              <a:rPr b="1" i="0" lang="en-US" sz="1060" u="none" cap="none" strike="noStrike">
                <a:solidFill>
                  <a:srgbClr val="C0392B"/>
                </a:solidFill>
                <a:latin typeface="Calibri"/>
                <a:ea typeface="Calibri"/>
                <a:cs typeface="Calibri"/>
                <a:sym typeface="Calibri"/>
              </a:rPr>
              <a:t>409 Conflict — BR-008 pozuntusu</a:t>
            </a:r>
            <a:endParaRPr b="0" i="0" sz="1060" u="none" cap="none" strike="noStrike">
              <a:solidFill>
                <a:schemeClr val="dk1"/>
              </a:solidFill>
              <a:latin typeface="Calibri"/>
              <a:ea typeface="Calibri"/>
              <a:cs typeface="Calibri"/>
              <a:sym typeface="Calibri"/>
            </a:endParaRPr>
          </a:p>
        </p:txBody>
      </p:sp>
      <p:sp>
        <p:nvSpPr>
          <p:cNvPr id="432" name="Google Shape;432;p9"/>
          <p:cNvSpPr/>
          <p:nvPr/>
        </p:nvSpPr>
        <p:spPr>
          <a:xfrm>
            <a:off x="8970264" y="4507992"/>
            <a:ext cx="2395728" cy="786384"/>
          </a:xfrm>
          <a:prstGeom prst="roundRect">
            <a:avLst>
              <a:gd fmla="val 5814" name="adj"/>
            </a:avLst>
          </a:prstGeom>
          <a:solidFill>
            <a:srgbClr val="FDF4F2"/>
          </a:solidFill>
          <a:ln cap="flat" cmpd="sng" w="12700">
            <a:solidFill>
              <a:srgbClr val="F3DC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9"/>
          <p:cNvSpPr/>
          <p:nvPr/>
        </p:nvSpPr>
        <p:spPr>
          <a:xfrm>
            <a:off x="9079992" y="4562856"/>
            <a:ext cx="2194560" cy="69494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8C4A3E"/>
              </a:buClr>
              <a:buSzPts val="720"/>
              <a:buFont typeface="Calibri"/>
              <a:buNone/>
            </a:pPr>
            <a:r>
              <a:rPr b="0" i="0" lang="en-US" sz="920" u="none" cap="none" strike="noStrike">
                <a:solidFill>
                  <a:srgbClr val="8C4A3E"/>
                </a:solidFill>
                <a:latin typeface="Calibri"/>
                <a:ea typeface="Calibri"/>
                <a:cs typeface="Calibri"/>
                <a:sym typeface="Calibri"/>
              </a:rPr>
              <a:t>{</a:t>
            </a:r>
            <a:endParaRPr b="0" i="0" sz="92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8C4A3E"/>
              </a:buClr>
              <a:buSzPts val="720"/>
              <a:buFont typeface="Calibri"/>
              <a:buNone/>
            </a:pPr>
            <a:r>
              <a:rPr b="0" i="0" lang="en-US" sz="920" u="none" cap="none" strike="noStrike">
                <a:solidFill>
                  <a:srgbClr val="8C4A3E"/>
                </a:solidFill>
                <a:latin typeface="Calibri"/>
                <a:ea typeface="Calibri"/>
                <a:cs typeface="Calibri"/>
                <a:sym typeface="Calibri"/>
              </a:rPr>
              <a:t>  "code": "23505",</a:t>
            </a:r>
            <a:endParaRPr b="0" i="0" sz="92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8C4A3E"/>
              </a:buClr>
              <a:buSzPts val="720"/>
              <a:buFont typeface="Calibri"/>
              <a:buNone/>
            </a:pPr>
            <a:r>
              <a:rPr b="0" i="0" lang="en-US" sz="920" u="none" cap="none" strike="noStrike">
                <a:solidFill>
                  <a:srgbClr val="8C4A3E"/>
                </a:solidFill>
                <a:latin typeface="Calibri"/>
                <a:ea typeface="Calibri"/>
                <a:cs typeface="Calibri"/>
                <a:sym typeface="Calibri"/>
              </a:rPr>
              <a:t>  "message": "duplicate key value violates</a:t>
            </a:r>
            <a:endParaRPr b="0" i="0" sz="92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8C4A3E"/>
              </a:buClr>
              <a:buSzPts val="720"/>
              <a:buFont typeface="Calibri"/>
              <a:buNone/>
            </a:pPr>
            <a:r>
              <a:rPr b="0" i="0" lang="en-US" sz="920" u="none" cap="none" strike="noStrike">
                <a:solidFill>
                  <a:srgbClr val="8C4A3E"/>
                </a:solidFill>
                <a:latin typeface="Calibri"/>
                <a:ea typeface="Calibri"/>
                <a:cs typeface="Calibri"/>
                <a:sym typeface="Calibri"/>
              </a:rPr>
              <a:t>   unique constraint \"uq_active_enrollment\""</a:t>
            </a:r>
            <a:endParaRPr b="0" i="0" sz="92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8C4A3E"/>
              </a:buClr>
              <a:buSzPts val="720"/>
              <a:buFont typeface="Calibri"/>
              <a:buNone/>
            </a:pPr>
            <a:r>
              <a:rPr b="0" i="0" lang="en-US" sz="920" u="none" cap="none" strike="noStrike">
                <a:solidFill>
                  <a:srgbClr val="8C4A3E"/>
                </a:solidFill>
                <a:latin typeface="Calibri"/>
                <a:ea typeface="Calibri"/>
                <a:cs typeface="Calibri"/>
                <a:sym typeface="Calibri"/>
              </a:rPr>
              <a:t>}</a:t>
            </a:r>
            <a:endParaRPr b="0" i="0" sz="920" u="none" cap="none" strike="noStrike">
              <a:solidFill>
                <a:schemeClr val="dk1"/>
              </a:solidFill>
              <a:latin typeface="Calibri"/>
              <a:ea typeface="Calibri"/>
              <a:cs typeface="Calibri"/>
              <a:sym typeface="Calibri"/>
            </a:endParaRPr>
          </a:p>
        </p:txBody>
      </p:sp>
      <p:sp>
        <p:nvSpPr>
          <p:cNvPr id="434" name="Google Shape;434;p9"/>
          <p:cNvSpPr/>
          <p:nvPr/>
        </p:nvSpPr>
        <p:spPr>
          <a:xfrm>
            <a:off x="6409944" y="5404104"/>
            <a:ext cx="4956048"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60"/>
              <a:buFont typeface="Calibri"/>
              <a:buNone/>
            </a:pPr>
            <a:r>
              <a:rPr b="0" i="1" lang="en-US" sz="860" u="none" cap="none" strike="noStrike">
                <a:solidFill>
                  <a:srgbClr val="8B909C"/>
                </a:solidFill>
                <a:latin typeface="Calibri"/>
                <a:ea typeface="Calibri"/>
                <a:cs typeface="Calibri"/>
                <a:sym typeface="Calibri"/>
              </a:rPr>
              <a:t>Supabase REST API · OpenAPI 3.0.3 spesifikasiyası Swagger Editor-də validasiya edilib.</a:t>
            </a:r>
            <a:endParaRPr b="0" i="0" sz="860" u="none" cap="none" strike="noStrike">
              <a:solidFill>
                <a:schemeClr val="dk1"/>
              </a:solidFill>
              <a:latin typeface="Calibri"/>
              <a:ea typeface="Calibri"/>
              <a:cs typeface="Calibri"/>
              <a:sym typeface="Calibri"/>
            </a:endParaRPr>
          </a:p>
        </p:txBody>
      </p:sp>
      <p:sp>
        <p:nvSpPr>
          <p:cNvPr id="435" name="Google Shape;435;p9"/>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9"/>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437" name="Google Shape;437;p9"/>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9</a:t>
            </a:r>
            <a:endParaRPr b="0" i="0" sz="850" u="none" cap="none" strike="noStrike">
              <a:solidFill>
                <a:schemeClr val="dk1"/>
              </a:solidFill>
              <a:latin typeface="Calibri"/>
              <a:ea typeface="Calibri"/>
              <a:cs typeface="Calibri"/>
              <a:sym typeface="Calibri"/>
            </a:endParaRPr>
          </a:p>
        </p:txBody>
      </p:sp>
      <p:sp>
        <p:nvSpPr>
          <p:cNvPr id="438" name="Google Shape;438;p9"/>
          <p:cNvSpPr/>
          <p:nvPr/>
        </p:nvSpPr>
        <p:spPr>
          <a:xfrm>
            <a:off x="-240" y="2606053"/>
            <a:ext cx="676800" cy="420600"/>
          </a:xfrm>
          <a:prstGeom prst="roundRect">
            <a:avLst>
              <a:gd fmla="val 10870"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232A46"/>
              </a:buClr>
              <a:buSzPts val="839"/>
              <a:buFont typeface="Calibri"/>
              <a:buNone/>
            </a:pPr>
            <a:r>
              <a:rPr b="1" lang="en-US" sz="1040">
                <a:solidFill>
                  <a:srgbClr val="232A46"/>
                </a:solidFill>
                <a:latin typeface="Calibri"/>
                <a:ea typeface="Calibri"/>
                <a:cs typeface="Calibri"/>
                <a:sym typeface="Calibri"/>
              </a:rPr>
              <a:t>ADMIN</a:t>
            </a:r>
            <a:endParaRPr b="1" sz="1040">
              <a:solidFill>
                <a:srgbClr val="232A46"/>
              </a:solidFill>
              <a:latin typeface="Calibri"/>
              <a:ea typeface="Calibri"/>
              <a:cs typeface="Calibri"/>
              <a:sym typeface="Calibri"/>
            </a:endParaRPr>
          </a:p>
          <a:p>
            <a:pPr indent="0" lvl="0" marL="0" rtl="0" algn="l">
              <a:spcBef>
                <a:spcPts val="0"/>
              </a:spcBef>
              <a:spcAft>
                <a:spcPts val="0"/>
              </a:spcAft>
              <a:buClr>
                <a:srgbClr val="8B909C"/>
              </a:buClr>
              <a:buSzPts val="700"/>
              <a:buFont typeface="Calibri"/>
              <a:buNone/>
            </a:pPr>
            <a:r>
              <a:rPr lang="en-US" sz="800">
                <a:solidFill>
                  <a:srgbClr val="8B909C"/>
                </a:solidFill>
                <a:latin typeface="Calibri"/>
                <a:ea typeface="Calibri"/>
                <a:cs typeface="Calibri"/>
                <a:sym typeface="Calibri"/>
              </a:rPr>
              <a:t>     </a:t>
            </a:r>
            <a:r>
              <a:rPr lang="en-US" sz="800">
                <a:solidFill>
                  <a:srgbClr val="8B909C"/>
                </a:solidFill>
                <a:latin typeface="Calibri"/>
                <a:ea typeface="Calibri"/>
                <a:cs typeface="Calibri"/>
                <a:sym typeface="Calibri"/>
              </a:rPr>
              <a:t>1:0..1</a:t>
            </a:r>
            <a:endParaRPr b="1" sz="1040">
              <a:solidFill>
                <a:srgbClr val="232A46"/>
              </a:solidFill>
              <a:latin typeface="Calibri"/>
              <a:ea typeface="Calibri"/>
              <a:cs typeface="Calibri"/>
              <a:sym typeface="Calibri"/>
            </a:endParaRPr>
          </a:p>
        </p:txBody>
      </p:sp>
      <p:sp>
        <p:nvSpPr>
          <p:cNvPr id="439" name="Google Shape;439;p9"/>
          <p:cNvSpPr/>
          <p:nvPr/>
        </p:nvSpPr>
        <p:spPr>
          <a:xfrm flipH="1">
            <a:off x="320030" y="2107853"/>
            <a:ext cx="20100" cy="457200"/>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9"/>
          <p:cNvSpPr/>
          <p:nvPr/>
        </p:nvSpPr>
        <p:spPr>
          <a:xfrm flipH="1" rot="5400000">
            <a:off x="556506" y="1864613"/>
            <a:ext cx="14700" cy="548700"/>
          </a:xfrm>
          <a:prstGeom prst="rect">
            <a:avLst/>
          </a:prstGeom>
          <a:solidFill>
            <a:srgbClr val="C6D2E0"/>
          </a:solidFill>
          <a:ln cap="flat" cmpd="sng" w="12700">
            <a:solidFill>
              <a:srgbClr val="C6D2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445" name="Shape 445"/>
        <p:cNvGrpSpPr/>
        <p:nvPr/>
      </p:nvGrpSpPr>
      <p:grpSpPr>
        <a:xfrm>
          <a:off x="0" y="0"/>
          <a:ext cx="0" cy="0"/>
          <a:chOff x="0" y="0"/>
          <a:chExt cx="0" cy="0"/>
        </a:xfrm>
      </p:grpSpPr>
      <p:sp>
        <p:nvSpPr>
          <p:cNvPr id="446" name="Google Shape;446;p16"/>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6"/>
          <p:cNvSpPr/>
          <p:nvPr/>
        </p:nvSpPr>
        <p:spPr>
          <a:xfrm>
            <a:off x="239668" y="199339"/>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232A46"/>
                </a:solidFill>
                <a:latin typeface="Arial"/>
                <a:ea typeface="Arial"/>
                <a:cs typeface="Arial"/>
                <a:sym typeface="Arial"/>
              </a:rPr>
              <a:t>09 — SQL Sorğuları</a:t>
            </a:r>
            <a:endParaRPr b="0" i="0" sz="2500" u="none" cap="none" strike="noStrike">
              <a:solidFill>
                <a:srgbClr val="000000"/>
              </a:solidFill>
              <a:latin typeface="Calibri"/>
              <a:ea typeface="Calibri"/>
              <a:cs typeface="Calibri"/>
              <a:sym typeface="Calibri"/>
            </a:endParaRPr>
          </a:p>
        </p:txBody>
      </p:sp>
      <p:sp>
        <p:nvSpPr>
          <p:cNvPr id="448" name="Google Shape;448;p16"/>
          <p:cNvSpPr/>
          <p:nvPr/>
        </p:nvSpPr>
        <p:spPr>
          <a:xfrm>
            <a:off x="143416" y="640194"/>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000000"/>
                </a:solidFill>
                <a:latin typeface="Calibri"/>
                <a:ea typeface="Calibri"/>
                <a:cs typeface="Calibri"/>
                <a:sym typeface="Calibri"/>
              </a:rPr>
              <a:t>Bəzi SQL Sorğuları göstərilmişdir</a:t>
            </a:r>
            <a:endParaRPr b="0" i="0" sz="1200" u="none" cap="none" strike="noStrike">
              <a:solidFill>
                <a:srgbClr val="000000"/>
              </a:solidFill>
              <a:latin typeface="Calibri"/>
              <a:ea typeface="Calibri"/>
              <a:cs typeface="Calibri"/>
              <a:sym typeface="Calibri"/>
            </a:endParaRPr>
          </a:p>
        </p:txBody>
      </p:sp>
      <p:sp>
        <p:nvSpPr>
          <p:cNvPr id="449" name="Google Shape;449;p16"/>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6"/>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rgbClr val="000000"/>
              </a:solidFill>
              <a:latin typeface="Calibri"/>
              <a:ea typeface="Calibri"/>
              <a:cs typeface="Calibri"/>
              <a:sym typeface="Calibri"/>
            </a:endParaRPr>
          </a:p>
        </p:txBody>
      </p:sp>
      <p:sp>
        <p:nvSpPr>
          <p:cNvPr id="451" name="Google Shape;451;p16"/>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9</a:t>
            </a:r>
            <a:endParaRPr b="0" i="0" sz="850" u="none" cap="none" strike="noStrike">
              <a:solidFill>
                <a:srgbClr val="000000"/>
              </a:solidFill>
              <a:latin typeface="Calibri"/>
              <a:ea typeface="Calibri"/>
              <a:cs typeface="Calibri"/>
              <a:sym typeface="Calibri"/>
            </a:endParaRPr>
          </a:p>
        </p:txBody>
      </p:sp>
      <p:pic>
        <p:nvPicPr>
          <p:cNvPr id="452" name="Google Shape;452;p16" title="Screenshot 2026-08-18 at 16.02.51.png"/>
          <p:cNvPicPr preferRelativeResize="0"/>
          <p:nvPr/>
        </p:nvPicPr>
        <p:blipFill>
          <a:blip r:embed="rId3">
            <a:alphaModFix/>
          </a:blip>
          <a:stretch>
            <a:fillRect/>
          </a:stretch>
        </p:blipFill>
        <p:spPr>
          <a:xfrm>
            <a:off x="0" y="1147400"/>
            <a:ext cx="6577849" cy="4261451"/>
          </a:xfrm>
          <a:prstGeom prst="rect">
            <a:avLst/>
          </a:prstGeom>
          <a:noFill/>
          <a:ln>
            <a:noFill/>
          </a:ln>
        </p:spPr>
      </p:pic>
      <p:pic>
        <p:nvPicPr>
          <p:cNvPr id="453" name="Google Shape;453;p16"/>
          <p:cNvPicPr preferRelativeResize="0"/>
          <p:nvPr/>
        </p:nvPicPr>
        <p:blipFill>
          <a:blip r:embed="rId4">
            <a:alphaModFix/>
          </a:blip>
          <a:stretch>
            <a:fillRect/>
          </a:stretch>
        </p:blipFill>
        <p:spPr>
          <a:xfrm>
            <a:off x="6086275" y="255175"/>
            <a:ext cx="4968675" cy="4854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g3f756a1cb8a_0_0" title="Screenshot 2026-08-18 at 16.05.15.png"/>
          <p:cNvPicPr preferRelativeResize="0"/>
          <p:nvPr/>
        </p:nvPicPr>
        <p:blipFill>
          <a:blip r:embed="rId3">
            <a:alphaModFix/>
          </a:blip>
          <a:stretch>
            <a:fillRect/>
          </a:stretch>
        </p:blipFill>
        <p:spPr>
          <a:xfrm>
            <a:off x="-89650" y="1030925"/>
            <a:ext cx="5546899" cy="3440200"/>
          </a:xfrm>
          <a:prstGeom prst="rect">
            <a:avLst/>
          </a:prstGeom>
          <a:noFill/>
          <a:ln>
            <a:noFill/>
          </a:ln>
        </p:spPr>
      </p:pic>
      <p:pic>
        <p:nvPicPr>
          <p:cNvPr id="460" name="Google Shape;460;g3f756a1cb8a_0_0"/>
          <p:cNvPicPr preferRelativeResize="0"/>
          <p:nvPr/>
        </p:nvPicPr>
        <p:blipFill>
          <a:blip r:embed="rId4">
            <a:alphaModFix/>
          </a:blip>
          <a:stretch>
            <a:fillRect/>
          </a:stretch>
        </p:blipFill>
        <p:spPr>
          <a:xfrm>
            <a:off x="4762500" y="408225"/>
            <a:ext cx="6575050" cy="4746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465" name="Shape 465"/>
        <p:cNvGrpSpPr/>
        <p:nvPr/>
      </p:nvGrpSpPr>
      <p:grpSpPr>
        <a:xfrm>
          <a:off x="0" y="0"/>
          <a:ext cx="0" cy="0"/>
          <a:chOff x="0" y="0"/>
          <a:chExt cx="0" cy="0"/>
        </a:xfrm>
      </p:grpSpPr>
      <p:sp>
        <p:nvSpPr>
          <p:cNvPr id="466" name="Google Shape;466;p17"/>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7"/>
          <p:cNvSpPr/>
          <p:nvPr/>
        </p:nvSpPr>
        <p:spPr>
          <a:xfrm>
            <a:off x="239668" y="199339"/>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232A46"/>
                </a:solidFill>
                <a:latin typeface="Arial"/>
                <a:ea typeface="Arial"/>
                <a:cs typeface="Arial"/>
                <a:sym typeface="Arial"/>
              </a:rPr>
              <a:t>10 — OpenAPI / Swagger Nümunəsi</a:t>
            </a:r>
            <a:endParaRPr b="0" i="0" sz="2500" u="none" cap="none" strike="noStrike">
              <a:solidFill>
                <a:srgbClr val="000000"/>
              </a:solidFill>
              <a:latin typeface="Calibri"/>
              <a:ea typeface="Calibri"/>
              <a:cs typeface="Calibri"/>
              <a:sym typeface="Calibri"/>
            </a:endParaRPr>
          </a:p>
        </p:txBody>
      </p:sp>
      <p:sp>
        <p:nvSpPr>
          <p:cNvPr id="468" name="Google Shape;468;p17"/>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17"/>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rgbClr val="000000"/>
              </a:solidFill>
              <a:latin typeface="Calibri"/>
              <a:ea typeface="Calibri"/>
              <a:cs typeface="Calibri"/>
              <a:sym typeface="Calibri"/>
            </a:endParaRPr>
          </a:p>
        </p:txBody>
      </p:sp>
      <p:sp>
        <p:nvSpPr>
          <p:cNvPr id="470" name="Google Shape;470;p17"/>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9</a:t>
            </a:r>
            <a:endParaRPr b="0" i="0" sz="850" u="none" cap="none" strike="noStrike">
              <a:solidFill>
                <a:srgbClr val="000000"/>
              </a:solidFill>
              <a:latin typeface="Calibri"/>
              <a:ea typeface="Calibri"/>
              <a:cs typeface="Calibri"/>
              <a:sym typeface="Calibri"/>
            </a:endParaRPr>
          </a:p>
        </p:txBody>
      </p:sp>
      <p:pic>
        <p:nvPicPr>
          <p:cNvPr id="471" name="Google Shape;471;p17" title="Screenshot 2026-08-18 at 16.07.27.png"/>
          <p:cNvPicPr preferRelativeResize="0"/>
          <p:nvPr/>
        </p:nvPicPr>
        <p:blipFill>
          <a:blip r:embed="rId3">
            <a:alphaModFix/>
          </a:blip>
          <a:stretch>
            <a:fillRect/>
          </a:stretch>
        </p:blipFill>
        <p:spPr>
          <a:xfrm>
            <a:off x="5804625" y="337750"/>
            <a:ext cx="5804649" cy="1268243"/>
          </a:xfrm>
          <a:prstGeom prst="rect">
            <a:avLst/>
          </a:prstGeom>
          <a:noFill/>
          <a:ln>
            <a:noFill/>
          </a:ln>
        </p:spPr>
      </p:pic>
      <p:graphicFrame>
        <p:nvGraphicFramePr>
          <p:cNvPr id="472" name="Google Shape;472;p17"/>
          <p:cNvGraphicFramePr/>
          <p:nvPr/>
        </p:nvGraphicFramePr>
        <p:xfrm>
          <a:off x="177025" y="815975"/>
          <a:ext cx="3000000" cy="3000000"/>
        </p:xfrm>
        <a:graphic>
          <a:graphicData uri="http://schemas.openxmlformats.org/drawingml/2006/table">
            <a:tbl>
              <a:tblPr>
                <a:noFill/>
                <a:tableStyleId>{BA44B5CF-B015-4B1A-9FFF-A14D9581E6F3}</a:tableStyleId>
              </a:tblPr>
              <a:tblGrid>
                <a:gridCol w="476325"/>
                <a:gridCol w="1232025"/>
                <a:gridCol w="1053400"/>
                <a:gridCol w="1616750"/>
              </a:tblGrid>
              <a:tr h="289575">
                <a:tc>
                  <a:txBody>
                    <a:bodyPr/>
                    <a:lstStyle/>
                    <a:p>
                      <a:pPr indent="0" lvl="0" marL="0" rtl="0" algn="ctr">
                        <a:lnSpc>
                          <a:spcPct val="115000"/>
                        </a:lnSpc>
                        <a:spcBef>
                          <a:spcPts val="0"/>
                        </a:spcBef>
                        <a:spcAft>
                          <a:spcPts val="600"/>
                        </a:spcAft>
                        <a:buNone/>
                      </a:pPr>
                      <a:r>
                        <a:rPr b="1" lang="en-US" sz="1000"/>
                        <a:t>Method</a:t>
                      </a:r>
                      <a:endParaRPr sz="1000"/>
                    </a:p>
                  </a:txBody>
                  <a:tcPr marT="63500" marB="63500" marR="63500" marL="63500"/>
                </a:tc>
                <a:tc>
                  <a:txBody>
                    <a:bodyPr/>
                    <a:lstStyle/>
                    <a:p>
                      <a:pPr indent="0" lvl="0" marL="0" rtl="0" algn="ctr">
                        <a:lnSpc>
                          <a:spcPct val="115000"/>
                        </a:lnSpc>
                        <a:spcBef>
                          <a:spcPts val="0"/>
                        </a:spcBef>
                        <a:spcAft>
                          <a:spcPts val="600"/>
                        </a:spcAft>
                        <a:buNone/>
                      </a:pPr>
                      <a:r>
                        <a:rPr b="1" lang="en-US" sz="1000"/>
                        <a:t>Endpoint</a:t>
                      </a:r>
                      <a:endParaRPr sz="1000"/>
                    </a:p>
                  </a:txBody>
                  <a:tcPr marT="63500" marB="63500" marR="63500" marL="63500"/>
                </a:tc>
                <a:tc>
                  <a:txBody>
                    <a:bodyPr/>
                    <a:lstStyle/>
                    <a:p>
                      <a:pPr indent="0" lvl="0" marL="0" rtl="0" algn="ctr">
                        <a:lnSpc>
                          <a:spcPct val="115000"/>
                        </a:lnSpc>
                        <a:spcBef>
                          <a:spcPts val="0"/>
                        </a:spcBef>
                        <a:spcAft>
                          <a:spcPts val="600"/>
                        </a:spcAft>
                        <a:buNone/>
                      </a:pPr>
                      <a:r>
                        <a:rPr b="1" lang="en-US" sz="1000"/>
                        <a:t>Rol</a:t>
                      </a:r>
                      <a:endParaRPr sz="1000"/>
                    </a:p>
                  </a:txBody>
                  <a:tcPr marT="63500" marB="63500" marR="63500" marL="63500"/>
                </a:tc>
                <a:tc>
                  <a:txBody>
                    <a:bodyPr/>
                    <a:lstStyle/>
                    <a:p>
                      <a:pPr indent="0" lvl="0" marL="0" rtl="0" algn="ctr">
                        <a:lnSpc>
                          <a:spcPct val="115000"/>
                        </a:lnSpc>
                        <a:spcBef>
                          <a:spcPts val="0"/>
                        </a:spcBef>
                        <a:spcAft>
                          <a:spcPts val="600"/>
                        </a:spcAft>
                        <a:buNone/>
                      </a:pPr>
                      <a:r>
                        <a:rPr b="1" lang="en-US" sz="1000"/>
                        <a:t>Təsvir</a:t>
                      </a:r>
                      <a:endParaRPr sz="1000"/>
                    </a:p>
                  </a:txBody>
                  <a:tcPr marT="63500" marB="63500" marR="63500" marL="63500"/>
                </a:tc>
              </a:tr>
              <a:tr h="510450">
                <a:tc>
                  <a:txBody>
                    <a:bodyPr/>
                    <a:lstStyle/>
                    <a:p>
                      <a:pPr indent="0" lvl="0" marL="0" rtl="0" algn="l">
                        <a:lnSpc>
                          <a:spcPct val="115000"/>
                        </a:lnSpc>
                        <a:spcBef>
                          <a:spcPts val="0"/>
                        </a:spcBef>
                        <a:spcAft>
                          <a:spcPts val="600"/>
                        </a:spcAft>
                        <a:buNone/>
                      </a:pPr>
                      <a:r>
                        <a:rPr b="1" lang="en-US" sz="1000"/>
                        <a:t>GET</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solidFill>
                            <a:srgbClr val="188038"/>
                          </a:solidFill>
                          <a:latin typeface="Roboto Mono"/>
                          <a:ea typeface="Roboto Mono"/>
                          <a:cs typeface="Roboto Mono"/>
                          <a:sym typeface="Roboto Mono"/>
                        </a:rPr>
                        <a:t>/courses?status=eq.OPEN</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STUDENT / TEACHER / ADMIN</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OPEN statuslu kursların siyahısını əldə edir</a:t>
                      </a:r>
                      <a:endParaRPr sz="1000"/>
                    </a:p>
                  </a:txBody>
                  <a:tcPr marT="63500" marB="63500" marR="63500" marL="63500"/>
                </a:tc>
              </a:tr>
              <a:tr h="377925">
                <a:tc>
                  <a:txBody>
                    <a:bodyPr/>
                    <a:lstStyle/>
                    <a:p>
                      <a:pPr indent="0" lvl="0" marL="0" rtl="0" algn="l">
                        <a:lnSpc>
                          <a:spcPct val="115000"/>
                        </a:lnSpc>
                        <a:spcBef>
                          <a:spcPts val="0"/>
                        </a:spcBef>
                        <a:spcAft>
                          <a:spcPts val="600"/>
                        </a:spcAft>
                        <a:buNone/>
                      </a:pPr>
                      <a:r>
                        <a:rPr b="1" lang="en-US" sz="1000"/>
                        <a:t>POST</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solidFill>
                            <a:srgbClr val="188038"/>
                          </a:solidFill>
                          <a:latin typeface="Roboto Mono"/>
                          <a:ea typeface="Roboto Mono"/>
                          <a:cs typeface="Roboto Mono"/>
                          <a:sym typeface="Roboto Mono"/>
                        </a:rPr>
                        <a:t>/enrollments</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STUDENT / ADMIN</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Yeni ACTIVE enrollment yaradır</a:t>
                      </a:r>
                      <a:endParaRPr sz="1000"/>
                    </a:p>
                  </a:txBody>
                  <a:tcPr marT="63500" marB="63500" marR="63500" marL="63500"/>
                </a:tc>
              </a:tr>
              <a:tr h="510450">
                <a:tc>
                  <a:txBody>
                    <a:bodyPr/>
                    <a:lstStyle/>
                    <a:p>
                      <a:pPr indent="0" lvl="0" marL="0" rtl="0" algn="l">
                        <a:lnSpc>
                          <a:spcPct val="115000"/>
                        </a:lnSpc>
                        <a:spcBef>
                          <a:spcPts val="0"/>
                        </a:spcBef>
                        <a:spcAft>
                          <a:spcPts val="600"/>
                        </a:spcAft>
                        <a:buNone/>
                      </a:pPr>
                      <a:r>
                        <a:rPr b="1" lang="en-US" sz="1000"/>
                        <a:t>GET</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solidFill>
                            <a:srgbClr val="188038"/>
                          </a:solidFill>
                          <a:latin typeface="Roboto Mono"/>
                          <a:ea typeface="Roboto Mono"/>
                          <a:cs typeface="Roboto Mono"/>
                          <a:sym typeface="Roboto Mono"/>
                        </a:rPr>
                        <a:t>/enrollments?student_id=eq.{studentId}</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STUDENT / TEACHER (məhdud) / ADMIN</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Enrollment məlumatlarını əldə edir</a:t>
                      </a:r>
                      <a:endParaRPr sz="1000"/>
                    </a:p>
                  </a:txBody>
                  <a:tcPr marT="63500" marB="63500" marR="63500" marL="63500"/>
                </a:tc>
              </a:tr>
              <a:tr h="422100">
                <a:tc>
                  <a:txBody>
                    <a:bodyPr/>
                    <a:lstStyle/>
                    <a:p>
                      <a:pPr indent="0" lvl="0" marL="0" rtl="0" algn="l">
                        <a:lnSpc>
                          <a:spcPct val="115000"/>
                        </a:lnSpc>
                        <a:spcBef>
                          <a:spcPts val="0"/>
                        </a:spcBef>
                        <a:spcAft>
                          <a:spcPts val="600"/>
                        </a:spcAft>
                        <a:buNone/>
                      </a:pPr>
                      <a:r>
                        <a:rPr b="1" lang="en-US" sz="1000"/>
                        <a:t>PATCH</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solidFill>
                            <a:srgbClr val="188038"/>
                          </a:solidFill>
                          <a:latin typeface="Roboto Mono"/>
                          <a:ea typeface="Roboto Mono"/>
                          <a:cs typeface="Roboto Mono"/>
                          <a:sym typeface="Roboto Mono"/>
                        </a:rPr>
                        <a:t>/enrollments?id=eq.{enrollmentId}</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STUDENT (özü) / ADMIN</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Enrollment-i CANCELLED statusuna keçirir</a:t>
                      </a:r>
                      <a:endParaRPr sz="1000"/>
                    </a:p>
                  </a:txBody>
                  <a:tcPr marT="63500" marB="63500" marR="63500" marL="63500"/>
                </a:tc>
              </a:tr>
              <a:tr h="289575">
                <a:tc>
                  <a:txBody>
                    <a:bodyPr/>
                    <a:lstStyle/>
                    <a:p>
                      <a:pPr indent="0" lvl="0" marL="0" rtl="0" algn="l">
                        <a:lnSpc>
                          <a:spcPct val="115000"/>
                        </a:lnSpc>
                        <a:spcBef>
                          <a:spcPts val="0"/>
                        </a:spcBef>
                        <a:spcAft>
                          <a:spcPts val="600"/>
                        </a:spcAft>
                        <a:buNone/>
                      </a:pPr>
                      <a:r>
                        <a:rPr b="1" lang="en-US" sz="1000"/>
                        <a:t>POST</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solidFill>
                            <a:srgbClr val="188038"/>
                          </a:solidFill>
                          <a:latin typeface="Roboto Mono"/>
                          <a:ea typeface="Roboto Mono"/>
                          <a:cs typeface="Roboto Mono"/>
                          <a:sym typeface="Roboto Mono"/>
                        </a:rPr>
                        <a:t>/attendance</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TEACHER</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Attendance record yaradır</a:t>
                      </a:r>
                      <a:endParaRPr sz="1000"/>
                    </a:p>
                  </a:txBody>
                  <a:tcPr marT="63500" marB="63500" marR="63500" marL="63500"/>
                </a:tc>
              </a:tr>
              <a:tr h="554625">
                <a:tc>
                  <a:txBody>
                    <a:bodyPr/>
                    <a:lstStyle/>
                    <a:p>
                      <a:pPr indent="0" lvl="0" marL="0" rtl="0" algn="l">
                        <a:lnSpc>
                          <a:spcPct val="115000"/>
                        </a:lnSpc>
                        <a:spcBef>
                          <a:spcPts val="0"/>
                        </a:spcBef>
                        <a:spcAft>
                          <a:spcPts val="600"/>
                        </a:spcAft>
                        <a:buNone/>
                      </a:pPr>
                      <a:r>
                        <a:rPr b="1" lang="en-US" sz="1000"/>
                        <a:t>POST</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solidFill>
                            <a:srgbClr val="188038"/>
                          </a:solidFill>
                          <a:latin typeface="Roboto Mono"/>
                          <a:ea typeface="Roboto Mono"/>
                          <a:cs typeface="Roboto Mono"/>
                          <a:sym typeface="Roboto Mono"/>
                        </a:rPr>
                        <a:t>/assessment_results</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TEACHER</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Assessment result yaradır və PASSED/FAILED nəticəsini müəyyən edir</a:t>
                      </a:r>
                      <a:endParaRPr sz="1000"/>
                    </a:p>
                  </a:txBody>
                  <a:tcPr marT="63500" marB="63500" marR="63500" marL="63500"/>
                </a:tc>
              </a:tr>
              <a:tr h="554625">
                <a:tc>
                  <a:txBody>
                    <a:bodyPr/>
                    <a:lstStyle/>
                    <a:p>
                      <a:pPr indent="0" lvl="0" marL="0" rtl="0" algn="l">
                        <a:lnSpc>
                          <a:spcPct val="115000"/>
                        </a:lnSpc>
                        <a:spcBef>
                          <a:spcPts val="0"/>
                        </a:spcBef>
                        <a:spcAft>
                          <a:spcPts val="600"/>
                        </a:spcAft>
                        <a:buNone/>
                      </a:pPr>
                      <a:r>
                        <a:rPr b="1" lang="en-US" sz="1000"/>
                        <a:t>GET</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solidFill>
                            <a:srgbClr val="188038"/>
                          </a:solidFill>
                          <a:latin typeface="Roboto Mono"/>
                          <a:ea typeface="Roboto Mono"/>
                          <a:cs typeface="Roboto Mono"/>
                          <a:sym typeface="Roboto Mono"/>
                        </a:rPr>
                        <a:t>/certificates?verification_code=eq.{code}</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PUBLIC</a:t>
                      </a:r>
                      <a:endParaRPr sz="1000"/>
                    </a:p>
                  </a:txBody>
                  <a:tcPr marT="63500" marB="63500" marR="63500" marL="63500"/>
                </a:tc>
                <a:tc>
                  <a:txBody>
                    <a:bodyPr/>
                    <a:lstStyle/>
                    <a:p>
                      <a:pPr indent="0" lvl="0" marL="0" rtl="0" algn="l">
                        <a:lnSpc>
                          <a:spcPct val="115000"/>
                        </a:lnSpc>
                        <a:spcBef>
                          <a:spcPts val="0"/>
                        </a:spcBef>
                        <a:spcAft>
                          <a:spcPts val="600"/>
                        </a:spcAft>
                        <a:buNone/>
                      </a:pPr>
                      <a:r>
                        <a:rPr lang="en-US" sz="1000"/>
                        <a:t>Verification code üzrə ISSUED Certificate-i yoxlayır</a:t>
                      </a:r>
                      <a:endParaRPr sz="1000"/>
                    </a:p>
                  </a:txBody>
                  <a:tcPr marT="63500" marB="63500" marR="63500" marL="63500"/>
                </a:tc>
              </a:tr>
            </a:tbl>
          </a:graphicData>
        </a:graphic>
      </p:graphicFrame>
      <p:sp>
        <p:nvSpPr>
          <p:cNvPr id="473" name="Google Shape;473;p17"/>
          <p:cNvSpPr txBox="1"/>
          <p:nvPr/>
        </p:nvSpPr>
        <p:spPr>
          <a:xfrm>
            <a:off x="132200" y="628950"/>
            <a:ext cx="3000000" cy="237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500"/>
              </a:spcBef>
              <a:spcAft>
                <a:spcPts val="600"/>
              </a:spcAft>
              <a:buNone/>
            </a:pPr>
            <a:r>
              <a:rPr b="1" lang="en-US" sz="1200">
                <a:solidFill>
                  <a:srgbClr val="1F2328"/>
                </a:solidFill>
              </a:rPr>
              <a:t>4.2 Sənədləşdirilmiş endpoint-lər</a:t>
            </a:r>
            <a:endParaRPr sz="1300">
              <a:solidFill>
                <a:srgbClr val="2E74B5"/>
              </a:solidFill>
            </a:endParaRPr>
          </a:p>
        </p:txBody>
      </p:sp>
      <p:pic>
        <p:nvPicPr>
          <p:cNvPr id="474" name="Google Shape;474;p17" title="Screenshot 2026-08-18 at 16.09.02.png"/>
          <p:cNvPicPr preferRelativeResize="0"/>
          <p:nvPr/>
        </p:nvPicPr>
        <p:blipFill>
          <a:blip r:embed="rId4">
            <a:alphaModFix/>
          </a:blip>
          <a:stretch>
            <a:fillRect/>
          </a:stretch>
        </p:blipFill>
        <p:spPr>
          <a:xfrm>
            <a:off x="4663100" y="1629918"/>
            <a:ext cx="7331676" cy="383409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479" name="Shape 479"/>
        <p:cNvGrpSpPr/>
        <p:nvPr/>
      </p:nvGrpSpPr>
      <p:grpSpPr>
        <a:xfrm>
          <a:off x="0" y="0"/>
          <a:ext cx="0" cy="0"/>
          <a:chOff x="0" y="0"/>
          <a:chExt cx="0" cy="0"/>
        </a:xfrm>
      </p:grpSpPr>
      <p:sp>
        <p:nvSpPr>
          <p:cNvPr id="480" name="Google Shape;480;p18"/>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8"/>
          <p:cNvSpPr/>
          <p:nvPr/>
        </p:nvSpPr>
        <p:spPr>
          <a:xfrm>
            <a:off x="239668" y="199339"/>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232A46"/>
                </a:solidFill>
                <a:latin typeface="Arial"/>
                <a:ea typeface="Arial"/>
                <a:cs typeface="Arial"/>
                <a:sym typeface="Arial"/>
              </a:rPr>
              <a:t>11 — Error Catalog</a:t>
            </a:r>
            <a:endParaRPr b="0" i="0" sz="2500" u="none" cap="none" strike="noStrike">
              <a:solidFill>
                <a:srgbClr val="000000"/>
              </a:solidFill>
              <a:latin typeface="Calibri"/>
              <a:ea typeface="Calibri"/>
              <a:cs typeface="Calibri"/>
              <a:sym typeface="Calibri"/>
            </a:endParaRPr>
          </a:p>
        </p:txBody>
      </p:sp>
      <p:sp>
        <p:nvSpPr>
          <p:cNvPr id="482" name="Google Shape;482;p18"/>
          <p:cNvSpPr/>
          <p:nvPr/>
        </p:nvSpPr>
        <p:spPr>
          <a:xfrm>
            <a:off x="239667" y="71198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Real Error nümunələri</a:t>
            </a:r>
            <a:endParaRPr b="1" i="0" sz="1400" u="none" cap="none" strike="noStrike">
              <a:solidFill>
                <a:srgbClr val="000000"/>
              </a:solidFill>
              <a:latin typeface="Arial"/>
              <a:ea typeface="Arial"/>
              <a:cs typeface="Arial"/>
              <a:sym typeface="Arial"/>
            </a:endParaRPr>
          </a:p>
        </p:txBody>
      </p:sp>
      <p:sp>
        <p:nvSpPr>
          <p:cNvPr id="483" name="Google Shape;483;p18"/>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8"/>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rgbClr val="000000"/>
              </a:solidFill>
              <a:latin typeface="Calibri"/>
              <a:ea typeface="Calibri"/>
              <a:cs typeface="Calibri"/>
              <a:sym typeface="Calibri"/>
            </a:endParaRPr>
          </a:p>
        </p:txBody>
      </p:sp>
      <p:sp>
        <p:nvSpPr>
          <p:cNvPr id="485" name="Google Shape;485;p18"/>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9</a:t>
            </a:r>
            <a:endParaRPr b="0" i="0" sz="850" u="none" cap="none" strike="noStrike">
              <a:solidFill>
                <a:srgbClr val="000000"/>
              </a:solidFill>
              <a:latin typeface="Calibri"/>
              <a:ea typeface="Calibri"/>
              <a:cs typeface="Calibri"/>
              <a:sym typeface="Calibri"/>
            </a:endParaRPr>
          </a:p>
        </p:txBody>
      </p:sp>
      <p:pic>
        <p:nvPicPr>
          <p:cNvPr id="486" name="Google Shape;486;p18"/>
          <p:cNvPicPr preferRelativeResize="0"/>
          <p:nvPr/>
        </p:nvPicPr>
        <p:blipFill rotWithShape="1">
          <a:blip r:embed="rId3">
            <a:alphaModFix/>
          </a:blip>
          <a:srcRect b="0" l="0" r="0" t="0"/>
          <a:stretch/>
        </p:blipFill>
        <p:spPr>
          <a:xfrm>
            <a:off x="239667" y="1048479"/>
            <a:ext cx="5607680" cy="5026217"/>
          </a:xfrm>
          <a:prstGeom prst="rect">
            <a:avLst/>
          </a:prstGeom>
          <a:noFill/>
          <a:ln>
            <a:noFill/>
          </a:ln>
        </p:spPr>
      </p:pic>
      <p:pic>
        <p:nvPicPr>
          <p:cNvPr id="487" name="Google Shape;487;p18"/>
          <p:cNvPicPr preferRelativeResize="0"/>
          <p:nvPr/>
        </p:nvPicPr>
        <p:blipFill rotWithShape="1">
          <a:blip r:embed="rId4">
            <a:alphaModFix/>
          </a:blip>
          <a:srcRect b="0" l="0" r="0" t="0"/>
          <a:stretch/>
        </p:blipFill>
        <p:spPr>
          <a:xfrm>
            <a:off x="5847347" y="1249647"/>
            <a:ext cx="6121908" cy="485796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492" name="Shape 492"/>
        <p:cNvGrpSpPr/>
        <p:nvPr/>
      </p:nvGrpSpPr>
      <p:grpSpPr>
        <a:xfrm>
          <a:off x="0" y="0"/>
          <a:ext cx="0" cy="0"/>
          <a:chOff x="0" y="0"/>
          <a:chExt cx="0" cy="0"/>
        </a:xfrm>
      </p:grpSpPr>
      <p:sp>
        <p:nvSpPr>
          <p:cNvPr id="493" name="Google Shape;493;p10"/>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0"/>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12 — Security, Error Handling &amp; Testing</a:t>
            </a:r>
            <a:endParaRPr b="0" i="0" sz="2500" u="none" cap="none" strike="noStrike">
              <a:solidFill>
                <a:schemeClr val="dk1"/>
              </a:solidFill>
              <a:latin typeface="Calibri"/>
              <a:ea typeface="Calibri"/>
              <a:cs typeface="Calibri"/>
              <a:sym typeface="Calibri"/>
            </a:endParaRPr>
          </a:p>
        </p:txBody>
      </p:sp>
      <p:sp>
        <p:nvSpPr>
          <p:cNvPr id="495" name="Google Shape;495;p10"/>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Həllin real və neqativ ssenarilərdə davranışı.</a:t>
            </a:r>
            <a:endParaRPr b="0" i="0" sz="1200" u="none" cap="none" strike="noStrike">
              <a:solidFill>
                <a:schemeClr val="dk1"/>
              </a:solidFill>
              <a:latin typeface="Calibri"/>
              <a:ea typeface="Calibri"/>
              <a:cs typeface="Calibri"/>
              <a:sym typeface="Calibri"/>
            </a:endParaRPr>
          </a:p>
        </p:txBody>
      </p:sp>
      <p:sp>
        <p:nvSpPr>
          <p:cNvPr id="496" name="Google Shape;496;p10"/>
          <p:cNvSpPr/>
          <p:nvPr/>
        </p:nvSpPr>
        <p:spPr>
          <a:xfrm>
            <a:off x="640080"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7" name="Google Shape;497;p10"/>
          <p:cNvSpPr/>
          <p:nvPr/>
        </p:nvSpPr>
        <p:spPr>
          <a:xfrm>
            <a:off x="822960"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Security Model</a:t>
            </a:r>
            <a:endParaRPr b="0" i="0" sz="1250" u="none" cap="none" strike="noStrike">
              <a:solidFill>
                <a:schemeClr val="dk1"/>
              </a:solidFill>
              <a:latin typeface="Calibri"/>
              <a:ea typeface="Calibri"/>
              <a:cs typeface="Calibri"/>
              <a:sym typeface="Calibri"/>
            </a:endParaRPr>
          </a:p>
        </p:txBody>
      </p:sp>
      <p:sp>
        <p:nvSpPr>
          <p:cNvPr id="498" name="Google Shape;498;p10"/>
          <p:cNvSpPr/>
          <p:nvPr/>
        </p:nvSpPr>
        <p:spPr>
          <a:xfrm>
            <a:off x="822960" y="1892808"/>
            <a:ext cx="3090672" cy="15544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F6BFF"/>
              </a:buClr>
              <a:buSzPts val="960"/>
              <a:buFont typeface="Calibri"/>
              <a:buNone/>
            </a:pPr>
            <a:r>
              <a:rPr b="1" i="0" lang="en-US" sz="1160" u="none" cap="none" strike="noStrike">
                <a:solidFill>
                  <a:srgbClr val="2F6BFF"/>
                </a:solidFill>
                <a:latin typeface="Calibri"/>
                <a:ea typeface="Calibri"/>
                <a:cs typeface="Calibri"/>
                <a:sym typeface="Calibri"/>
              </a:rPr>
              <a:t>Roles</a:t>
            </a:r>
            <a:endParaRPr b="0" i="0" sz="116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STUDENT  ·  TEACHER  ·  ADMIN  ·  PUBLIC (anon)</a:t>
            </a:r>
            <a:endParaRPr b="0" i="0" sz="1160" u="none" cap="none" strike="noStrike">
              <a:solidFill>
                <a:schemeClr val="dk1"/>
              </a:solidFill>
              <a:latin typeface="Calibri"/>
              <a:ea typeface="Calibri"/>
              <a:cs typeface="Calibri"/>
              <a:sym typeface="Calibri"/>
            </a:endParaRPr>
          </a:p>
          <a:p>
            <a:pPr indent="0" lvl="0" marL="0" marR="0" rtl="0" algn="l">
              <a:lnSpc>
                <a:spcPct val="104000"/>
              </a:lnSpc>
              <a:spcBef>
                <a:spcPts val="800"/>
              </a:spcBef>
              <a:spcAft>
                <a:spcPts val="0"/>
              </a:spcAft>
              <a:buClr>
                <a:srgbClr val="2F6BFF"/>
              </a:buClr>
              <a:buSzPts val="960"/>
              <a:buFont typeface="Calibri"/>
              <a:buNone/>
            </a:pPr>
            <a:r>
              <a:rPr b="1" i="0" lang="en-US" sz="1160" u="none" cap="none" strike="noStrike">
                <a:solidFill>
                  <a:srgbClr val="2F6BFF"/>
                </a:solidFill>
                <a:latin typeface="Calibri"/>
                <a:ea typeface="Calibri"/>
                <a:cs typeface="Calibri"/>
                <a:sym typeface="Calibri"/>
              </a:rPr>
              <a:t>Auth</a:t>
            </a:r>
            <a:endParaRPr b="0" i="0" sz="116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6E7480"/>
              </a:buClr>
              <a:buSzPts val="930"/>
              <a:buFont typeface="Calibri"/>
              <a:buNone/>
            </a:pPr>
            <a:r>
              <a:rPr b="0" i="0" lang="en-US" sz="1130" u="none" cap="none" strike="noStrike">
                <a:solidFill>
                  <a:srgbClr val="6E7480"/>
                </a:solidFill>
                <a:latin typeface="Calibri"/>
                <a:ea typeface="Calibri"/>
                <a:cs typeface="Calibri"/>
                <a:sym typeface="Calibri"/>
              </a:rPr>
              <a:t>Supabase Authentication — JWT (access_token / refresh_token) və apikey header.</a:t>
            </a:r>
            <a:endParaRPr b="0" i="0" sz="1160" u="none" cap="none" strike="noStrike">
              <a:solidFill>
                <a:schemeClr val="dk1"/>
              </a:solidFill>
              <a:latin typeface="Calibri"/>
              <a:ea typeface="Calibri"/>
              <a:cs typeface="Calibri"/>
              <a:sym typeface="Calibri"/>
            </a:endParaRPr>
          </a:p>
          <a:p>
            <a:pPr indent="0" lvl="0" marL="0" marR="0" rtl="0" algn="l">
              <a:lnSpc>
                <a:spcPct val="104000"/>
              </a:lnSpc>
              <a:spcBef>
                <a:spcPts val="800"/>
              </a:spcBef>
              <a:spcAft>
                <a:spcPts val="0"/>
              </a:spcAft>
              <a:buClr>
                <a:srgbClr val="2F6BFF"/>
              </a:buClr>
              <a:buSzPts val="960"/>
              <a:buFont typeface="Calibri"/>
              <a:buNone/>
            </a:pPr>
            <a:r>
              <a:rPr b="1" i="0" lang="en-US" sz="1160" u="none" cap="none" strike="noStrike">
                <a:solidFill>
                  <a:srgbClr val="2F6BFF"/>
                </a:solidFill>
                <a:latin typeface="Calibri"/>
                <a:ea typeface="Calibri"/>
                <a:cs typeface="Calibri"/>
                <a:sym typeface="Calibri"/>
              </a:rPr>
              <a:t>Access rules</a:t>
            </a:r>
            <a:endParaRPr b="0" i="0" sz="1160" u="none" cap="none" strike="noStrike">
              <a:solidFill>
                <a:schemeClr val="dk1"/>
              </a:solidFill>
              <a:latin typeface="Calibri"/>
              <a:ea typeface="Calibri"/>
              <a:cs typeface="Calibri"/>
              <a:sym typeface="Calibri"/>
            </a:endParaRPr>
          </a:p>
        </p:txBody>
      </p:sp>
      <p:sp>
        <p:nvSpPr>
          <p:cNvPr id="499" name="Google Shape;499;p10"/>
          <p:cNvSpPr/>
          <p:nvPr/>
        </p:nvSpPr>
        <p:spPr>
          <a:xfrm>
            <a:off x="822960" y="3246120"/>
            <a:ext cx="859536" cy="210312"/>
          </a:xfrm>
          <a:prstGeom prst="roundRect">
            <a:avLst>
              <a:gd fmla="val 21739" name="adj"/>
            </a:avLst>
          </a:prstGeom>
          <a:solidFill>
            <a:srgbClr val="E7EFFF"/>
          </a:solidFill>
          <a:ln cap="flat" cmpd="sng" w="12700">
            <a:solidFill>
              <a:srgbClr val="C9DA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0" name="Google Shape;500;p10"/>
          <p:cNvSpPr/>
          <p:nvPr/>
        </p:nvSpPr>
        <p:spPr>
          <a:xfrm>
            <a:off x="822960" y="3246120"/>
            <a:ext cx="859536"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40"/>
              <a:buFont typeface="Calibri"/>
              <a:buNone/>
            </a:pPr>
            <a:r>
              <a:rPr b="1" i="0" lang="en-US" sz="940" u="none" cap="none" strike="noStrike">
                <a:solidFill>
                  <a:srgbClr val="1E4FD0"/>
                </a:solidFill>
                <a:latin typeface="Calibri"/>
                <a:ea typeface="Calibri"/>
                <a:cs typeface="Calibri"/>
                <a:sym typeface="Calibri"/>
              </a:rPr>
              <a:t>STUDENT</a:t>
            </a:r>
            <a:endParaRPr b="0" i="0" sz="940" u="none" cap="none" strike="noStrike">
              <a:solidFill>
                <a:schemeClr val="dk1"/>
              </a:solidFill>
              <a:latin typeface="Calibri"/>
              <a:ea typeface="Calibri"/>
              <a:cs typeface="Calibri"/>
              <a:sym typeface="Calibri"/>
            </a:endParaRPr>
          </a:p>
        </p:txBody>
      </p:sp>
      <p:sp>
        <p:nvSpPr>
          <p:cNvPr id="501" name="Google Shape;501;p10"/>
          <p:cNvSpPr/>
          <p:nvPr/>
        </p:nvSpPr>
        <p:spPr>
          <a:xfrm>
            <a:off x="822960" y="3483864"/>
            <a:ext cx="3072384"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yalnız öz məlumatları</a:t>
            </a:r>
            <a:endParaRPr b="0" i="0" sz="1100" u="none" cap="none" strike="noStrike">
              <a:solidFill>
                <a:schemeClr val="dk1"/>
              </a:solidFill>
              <a:latin typeface="Calibri"/>
              <a:ea typeface="Calibri"/>
              <a:cs typeface="Calibri"/>
              <a:sym typeface="Calibri"/>
            </a:endParaRPr>
          </a:p>
        </p:txBody>
      </p:sp>
      <p:sp>
        <p:nvSpPr>
          <p:cNvPr id="502" name="Google Shape;502;p10"/>
          <p:cNvSpPr/>
          <p:nvPr/>
        </p:nvSpPr>
        <p:spPr>
          <a:xfrm>
            <a:off x="822960" y="3776472"/>
            <a:ext cx="859536" cy="210312"/>
          </a:xfrm>
          <a:prstGeom prst="roundRect">
            <a:avLst>
              <a:gd fmla="val 21739" name="adj"/>
            </a:avLst>
          </a:prstGeom>
          <a:solidFill>
            <a:srgbClr val="E7EFFF"/>
          </a:solidFill>
          <a:ln cap="flat" cmpd="sng" w="12700">
            <a:solidFill>
              <a:srgbClr val="C9DA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3" name="Google Shape;503;p10"/>
          <p:cNvSpPr/>
          <p:nvPr/>
        </p:nvSpPr>
        <p:spPr>
          <a:xfrm>
            <a:off x="822960" y="3776472"/>
            <a:ext cx="859536"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40"/>
              <a:buFont typeface="Calibri"/>
              <a:buNone/>
            </a:pPr>
            <a:r>
              <a:rPr b="1" i="0" lang="en-US" sz="940" u="none" cap="none" strike="noStrike">
                <a:solidFill>
                  <a:srgbClr val="1E4FD0"/>
                </a:solidFill>
                <a:latin typeface="Calibri"/>
                <a:ea typeface="Calibri"/>
                <a:cs typeface="Calibri"/>
                <a:sym typeface="Calibri"/>
              </a:rPr>
              <a:t>TEACHER</a:t>
            </a:r>
            <a:endParaRPr b="0" i="0" sz="940" u="none" cap="none" strike="noStrike">
              <a:solidFill>
                <a:schemeClr val="dk1"/>
              </a:solidFill>
              <a:latin typeface="Calibri"/>
              <a:ea typeface="Calibri"/>
              <a:cs typeface="Calibri"/>
              <a:sym typeface="Calibri"/>
            </a:endParaRPr>
          </a:p>
        </p:txBody>
      </p:sp>
      <p:sp>
        <p:nvSpPr>
          <p:cNvPr id="504" name="Google Shape;504;p10"/>
          <p:cNvSpPr/>
          <p:nvPr/>
        </p:nvSpPr>
        <p:spPr>
          <a:xfrm>
            <a:off x="822960" y="4014216"/>
            <a:ext cx="3072384"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yalnız təyin olunmuş session / tələbələr</a:t>
            </a:r>
            <a:endParaRPr b="0" i="0" sz="1100" u="none" cap="none" strike="noStrike">
              <a:solidFill>
                <a:schemeClr val="dk1"/>
              </a:solidFill>
              <a:latin typeface="Calibri"/>
              <a:ea typeface="Calibri"/>
              <a:cs typeface="Calibri"/>
              <a:sym typeface="Calibri"/>
            </a:endParaRPr>
          </a:p>
        </p:txBody>
      </p:sp>
      <p:sp>
        <p:nvSpPr>
          <p:cNvPr id="505" name="Google Shape;505;p10"/>
          <p:cNvSpPr/>
          <p:nvPr/>
        </p:nvSpPr>
        <p:spPr>
          <a:xfrm>
            <a:off x="822960" y="4306824"/>
            <a:ext cx="859536" cy="210312"/>
          </a:xfrm>
          <a:prstGeom prst="roundRect">
            <a:avLst>
              <a:gd fmla="val 21739" name="adj"/>
            </a:avLst>
          </a:prstGeom>
          <a:solidFill>
            <a:srgbClr val="E7EFFF"/>
          </a:solidFill>
          <a:ln cap="flat" cmpd="sng" w="12700">
            <a:solidFill>
              <a:srgbClr val="C9DA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6" name="Google Shape;506;p10"/>
          <p:cNvSpPr/>
          <p:nvPr/>
        </p:nvSpPr>
        <p:spPr>
          <a:xfrm>
            <a:off x="822960" y="4306824"/>
            <a:ext cx="859536"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40"/>
              <a:buFont typeface="Calibri"/>
              <a:buNone/>
            </a:pPr>
            <a:r>
              <a:rPr b="1" i="0" lang="en-US" sz="940" u="none" cap="none" strike="noStrike">
                <a:solidFill>
                  <a:srgbClr val="1E4FD0"/>
                </a:solidFill>
                <a:latin typeface="Calibri"/>
                <a:ea typeface="Calibri"/>
                <a:cs typeface="Calibri"/>
                <a:sym typeface="Calibri"/>
              </a:rPr>
              <a:t>ADMIN</a:t>
            </a:r>
            <a:endParaRPr b="0" i="0" sz="940" u="none" cap="none" strike="noStrike">
              <a:solidFill>
                <a:schemeClr val="dk1"/>
              </a:solidFill>
              <a:latin typeface="Calibri"/>
              <a:ea typeface="Calibri"/>
              <a:cs typeface="Calibri"/>
              <a:sym typeface="Calibri"/>
            </a:endParaRPr>
          </a:p>
        </p:txBody>
      </p:sp>
      <p:sp>
        <p:nvSpPr>
          <p:cNvPr id="507" name="Google Shape;507;p10"/>
          <p:cNvSpPr/>
          <p:nvPr/>
        </p:nvSpPr>
        <p:spPr>
          <a:xfrm>
            <a:off x="822960" y="4544568"/>
            <a:ext cx="3072384"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administrativ çıxış</a:t>
            </a:r>
            <a:endParaRPr b="0" i="0" sz="1100" u="none" cap="none" strike="noStrike">
              <a:solidFill>
                <a:schemeClr val="dk1"/>
              </a:solidFill>
              <a:latin typeface="Calibri"/>
              <a:ea typeface="Calibri"/>
              <a:cs typeface="Calibri"/>
              <a:sym typeface="Calibri"/>
            </a:endParaRPr>
          </a:p>
        </p:txBody>
      </p:sp>
      <p:sp>
        <p:nvSpPr>
          <p:cNvPr id="508" name="Google Shape;508;p10"/>
          <p:cNvSpPr/>
          <p:nvPr/>
        </p:nvSpPr>
        <p:spPr>
          <a:xfrm>
            <a:off x="822960" y="4837176"/>
            <a:ext cx="859536" cy="210312"/>
          </a:xfrm>
          <a:prstGeom prst="roundRect">
            <a:avLst>
              <a:gd fmla="val 21739" name="adj"/>
            </a:avLst>
          </a:prstGeom>
          <a:solidFill>
            <a:srgbClr val="E9F6F3"/>
          </a:solidFill>
          <a:ln cap="flat" cmpd="sng" w="12700">
            <a:solidFill>
              <a:srgbClr val="C6E6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9" name="Google Shape;509;p10"/>
          <p:cNvSpPr/>
          <p:nvPr/>
        </p:nvSpPr>
        <p:spPr>
          <a:xfrm>
            <a:off x="822960" y="4837176"/>
            <a:ext cx="859536"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8A70"/>
              </a:buClr>
              <a:buSzPts val="740"/>
              <a:buFont typeface="Calibri"/>
              <a:buNone/>
            </a:pPr>
            <a:r>
              <a:rPr b="1" i="0" lang="en-US" sz="940" u="none" cap="none" strike="noStrike">
                <a:solidFill>
                  <a:srgbClr val="1F8A70"/>
                </a:solidFill>
                <a:latin typeface="Calibri"/>
                <a:ea typeface="Calibri"/>
                <a:cs typeface="Calibri"/>
                <a:sym typeface="Calibri"/>
              </a:rPr>
              <a:t>PUBLIC</a:t>
            </a:r>
            <a:endParaRPr b="0" i="0" sz="940" u="none" cap="none" strike="noStrike">
              <a:solidFill>
                <a:schemeClr val="dk1"/>
              </a:solidFill>
              <a:latin typeface="Calibri"/>
              <a:ea typeface="Calibri"/>
              <a:cs typeface="Calibri"/>
              <a:sym typeface="Calibri"/>
            </a:endParaRPr>
          </a:p>
        </p:txBody>
      </p:sp>
      <p:sp>
        <p:nvSpPr>
          <p:cNvPr id="510" name="Google Shape;510;p10"/>
          <p:cNvSpPr/>
          <p:nvPr/>
        </p:nvSpPr>
        <p:spPr>
          <a:xfrm>
            <a:off x="822960" y="5074920"/>
            <a:ext cx="3072384"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yalnız ISSUED certificate verification</a:t>
            </a:r>
            <a:endParaRPr b="0" i="0" sz="1100" u="none" cap="none" strike="noStrike">
              <a:solidFill>
                <a:schemeClr val="dk1"/>
              </a:solidFill>
              <a:latin typeface="Calibri"/>
              <a:ea typeface="Calibri"/>
              <a:cs typeface="Calibri"/>
              <a:sym typeface="Calibri"/>
            </a:endParaRPr>
          </a:p>
        </p:txBody>
      </p:sp>
      <p:sp>
        <p:nvSpPr>
          <p:cNvPr id="511" name="Google Shape;511;p10"/>
          <p:cNvSpPr/>
          <p:nvPr/>
        </p:nvSpPr>
        <p:spPr>
          <a:xfrm>
            <a:off x="822960" y="5458968"/>
            <a:ext cx="3090672"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60"/>
              <a:buFont typeface="Calibri"/>
              <a:buNone/>
            </a:pPr>
            <a:r>
              <a:rPr b="0" i="1" lang="en-US" sz="1060" u="none" cap="none" strike="noStrike">
                <a:solidFill>
                  <a:srgbClr val="8B909C"/>
                </a:solidFill>
                <a:latin typeface="Calibri"/>
                <a:ea typeface="Calibri"/>
                <a:cs typeface="Calibri"/>
                <a:sym typeface="Calibri"/>
              </a:rPr>
              <a:t>Database səviyyəsində Row Level Security — auth.uid() ilə ownership yoxlanışı.</a:t>
            </a:r>
            <a:endParaRPr b="0" i="0" sz="1060" u="none" cap="none" strike="noStrike">
              <a:solidFill>
                <a:schemeClr val="dk1"/>
              </a:solidFill>
              <a:latin typeface="Calibri"/>
              <a:ea typeface="Calibri"/>
              <a:cs typeface="Calibri"/>
              <a:sym typeface="Calibri"/>
            </a:endParaRPr>
          </a:p>
        </p:txBody>
      </p:sp>
      <p:sp>
        <p:nvSpPr>
          <p:cNvPr id="512" name="Google Shape;512;p10"/>
          <p:cNvSpPr/>
          <p:nvPr/>
        </p:nvSpPr>
        <p:spPr>
          <a:xfrm>
            <a:off x="4361688"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3" name="Google Shape;513;p10"/>
          <p:cNvSpPr/>
          <p:nvPr/>
        </p:nvSpPr>
        <p:spPr>
          <a:xfrm>
            <a:off x="4544568"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Error Catalog</a:t>
            </a:r>
            <a:endParaRPr b="0" i="0" sz="1250" u="none" cap="none" strike="noStrike">
              <a:solidFill>
                <a:schemeClr val="dk1"/>
              </a:solidFill>
              <a:latin typeface="Calibri"/>
              <a:ea typeface="Calibri"/>
              <a:cs typeface="Calibri"/>
              <a:sym typeface="Calibri"/>
            </a:endParaRPr>
          </a:p>
        </p:txBody>
      </p:sp>
      <p:sp>
        <p:nvSpPr>
          <p:cNvPr id="514" name="Google Shape;514;p10"/>
          <p:cNvSpPr/>
          <p:nvPr/>
        </p:nvSpPr>
        <p:spPr>
          <a:xfrm>
            <a:off x="4544568" y="1892808"/>
            <a:ext cx="56692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500"/>
              <a:buFont typeface="Calibri"/>
              <a:buNone/>
            </a:pPr>
            <a:r>
              <a:rPr b="1" i="0" lang="en-US" sz="1700" u="none" cap="none" strike="noStrike">
                <a:solidFill>
                  <a:srgbClr val="C0392B"/>
                </a:solidFill>
                <a:latin typeface="Calibri"/>
                <a:ea typeface="Calibri"/>
                <a:cs typeface="Calibri"/>
                <a:sym typeface="Calibri"/>
              </a:rPr>
              <a:t>400</a:t>
            </a:r>
            <a:endParaRPr b="0" i="0" sz="1700" u="none" cap="none" strike="noStrike">
              <a:solidFill>
                <a:schemeClr val="dk1"/>
              </a:solidFill>
              <a:latin typeface="Calibri"/>
              <a:ea typeface="Calibri"/>
              <a:cs typeface="Calibri"/>
              <a:sym typeface="Calibri"/>
            </a:endParaRPr>
          </a:p>
        </p:txBody>
      </p:sp>
      <p:sp>
        <p:nvSpPr>
          <p:cNvPr id="515" name="Google Shape;515;p10"/>
          <p:cNvSpPr/>
          <p:nvPr/>
        </p:nvSpPr>
        <p:spPr>
          <a:xfrm>
            <a:off x="5166360" y="1892808"/>
            <a:ext cx="26334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Bad Request</a:t>
            </a:r>
            <a:endParaRPr b="0" i="0" sz="1140" u="none" cap="none" strike="noStrike">
              <a:solidFill>
                <a:schemeClr val="dk1"/>
              </a:solidFill>
              <a:latin typeface="Calibri"/>
              <a:ea typeface="Calibri"/>
              <a:cs typeface="Calibri"/>
              <a:sym typeface="Calibri"/>
            </a:endParaRPr>
          </a:p>
        </p:txBody>
      </p:sp>
      <p:sp>
        <p:nvSpPr>
          <p:cNvPr id="516" name="Google Shape;516;p10"/>
          <p:cNvSpPr/>
          <p:nvPr/>
        </p:nvSpPr>
        <p:spPr>
          <a:xfrm>
            <a:off x="5166360" y="2112264"/>
            <a:ext cx="2633472"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1070" u="none" cap="none" strike="noStrike">
                <a:solidFill>
                  <a:srgbClr val="6E7480"/>
                </a:solidFill>
                <a:latin typeface="Calibri"/>
                <a:ea typeface="Calibri"/>
                <a:cs typeface="Calibri"/>
                <a:sym typeface="Calibri"/>
              </a:rPr>
              <a:t>Validation / database error</a:t>
            </a:r>
            <a:endParaRPr b="0" i="0" sz="1070" u="none" cap="none" strike="noStrike">
              <a:solidFill>
                <a:schemeClr val="dk1"/>
              </a:solidFill>
              <a:latin typeface="Calibri"/>
              <a:ea typeface="Calibri"/>
              <a:cs typeface="Calibri"/>
              <a:sym typeface="Calibri"/>
            </a:endParaRPr>
          </a:p>
        </p:txBody>
      </p:sp>
      <p:sp>
        <p:nvSpPr>
          <p:cNvPr id="517" name="Google Shape;517;p10"/>
          <p:cNvSpPr/>
          <p:nvPr/>
        </p:nvSpPr>
        <p:spPr>
          <a:xfrm>
            <a:off x="4544568" y="2496312"/>
            <a:ext cx="56692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9770E"/>
              </a:buClr>
              <a:buSzPts val="1500"/>
              <a:buFont typeface="Calibri"/>
              <a:buNone/>
            </a:pPr>
            <a:r>
              <a:rPr b="1" i="0" lang="en-US" sz="1700" u="none" cap="none" strike="noStrike">
                <a:solidFill>
                  <a:srgbClr val="B9770E"/>
                </a:solidFill>
                <a:latin typeface="Calibri"/>
                <a:ea typeface="Calibri"/>
                <a:cs typeface="Calibri"/>
                <a:sym typeface="Calibri"/>
              </a:rPr>
              <a:t>401</a:t>
            </a:r>
            <a:endParaRPr b="0" i="0" sz="1700" u="none" cap="none" strike="noStrike">
              <a:solidFill>
                <a:schemeClr val="dk1"/>
              </a:solidFill>
              <a:latin typeface="Calibri"/>
              <a:ea typeface="Calibri"/>
              <a:cs typeface="Calibri"/>
              <a:sym typeface="Calibri"/>
            </a:endParaRPr>
          </a:p>
        </p:txBody>
      </p:sp>
      <p:sp>
        <p:nvSpPr>
          <p:cNvPr id="518" name="Google Shape;518;p10"/>
          <p:cNvSpPr/>
          <p:nvPr/>
        </p:nvSpPr>
        <p:spPr>
          <a:xfrm>
            <a:off x="5166360" y="2496312"/>
            <a:ext cx="26334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Unauthorized</a:t>
            </a:r>
            <a:endParaRPr b="0" i="0" sz="1140" u="none" cap="none" strike="noStrike">
              <a:solidFill>
                <a:schemeClr val="dk1"/>
              </a:solidFill>
              <a:latin typeface="Calibri"/>
              <a:ea typeface="Calibri"/>
              <a:cs typeface="Calibri"/>
              <a:sym typeface="Calibri"/>
            </a:endParaRPr>
          </a:p>
        </p:txBody>
      </p:sp>
      <p:sp>
        <p:nvSpPr>
          <p:cNvPr id="519" name="Google Shape;519;p10"/>
          <p:cNvSpPr/>
          <p:nvPr/>
        </p:nvSpPr>
        <p:spPr>
          <a:xfrm>
            <a:off x="5166360" y="2715768"/>
            <a:ext cx="2633472"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1070" u="none" cap="none" strike="noStrike">
                <a:solidFill>
                  <a:srgbClr val="6E7480"/>
                </a:solidFill>
                <a:latin typeface="Calibri"/>
                <a:ea typeface="Calibri"/>
                <a:cs typeface="Calibri"/>
                <a:sym typeface="Calibri"/>
              </a:rPr>
              <a:t>Token yoxdur, etibarsız və ya müddəti bitib</a:t>
            </a:r>
            <a:endParaRPr b="0" i="0" sz="1070" u="none" cap="none" strike="noStrike">
              <a:solidFill>
                <a:schemeClr val="dk1"/>
              </a:solidFill>
              <a:latin typeface="Calibri"/>
              <a:ea typeface="Calibri"/>
              <a:cs typeface="Calibri"/>
              <a:sym typeface="Calibri"/>
            </a:endParaRPr>
          </a:p>
        </p:txBody>
      </p:sp>
      <p:sp>
        <p:nvSpPr>
          <p:cNvPr id="520" name="Google Shape;520;p10"/>
          <p:cNvSpPr/>
          <p:nvPr/>
        </p:nvSpPr>
        <p:spPr>
          <a:xfrm>
            <a:off x="4544568" y="3099816"/>
            <a:ext cx="56692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9770E"/>
              </a:buClr>
              <a:buSzPts val="1500"/>
              <a:buFont typeface="Calibri"/>
              <a:buNone/>
            </a:pPr>
            <a:r>
              <a:rPr b="1" i="0" lang="en-US" sz="1700" u="none" cap="none" strike="noStrike">
                <a:solidFill>
                  <a:srgbClr val="B9770E"/>
                </a:solidFill>
                <a:latin typeface="Calibri"/>
                <a:ea typeface="Calibri"/>
                <a:cs typeface="Calibri"/>
                <a:sym typeface="Calibri"/>
              </a:rPr>
              <a:t>403</a:t>
            </a:r>
            <a:endParaRPr b="0" i="0" sz="1700" u="none" cap="none" strike="noStrike">
              <a:solidFill>
                <a:schemeClr val="dk1"/>
              </a:solidFill>
              <a:latin typeface="Calibri"/>
              <a:ea typeface="Calibri"/>
              <a:cs typeface="Calibri"/>
              <a:sym typeface="Calibri"/>
            </a:endParaRPr>
          </a:p>
        </p:txBody>
      </p:sp>
      <p:sp>
        <p:nvSpPr>
          <p:cNvPr id="521" name="Google Shape;521;p10"/>
          <p:cNvSpPr/>
          <p:nvPr/>
        </p:nvSpPr>
        <p:spPr>
          <a:xfrm>
            <a:off x="5166360" y="3099816"/>
            <a:ext cx="26334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Forbidden</a:t>
            </a:r>
            <a:endParaRPr b="0" i="0" sz="1140" u="none" cap="none" strike="noStrike">
              <a:solidFill>
                <a:schemeClr val="dk1"/>
              </a:solidFill>
              <a:latin typeface="Calibri"/>
              <a:ea typeface="Calibri"/>
              <a:cs typeface="Calibri"/>
              <a:sym typeface="Calibri"/>
            </a:endParaRPr>
          </a:p>
        </p:txBody>
      </p:sp>
      <p:sp>
        <p:nvSpPr>
          <p:cNvPr id="522" name="Google Shape;522;p10"/>
          <p:cNvSpPr/>
          <p:nvPr/>
        </p:nvSpPr>
        <p:spPr>
          <a:xfrm>
            <a:off x="5166360" y="3319272"/>
            <a:ext cx="2633472"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1070" u="none" cap="none" strike="noStrike">
                <a:solidFill>
                  <a:srgbClr val="6E7480"/>
                </a:solidFill>
                <a:latin typeface="Calibri"/>
                <a:ea typeface="Calibri"/>
                <a:cs typeface="Calibri"/>
                <a:sym typeface="Calibri"/>
              </a:rPr>
              <a:t>RLS policy əməliyyata icazə vermir</a:t>
            </a:r>
            <a:endParaRPr b="0" i="0" sz="1070" u="none" cap="none" strike="noStrike">
              <a:solidFill>
                <a:schemeClr val="dk1"/>
              </a:solidFill>
              <a:latin typeface="Calibri"/>
              <a:ea typeface="Calibri"/>
              <a:cs typeface="Calibri"/>
              <a:sym typeface="Calibri"/>
            </a:endParaRPr>
          </a:p>
        </p:txBody>
      </p:sp>
      <p:sp>
        <p:nvSpPr>
          <p:cNvPr id="523" name="Google Shape;523;p10"/>
          <p:cNvSpPr/>
          <p:nvPr/>
        </p:nvSpPr>
        <p:spPr>
          <a:xfrm>
            <a:off x="4544568" y="3703320"/>
            <a:ext cx="56692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500"/>
              <a:buFont typeface="Calibri"/>
              <a:buNone/>
            </a:pPr>
            <a:r>
              <a:rPr b="1" i="0" lang="en-US" sz="1700" u="none" cap="none" strike="noStrike">
                <a:solidFill>
                  <a:srgbClr val="8B909C"/>
                </a:solidFill>
                <a:latin typeface="Calibri"/>
                <a:ea typeface="Calibri"/>
                <a:cs typeface="Calibri"/>
                <a:sym typeface="Calibri"/>
              </a:rPr>
              <a:t>404</a:t>
            </a:r>
            <a:endParaRPr b="0" i="0" sz="1700" u="none" cap="none" strike="noStrike">
              <a:solidFill>
                <a:schemeClr val="dk1"/>
              </a:solidFill>
              <a:latin typeface="Calibri"/>
              <a:ea typeface="Calibri"/>
              <a:cs typeface="Calibri"/>
              <a:sym typeface="Calibri"/>
            </a:endParaRPr>
          </a:p>
        </p:txBody>
      </p:sp>
      <p:sp>
        <p:nvSpPr>
          <p:cNvPr id="524" name="Google Shape;524;p10"/>
          <p:cNvSpPr/>
          <p:nvPr/>
        </p:nvSpPr>
        <p:spPr>
          <a:xfrm>
            <a:off x="5166360" y="3703320"/>
            <a:ext cx="26334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Not Found</a:t>
            </a:r>
            <a:endParaRPr b="0" i="0" sz="1140" u="none" cap="none" strike="noStrike">
              <a:solidFill>
                <a:schemeClr val="dk1"/>
              </a:solidFill>
              <a:latin typeface="Calibri"/>
              <a:ea typeface="Calibri"/>
              <a:cs typeface="Calibri"/>
              <a:sym typeface="Calibri"/>
            </a:endParaRPr>
          </a:p>
        </p:txBody>
      </p:sp>
      <p:sp>
        <p:nvSpPr>
          <p:cNvPr id="525" name="Google Shape;525;p10"/>
          <p:cNvSpPr/>
          <p:nvPr/>
        </p:nvSpPr>
        <p:spPr>
          <a:xfrm>
            <a:off x="5166360" y="3922776"/>
            <a:ext cx="2633472"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1070" u="none" cap="none" strike="noStrike">
                <a:solidFill>
                  <a:srgbClr val="6E7480"/>
                </a:solidFill>
                <a:latin typeface="Calibri"/>
                <a:ea typeface="Calibri"/>
                <a:cs typeface="Calibri"/>
                <a:sym typeface="Calibri"/>
              </a:rPr>
              <a:t>Resource mövcud deyil</a:t>
            </a:r>
            <a:endParaRPr b="0" i="0" sz="1070" u="none" cap="none" strike="noStrike">
              <a:solidFill>
                <a:schemeClr val="dk1"/>
              </a:solidFill>
              <a:latin typeface="Calibri"/>
              <a:ea typeface="Calibri"/>
              <a:cs typeface="Calibri"/>
              <a:sym typeface="Calibri"/>
            </a:endParaRPr>
          </a:p>
        </p:txBody>
      </p:sp>
      <p:sp>
        <p:nvSpPr>
          <p:cNvPr id="526" name="Google Shape;526;p10"/>
          <p:cNvSpPr/>
          <p:nvPr/>
        </p:nvSpPr>
        <p:spPr>
          <a:xfrm>
            <a:off x="4544568" y="4306824"/>
            <a:ext cx="56692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6BFF"/>
              </a:buClr>
              <a:buSzPts val="1500"/>
              <a:buFont typeface="Calibri"/>
              <a:buNone/>
            </a:pPr>
            <a:r>
              <a:rPr b="1" i="0" lang="en-US" sz="1700" u="none" cap="none" strike="noStrike">
                <a:solidFill>
                  <a:srgbClr val="2F6BFF"/>
                </a:solidFill>
                <a:latin typeface="Calibri"/>
                <a:ea typeface="Calibri"/>
                <a:cs typeface="Calibri"/>
                <a:sym typeface="Calibri"/>
              </a:rPr>
              <a:t>409</a:t>
            </a:r>
            <a:endParaRPr b="0" i="0" sz="1700" u="none" cap="none" strike="noStrike">
              <a:solidFill>
                <a:schemeClr val="dk1"/>
              </a:solidFill>
              <a:latin typeface="Calibri"/>
              <a:ea typeface="Calibri"/>
              <a:cs typeface="Calibri"/>
              <a:sym typeface="Calibri"/>
            </a:endParaRPr>
          </a:p>
        </p:txBody>
      </p:sp>
      <p:sp>
        <p:nvSpPr>
          <p:cNvPr id="527" name="Google Shape;527;p10"/>
          <p:cNvSpPr/>
          <p:nvPr/>
        </p:nvSpPr>
        <p:spPr>
          <a:xfrm>
            <a:off x="5166360" y="4306824"/>
            <a:ext cx="2633472"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39"/>
              <a:buFont typeface="Calibri"/>
              <a:buNone/>
            </a:pPr>
            <a:r>
              <a:rPr b="1" i="0" lang="en-US" sz="1140" u="none" cap="none" strike="noStrike">
                <a:solidFill>
                  <a:srgbClr val="232A46"/>
                </a:solidFill>
                <a:latin typeface="Calibri"/>
                <a:ea typeface="Calibri"/>
                <a:cs typeface="Calibri"/>
                <a:sym typeface="Calibri"/>
              </a:rPr>
              <a:t>Conflict</a:t>
            </a:r>
            <a:endParaRPr b="0" i="0" sz="1140" u="none" cap="none" strike="noStrike">
              <a:solidFill>
                <a:schemeClr val="dk1"/>
              </a:solidFill>
              <a:latin typeface="Calibri"/>
              <a:ea typeface="Calibri"/>
              <a:cs typeface="Calibri"/>
              <a:sym typeface="Calibri"/>
            </a:endParaRPr>
          </a:p>
        </p:txBody>
      </p:sp>
      <p:sp>
        <p:nvSpPr>
          <p:cNvPr id="528" name="Google Shape;528;p10"/>
          <p:cNvSpPr/>
          <p:nvPr/>
        </p:nvSpPr>
        <p:spPr>
          <a:xfrm>
            <a:off x="5166360" y="4526280"/>
            <a:ext cx="2633472" cy="310896"/>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70"/>
              <a:buFont typeface="Calibri"/>
              <a:buNone/>
            </a:pPr>
            <a:r>
              <a:rPr b="0" i="0" lang="en-US" sz="1070" u="none" cap="none" strike="noStrike">
                <a:solidFill>
                  <a:srgbClr val="6E7480"/>
                </a:solidFill>
                <a:latin typeface="Calibri"/>
                <a:ea typeface="Calibri"/>
                <a:cs typeface="Calibri"/>
                <a:sym typeface="Calibri"/>
              </a:rPr>
              <a:t>Unique constraint / duplicate ACTIVE enrollment</a:t>
            </a:r>
            <a:endParaRPr b="0" i="0" sz="1070" u="none" cap="none" strike="noStrike">
              <a:solidFill>
                <a:schemeClr val="dk1"/>
              </a:solidFill>
              <a:latin typeface="Calibri"/>
              <a:ea typeface="Calibri"/>
              <a:cs typeface="Calibri"/>
              <a:sym typeface="Calibri"/>
            </a:endParaRPr>
          </a:p>
        </p:txBody>
      </p:sp>
      <p:sp>
        <p:nvSpPr>
          <p:cNvPr id="529" name="Google Shape;529;p10"/>
          <p:cNvSpPr/>
          <p:nvPr/>
        </p:nvSpPr>
        <p:spPr>
          <a:xfrm>
            <a:off x="4544568" y="5020056"/>
            <a:ext cx="18288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6BFF"/>
              </a:buClr>
              <a:buSzPts val="880"/>
              <a:buFont typeface="Calibri"/>
              <a:buNone/>
            </a:pPr>
            <a:r>
              <a:rPr b="1" i="0" lang="en-US" sz="1080" u="none" cap="none" strike="noStrike">
                <a:solidFill>
                  <a:srgbClr val="2F6BFF"/>
                </a:solidFill>
                <a:latin typeface="Calibri"/>
                <a:ea typeface="Calibri"/>
                <a:cs typeface="Calibri"/>
                <a:sym typeface="Calibri"/>
              </a:rPr>
              <a:t>Real nümunələr</a:t>
            </a:r>
            <a:endParaRPr b="0" i="0" sz="1080" u="none" cap="none" strike="noStrike">
              <a:solidFill>
                <a:schemeClr val="dk1"/>
              </a:solidFill>
              <a:latin typeface="Calibri"/>
              <a:ea typeface="Calibri"/>
              <a:cs typeface="Calibri"/>
              <a:sym typeface="Calibri"/>
            </a:endParaRPr>
          </a:p>
        </p:txBody>
      </p:sp>
      <p:sp>
        <p:nvSpPr>
          <p:cNvPr id="530" name="Google Shape;530;p10"/>
          <p:cNvSpPr/>
          <p:nvPr/>
        </p:nvSpPr>
        <p:spPr>
          <a:xfrm>
            <a:off x="4544568" y="5239512"/>
            <a:ext cx="3072384" cy="65836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23505</a:t>
            </a:r>
            <a:r>
              <a:rPr b="0" i="0" lang="en-US" sz="1040" u="none" cap="none" strike="noStrike">
                <a:solidFill>
                  <a:srgbClr val="6E7480"/>
                </a:solidFill>
                <a:latin typeface="Calibri"/>
                <a:ea typeface="Calibri"/>
                <a:cs typeface="Calibri"/>
                <a:sym typeface="Calibri"/>
              </a:rPr>
              <a:t>  duplicate ACTIVE enrollment</a:t>
            </a:r>
            <a:endParaRPr b="0" i="0" sz="104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42501</a:t>
            </a:r>
            <a:r>
              <a:rPr b="0" i="0" lang="en-US" sz="1040" u="none" cap="none" strike="noStrike">
                <a:solidFill>
                  <a:srgbClr val="6E7480"/>
                </a:solidFill>
                <a:latin typeface="Calibri"/>
                <a:ea typeface="Calibri"/>
                <a:cs typeface="Calibri"/>
                <a:sym typeface="Calibri"/>
              </a:rPr>
              <a:t>  row-level security policy</a:t>
            </a:r>
            <a:endParaRPr b="0" i="0" sz="104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232A46"/>
              </a:buClr>
              <a:buSzPts val="839"/>
              <a:buFont typeface="Calibri"/>
              <a:buNone/>
            </a:pPr>
            <a:r>
              <a:rPr b="1" i="0" lang="en-US" sz="1040" u="none" cap="none" strike="noStrike">
                <a:solidFill>
                  <a:srgbClr val="232A46"/>
                </a:solidFill>
                <a:latin typeface="Calibri"/>
                <a:ea typeface="Calibri"/>
                <a:cs typeface="Calibri"/>
                <a:sym typeface="Calibri"/>
              </a:rPr>
              <a:t>PGRST303</a:t>
            </a:r>
            <a:r>
              <a:rPr b="0" i="0" lang="en-US" sz="1040" u="none" cap="none" strike="noStrike">
                <a:solidFill>
                  <a:srgbClr val="6E7480"/>
                </a:solidFill>
                <a:latin typeface="Calibri"/>
                <a:ea typeface="Calibri"/>
                <a:cs typeface="Calibri"/>
                <a:sym typeface="Calibri"/>
              </a:rPr>
              <a:t>  JWT expired</a:t>
            </a:r>
            <a:endParaRPr b="0" i="0" sz="1040" u="none" cap="none" strike="noStrike">
              <a:solidFill>
                <a:schemeClr val="dk1"/>
              </a:solidFill>
              <a:latin typeface="Calibri"/>
              <a:ea typeface="Calibri"/>
              <a:cs typeface="Calibri"/>
              <a:sym typeface="Calibri"/>
            </a:endParaRPr>
          </a:p>
        </p:txBody>
      </p:sp>
      <p:sp>
        <p:nvSpPr>
          <p:cNvPr id="531" name="Google Shape;531;p10"/>
          <p:cNvSpPr/>
          <p:nvPr/>
        </p:nvSpPr>
        <p:spPr>
          <a:xfrm>
            <a:off x="8083296"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32" name="Google Shape;532;p10"/>
          <p:cNvSpPr/>
          <p:nvPr/>
        </p:nvSpPr>
        <p:spPr>
          <a:xfrm>
            <a:off x="8266176"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Testing Pack</a:t>
            </a:r>
            <a:endParaRPr b="0" i="0" sz="1250" u="none" cap="none" strike="noStrike">
              <a:solidFill>
                <a:schemeClr val="dk1"/>
              </a:solidFill>
              <a:latin typeface="Calibri"/>
              <a:ea typeface="Calibri"/>
              <a:cs typeface="Calibri"/>
              <a:sym typeface="Calibri"/>
            </a:endParaRPr>
          </a:p>
        </p:txBody>
      </p:sp>
      <p:sp>
        <p:nvSpPr>
          <p:cNvPr id="533" name="Google Shape;533;p10"/>
          <p:cNvSpPr/>
          <p:nvPr/>
        </p:nvSpPr>
        <p:spPr>
          <a:xfrm>
            <a:off x="8266176" y="1856232"/>
            <a:ext cx="91440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6BFF"/>
              </a:buClr>
              <a:buSzPts val="2600"/>
              <a:buFont typeface="Calibri"/>
              <a:buNone/>
            </a:pPr>
            <a:r>
              <a:rPr b="1" i="0" lang="en-US" sz="2800" u="none" cap="none" strike="noStrike">
                <a:solidFill>
                  <a:srgbClr val="2F6BFF"/>
                </a:solidFill>
                <a:latin typeface="Calibri"/>
                <a:ea typeface="Calibri"/>
                <a:cs typeface="Calibri"/>
                <a:sym typeface="Calibri"/>
              </a:rPr>
              <a:t>35</a:t>
            </a:r>
            <a:endParaRPr b="0" i="0" sz="2800" u="none" cap="none" strike="noStrike">
              <a:solidFill>
                <a:schemeClr val="dk1"/>
              </a:solidFill>
              <a:latin typeface="Calibri"/>
              <a:ea typeface="Calibri"/>
              <a:cs typeface="Calibri"/>
              <a:sym typeface="Calibri"/>
            </a:endParaRPr>
          </a:p>
        </p:txBody>
      </p:sp>
      <p:sp>
        <p:nvSpPr>
          <p:cNvPr id="534" name="Google Shape;534;p10"/>
          <p:cNvSpPr/>
          <p:nvPr/>
        </p:nvSpPr>
        <p:spPr>
          <a:xfrm>
            <a:off x="9198864" y="1856232"/>
            <a:ext cx="2322576" cy="512064"/>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232A46"/>
              </a:buClr>
              <a:buSzPts val="939"/>
              <a:buFont typeface="Calibri"/>
              <a:buNone/>
            </a:pPr>
            <a:r>
              <a:rPr b="0" i="0" lang="en-US" sz="1140" u="none" cap="none" strike="noStrike">
                <a:solidFill>
                  <a:srgbClr val="232A46"/>
                </a:solidFill>
                <a:latin typeface="Calibri"/>
                <a:ea typeface="Calibri"/>
                <a:cs typeface="Calibri"/>
                <a:sym typeface="Calibri"/>
              </a:rPr>
              <a:t>Test Case kataloqda</a:t>
            </a:r>
            <a:endParaRPr b="0" i="0" sz="1140" u="none" cap="none" strike="noStrike">
              <a:solidFill>
                <a:schemeClr val="dk1"/>
              </a:solidFill>
              <a:latin typeface="Calibri"/>
              <a:ea typeface="Calibri"/>
              <a:cs typeface="Calibri"/>
              <a:sym typeface="Calibri"/>
            </a:endParaRPr>
          </a:p>
        </p:txBody>
      </p:sp>
      <p:sp>
        <p:nvSpPr>
          <p:cNvPr id="535" name="Google Shape;535;p10"/>
          <p:cNvSpPr/>
          <p:nvPr/>
        </p:nvSpPr>
        <p:spPr>
          <a:xfrm>
            <a:off x="8266176" y="2587752"/>
            <a:ext cx="91440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6BFF"/>
              </a:buClr>
              <a:buSzPts val="2600"/>
              <a:buFont typeface="Calibri"/>
              <a:buNone/>
            </a:pPr>
            <a:r>
              <a:rPr b="1" i="0" lang="en-US" sz="2800" u="none" cap="none" strike="noStrike">
                <a:solidFill>
                  <a:srgbClr val="2F6BFF"/>
                </a:solidFill>
                <a:latin typeface="Calibri"/>
                <a:ea typeface="Calibri"/>
                <a:cs typeface="Calibri"/>
                <a:sym typeface="Calibri"/>
              </a:rPr>
              <a:t>15</a:t>
            </a:r>
            <a:endParaRPr b="0" i="0" sz="2800" u="none" cap="none" strike="noStrike">
              <a:solidFill>
                <a:schemeClr val="dk1"/>
              </a:solidFill>
              <a:latin typeface="Calibri"/>
              <a:ea typeface="Calibri"/>
              <a:cs typeface="Calibri"/>
              <a:sym typeface="Calibri"/>
            </a:endParaRPr>
          </a:p>
        </p:txBody>
      </p:sp>
      <p:sp>
        <p:nvSpPr>
          <p:cNvPr id="536" name="Google Shape;536;p10"/>
          <p:cNvSpPr/>
          <p:nvPr/>
        </p:nvSpPr>
        <p:spPr>
          <a:xfrm>
            <a:off x="9198864" y="2587752"/>
            <a:ext cx="2322576" cy="512064"/>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232A46"/>
              </a:buClr>
              <a:buSzPts val="939"/>
              <a:buFont typeface="Calibri"/>
              <a:buNone/>
            </a:pPr>
            <a:r>
              <a:rPr b="0" i="0" lang="en-US" sz="1140" u="none" cap="none" strike="noStrike">
                <a:solidFill>
                  <a:srgbClr val="232A46"/>
                </a:solidFill>
                <a:latin typeface="Calibri"/>
                <a:ea typeface="Calibri"/>
                <a:cs typeface="Calibri"/>
                <a:sym typeface="Calibri"/>
              </a:rPr>
              <a:t>UAT ssenarisi</a:t>
            </a:r>
            <a:endParaRPr b="0" i="0" sz="1140" u="none" cap="none" strike="noStrike">
              <a:solidFill>
                <a:schemeClr val="dk1"/>
              </a:solidFill>
              <a:latin typeface="Calibri"/>
              <a:ea typeface="Calibri"/>
              <a:cs typeface="Calibri"/>
              <a:sym typeface="Calibri"/>
            </a:endParaRPr>
          </a:p>
        </p:txBody>
      </p:sp>
      <p:sp>
        <p:nvSpPr>
          <p:cNvPr id="537" name="Google Shape;537;p10"/>
          <p:cNvSpPr/>
          <p:nvPr/>
        </p:nvSpPr>
        <p:spPr>
          <a:xfrm>
            <a:off x="8266176" y="3319272"/>
            <a:ext cx="91440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6BFF"/>
              </a:buClr>
              <a:buSzPts val="2600"/>
              <a:buFont typeface="Calibri"/>
              <a:buNone/>
            </a:pPr>
            <a:r>
              <a:rPr b="1" i="0" lang="en-US" sz="2800" u="none" cap="none" strike="noStrike">
                <a:solidFill>
                  <a:srgbClr val="2F6BFF"/>
                </a:solidFill>
                <a:latin typeface="Calibri"/>
                <a:ea typeface="Calibri"/>
                <a:cs typeface="Calibri"/>
                <a:sym typeface="Calibri"/>
              </a:rPr>
              <a:t>63</a:t>
            </a:r>
            <a:endParaRPr b="0" i="0" sz="2800" u="none" cap="none" strike="noStrike">
              <a:solidFill>
                <a:schemeClr val="dk1"/>
              </a:solidFill>
              <a:latin typeface="Calibri"/>
              <a:ea typeface="Calibri"/>
              <a:cs typeface="Calibri"/>
              <a:sym typeface="Calibri"/>
            </a:endParaRPr>
          </a:p>
        </p:txBody>
      </p:sp>
      <p:sp>
        <p:nvSpPr>
          <p:cNvPr id="538" name="Google Shape;538;p10"/>
          <p:cNvSpPr/>
          <p:nvPr/>
        </p:nvSpPr>
        <p:spPr>
          <a:xfrm>
            <a:off x="9198864" y="3319272"/>
            <a:ext cx="2322576" cy="512064"/>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232A46"/>
              </a:buClr>
              <a:buSzPts val="939"/>
              <a:buFont typeface="Calibri"/>
              <a:buNone/>
            </a:pPr>
            <a:r>
              <a:rPr b="0" i="0" lang="en-US" sz="1140" u="none" cap="none" strike="noStrike">
                <a:solidFill>
                  <a:srgbClr val="232A46"/>
                </a:solidFill>
                <a:latin typeface="Calibri"/>
                <a:ea typeface="Calibri"/>
                <a:cs typeface="Calibri"/>
                <a:sym typeface="Calibri"/>
              </a:rPr>
              <a:t>RTM sətri — 63 tam izlənilir</a:t>
            </a:r>
            <a:endParaRPr b="0" i="0" sz="1140" u="none" cap="none" strike="noStrike">
              <a:solidFill>
                <a:schemeClr val="dk1"/>
              </a:solidFill>
              <a:latin typeface="Calibri"/>
              <a:ea typeface="Calibri"/>
              <a:cs typeface="Calibri"/>
              <a:sym typeface="Calibri"/>
            </a:endParaRPr>
          </a:p>
        </p:txBody>
      </p:sp>
      <p:sp>
        <p:nvSpPr>
          <p:cNvPr id="539" name="Google Shape;539;p10"/>
          <p:cNvSpPr/>
          <p:nvPr/>
        </p:nvSpPr>
        <p:spPr>
          <a:xfrm>
            <a:off x="8266176" y="4123944"/>
            <a:ext cx="18288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6BFF"/>
              </a:buClr>
              <a:buSzPts val="880"/>
              <a:buFont typeface="Calibri"/>
              <a:buNone/>
            </a:pPr>
            <a:r>
              <a:rPr b="1" i="0" lang="en-US" sz="1080" u="none" cap="none" strike="noStrike">
                <a:solidFill>
                  <a:srgbClr val="2F6BFF"/>
                </a:solidFill>
                <a:latin typeface="Calibri"/>
                <a:ea typeface="Calibri"/>
                <a:cs typeface="Calibri"/>
                <a:sym typeface="Calibri"/>
              </a:rPr>
              <a:t>Test növləri</a:t>
            </a:r>
            <a:endParaRPr b="0" i="0" sz="1080" u="none" cap="none" strike="noStrike">
              <a:solidFill>
                <a:schemeClr val="dk1"/>
              </a:solidFill>
              <a:latin typeface="Calibri"/>
              <a:ea typeface="Calibri"/>
              <a:cs typeface="Calibri"/>
              <a:sym typeface="Calibri"/>
            </a:endParaRPr>
          </a:p>
        </p:txBody>
      </p:sp>
      <p:sp>
        <p:nvSpPr>
          <p:cNvPr id="540" name="Google Shape;540;p10"/>
          <p:cNvSpPr/>
          <p:nvPr/>
        </p:nvSpPr>
        <p:spPr>
          <a:xfrm>
            <a:off x="8266176" y="4343400"/>
            <a:ext cx="307238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20"/>
              <a:buFont typeface="Calibri"/>
              <a:buNone/>
            </a:pPr>
            <a:r>
              <a:rPr b="0" i="0" lang="en-US" sz="1120" u="none" cap="none" strike="noStrike">
                <a:solidFill>
                  <a:srgbClr val="6E7480"/>
                </a:solidFill>
                <a:latin typeface="Calibri"/>
                <a:ea typeface="Calibri"/>
                <a:cs typeface="Calibri"/>
                <a:sym typeface="Calibri"/>
              </a:rPr>
              <a:t>Positive · Negative · Validation · Authorization · Conflict</a:t>
            </a:r>
            <a:endParaRPr b="0" i="0" sz="1120" u="none" cap="none" strike="noStrike">
              <a:solidFill>
                <a:schemeClr val="dk1"/>
              </a:solidFill>
              <a:latin typeface="Calibri"/>
              <a:ea typeface="Calibri"/>
              <a:cs typeface="Calibri"/>
              <a:sym typeface="Calibri"/>
            </a:endParaRPr>
          </a:p>
        </p:txBody>
      </p:sp>
      <p:sp>
        <p:nvSpPr>
          <p:cNvPr id="541" name="Google Shape;541;p10"/>
          <p:cNvSpPr/>
          <p:nvPr/>
        </p:nvSpPr>
        <p:spPr>
          <a:xfrm>
            <a:off x="8266176" y="4818888"/>
            <a:ext cx="2011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6BFF"/>
              </a:buClr>
              <a:buSzPts val="880"/>
              <a:buFont typeface="Calibri"/>
              <a:buNone/>
            </a:pPr>
            <a:r>
              <a:rPr b="1" i="0" lang="en-US" sz="1080" u="none" cap="none" strike="noStrike">
                <a:solidFill>
                  <a:srgbClr val="2F6BFF"/>
                </a:solidFill>
                <a:latin typeface="Calibri"/>
                <a:ea typeface="Calibri"/>
                <a:cs typeface="Calibri"/>
                <a:sym typeface="Calibri"/>
              </a:rPr>
              <a:t>Giriş / çıxış meyarları</a:t>
            </a:r>
            <a:endParaRPr b="0" i="0" sz="1080" u="none" cap="none" strike="noStrike">
              <a:solidFill>
                <a:schemeClr val="dk1"/>
              </a:solidFill>
              <a:latin typeface="Calibri"/>
              <a:ea typeface="Calibri"/>
              <a:cs typeface="Calibri"/>
              <a:sym typeface="Calibri"/>
            </a:endParaRPr>
          </a:p>
        </p:txBody>
      </p:sp>
      <p:sp>
        <p:nvSpPr>
          <p:cNvPr id="542" name="Google Shape;542;p10"/>
          <p:cNvSpPr/>
          <p:nvPr/>
        </p:nvSpPr>
        <p:spPr>
          <a:xfrm>
            <a:off x="8266175" y="5038350"/>
            <a:ext cx="3285300" cy="841200"/>
          </a:xfrm>
          <a:prstGeom prst="rect">
            <a:avLst/>
          </a:prstGeom>
          <a:noFill/>
          <a:ln>
            <a:noFill/>
          </a:ln>
        </p:spPr>
        <p:txBody>
          <a:bodyPr anchorCtr="0" anchor="t" bIns="0" lIns="0" spcFirstLastPara="1" rIns="0" wrap="square" tIns="0">
            <a:noAutofit/>
          </a:bodyPr>
          <a:lstStyle/>
          <a:p>
            <a:pPr indent="-152400" lvl="0" marL="152400" marR="0" rtl="0" algn="l">
              <a:lnSpc>
                <a:spcPct val="100000"/>
              </a:lnSpc>
              <a:spcBef>
                <a:spcPts val="0"/>
              </a:spcBef>
              <a:spcAft>
                <a:spcPts val="0"/>
              </a:spcAft>
              <a:buClr>
                <a:srgbClr val="6E7480"/>
              </a:buClr>
              <a:buSzPts val="1039"/>
              <a:buFont typeface="Calibri"/>
              <a:buChar char="•"/>
            </a:pPr>
            <a:r>
              <a:rPr b="0" i="0" lang="en-US" sz="1040" u="none" cap="none" strike="noStrike">
                <a:solidFill>
                  <a:srgbClr val="6E7480"/>
                </a:solidFill>
                <a:latin typeface="Calibri"/>
                <a:ea typeface="Calibri"/>
                <a:cs typeface="Calibri"/>
                <a:sym typeface="Calibri"/>
              </a:rPr>
              <a:t>TC-01…TC-35 üzrə ən azı 90% uğur, açıq Critical / High defekt yoxdur</a:t>
            </a:r>
            <a:endParaRPr b="0" i="0" sz="104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039"/>
              <a:buFont typeface="Calibri"/>
              <a:buChar char="•"/>
            </a:pPr>
            <a:r>
              <a:rPr b="0" i="0" lang="en-US" sz="1040" u="none" cap="none" strike="noStrike">
                <a:solidFill>
                  <a:srgbClr val="6E7480"/>
                </a:solidFill>
                <a:latin typeface="Calibri"/>
                <a:ea typeface="Calibri"/>
                <a:cs typeface="Calibri"/>
                <a:sym typeface="Calibri"/>
              </a:rPr>
              <a:t>401 / 403 / 409 və RLS ssenarilərində məlumat sızması müşahidə olunmur</a:t>
            </a:r>
            <a:endParaRPr b="0" i="0" sz="104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6E7480"/>
              </a:buClr>
              <a:buSzPts val="1039"/>
              <a:buFont typeface="Calibri"/>
              <a:buChar char="•"/>
            </a:pPr>
            <a:r>
              <a:rPr b="0" i="0" lang="en-US" sz="1040" u="none" cap="none" strike="noStrike">
                <a:solidFill>
                  <a:srgbClr val="6E7480"/>
                </a:solidFill>
                <a:latin typeface="Calibri"/>
                <a:ea typeface="Calibri"/>
                <a:cs typeface="Calibri"/>
                <a:sym typeface="Calibri"/>
              </a:rPr>
              <a:t>Business Owner və layihə komandası yekun sign-off verir</a:t>
            </a:r>
            <a:endParaRPr b="0" i="0" sz="1040" u="none" cap="none" strike="noStrike">
              <a:solidFill>
                <a:schemeClr val="dk1"/>
              </a:solidFill>
              <a:latin typeface="Calibri"/>
              <a:ea typeface="Calibri"/>
              <a:cs typeface="Calibri"/>
              <a:sym typeface="Calibri"/>
            </a:endParaRPr>
          </a:p>
        </p:txBody>
      </p:sp>
      <p:sp>
        <p:nvSpPr>
          <p:cNvPr id="543" name="Google Shape;543;p10"/>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0"/>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545" name="Google Shape;545;p10"/>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10</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550" name="Shape 550"/>
        <p:cNvGrpSpPr/>
        <p:nvPr/>
      </p:nvGrpSpPr>
      <p:grpSpPr>
        <a:xfrm>
          <a:off x="0" y="0"/>
          <a:ext cx="0" cy="0"/>
          <a:chOff x="0" y="0"/>
          <a:chExt cx="0" cy="0"/>
        </a:xfrm>
      </p:grpSpPr>
      <p:sp>
        <p:nvSpPr>
          <p:cNvPr id="551" name="Google Shape;551;p11"/>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11"/>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13 — Traceability &amp; Impact Analysis</a:t>
            </a:r>
            <a:endParaRPr b="0" i="0" sz="2500" u="none" cap="none" strike="noStrike">
              <a:solidFill>
                <a:schemeClr val="dk1"/>
              </a:solidFill>
              <a:latin typeface="Calibri"/>
              <a:ea typeface="Calibri"/>
              <a:cs typeface="Calibri"/>
              <a:sym typeface="Calibri"/>
            </a:endParaRPr>
          </a:p>
        </p:txBody>
      </p:sp>
      <p:sp>
        <p:nvSpPr>
          <p:cNvPr id="553" name="Google Shape;553;p11"/>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Hər vacib tələbin dizayn və testlə əlaqələndirildiyinin sübutu.</a:t>
            </a:r>
            <a:endParaRPr b="0" i="0" sz="1200" u="none" cap="none" strike="noStrike">
              <a:solidFill>
                <a:schemeClr val="dk1"/>
              </a:solidFill>
              <a:latin typeface="Calibri"/>
              <a:ea typeface="Calibri"/>
              <a:cs typeface="Calibri"/>
              <a:sym typeface="Calibri"/>
            </a:endParaRPr>
          </a:p>
        </p:txBody>
      </p:sp>
      <p:sp>
        <p:nvSpPr>
          <p:cNvPr id="554" name="Google Shape;554;p11"/>
          <p:cNvSpPr/>
          <p:nvPr/>
        </p:nvSpPr>
        <p:spPr>
          <a:xfrm>
            <a:off x="640080" y="1417320"/>
            <a:ext cx="6720840" cy="4526280"/>
          </a:xfrm>
          <a:prstGeom prst="roundRect">
            <a:avLst>
              <a:gd fmla="val 1414"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55" name="Google Shape;555;p11"/>
          <p:cNvSpPr/>
          <p:nvPr/>
        </p:nvSpPr>
        <p:spPr>
          <a:xfrm>
            <a:off x="822960" y="1545336"/>
            <a:ext cx="63550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Traceability Matrix Snapshot</a:t>
            </a:r>
            <a:endParaRPr b="0" i="0" sz="1350" u="none" cap="none" strike="noStrike">
              <a:solidFill>
                <a:schemeClr val="dk1"/>
              </a:solidFill>
              <a:latin typeface="Calibri"/>
              <a:ea typeface="Calibri"/>
              <a:cs typeface="Calibri"/>
              <a:sym typeface="Calibri"/>
            </a:endParaRPr>
          </a:p>
        </p:txBody>
      </p:sp>
      <p:sp>
        <p:nvSpPr>
          <p:cNvPr id="556" name="Google Shape;556;p11"/>
          <p:cNvSpPr/>
          <p:nvPr/>
        </p:nvSpPr>
        <p:spPr>
          <a:xfrm>
            <a:off x="822960" y="1874520"/>
            <a:ext cx="6355080"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6BFF"/>
              </a:buClr>
              <a:buSzPts val="939"/>
              <a:buFont typeface="Calibri"/>
              <a:buNone/>
            </a:pPr>
            <a:r>
              <a:rPr b="1" i="0" lang="en-US" sz="1240" u="none" cap="none" strike="noStrike">
                <a:solidFill>
                  <a:srgbClr val="2F6BFF"/>
                </a:solidFill>
                <a:latin typeface="Calibri"/>
                <a:ea typeface="Calibri"/>
                <a:cs typeface="Calibri"/>
                <a:sym typeface="Calibri"/>
              </a:rPr>
              <a:t>Business Need  →  Requirement  →  User Story  →  BPMN / API / DB  →  Test Case</a:t>
            </a:r>
            <a:endParaRPr b="0" i="0" sz="1240" u="none" cap="none" strike="noStrike">
              <a:solidFill>
                <a:schemeClr val="dk1"/>
              </a:solidFill>
              <a:latin typeface="Calibri"/>
              <a:ea typeface="Calibri"/>
              <a:cs typeface="Calibri"/>
              <a:sym typeface="Calibri"/>
            </a:endParaRPr>
          </a:p>
        </p:txBody>
      </p:sp>
      <p:sp>
        <p:nvSpPr>
          <p:cNvPr id="557" name="Google Shape;557;p11"/>
          <p:cNvSpPr/>
          <p:nvPr/>
        </p:nvSpPr>
        <p:spPr>
          <a:xfrm>
            <a:off x="822960" y="2203704"/>
            <a:ext cx="62179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1" i="0" lang="en-US" sz="1120" u="none" cap="none" strike="noStrike">
                <a:solidFill>
                  <a:srgbClr val="8B909C"/>
                </a:solidFill>
                <a:latin typeface="Calibri"/>
                <a:ea typeface="Calibri"/>
                <a:cs typeface="Calibri"/>
                <a:sym typeface="Calibri"/>
              </a:rPr>
              <a:t>BN ID</a:t>
            </a:r>
            <a:endParaRPr b="0" i="0" sz="1120" u="none" cap="none" strike="noStrike">
              <a:solidFill>
                <a:schemeClr val="dk1"/>
              </a:solidFill>
              <a:latin typeface="Calibri"/>
              <a:ea typeface="Calibri"/>
              <a:cs typeface="Calibri"/>
              <a:sym typeface="Calibri"/>
            </a:endParaRPr>
          </a:p>
        </p:txBody>
      </p:sp>
      <p:sp>
        <p:nvSpPr>
          <p:cNvPr id="558" name="Google Shape;558;p11"/>
          <p:cNvSpPr/>
          <p:nvPr/>
        </p:nvSpPr>
        <p:spPr>
          <a:xfrm>
            <a:off x="1481328" y="2203704"/>
            <a:ext cx="694944"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1" i="0" lang="en-US" sz="1120" u="none" cap="none" strike="noStrike">
                <a:solidFill>
                  <a:srgbClr val="8B909C"/>
                </a:solidFill>
                <a:latin typeface="Calibri"/>
                <a:ea typeface="Calibri"/>
                <a:cs typeface="Calibri"/>
                <a:sym typeface="Calibri"/>
              </a:rPr>
              <a:t>BR ID</a:t>
            </a:r>
            <a:endParaRPr b="0" i="0" sz="1120" u="none" cap="none" strike="noStrike">
              <a:solidFill>
                <a:schemeClr val="dk1"/>
              </a:solidFill>
              <a:latin typeface="Calibri"/>
              <a:ea typeface="Calibri"/>
              <a:cs typeface="Calibri"/>
              <a:sym typeface="Calibri"/>
            </a:endParaRPr>
          </a:p>
        </p:txBody>
      </p:sp>
      <p:sp>
        <p:nvSpPr>
          <p:cNvPr id="559" name="Google Shape;559;p11"/>
          <p:cNvSpPr/>
          <p:nvPr/>
        </p:nvSpPr>
        <p:spPr>
          <a:xfrm>
            <a:off x="2212849" y="2203700"/>
            <a:ext cx="556200" cy="21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1" lang="en-US" sz="1120">
                <a:solidFill>
                  <a:srgbClr val="8B909C"/>
                </a:solidFill>
                <a:latin typeface="Calibri"/>
                <a:ea typeface="Calibri"/>
                <a:cs typeface="Calibri"/>
                <a:sym typeface="Calibri"/>
              </a:rPr>
              <a:t>FR ID </a:t>
            </a:r>
            <a:endParaRPr b="0" i="0" sz="1120" u="none" cap="none" strike="noStrike">
              <a:solidFill>
                <a:schemeClr val="dk1"/>
              </a:solidFill>
              <a:latin typeface="Calibri"/>
              <a:ea typeface="Calibri"/>
              <a:cs typeface="Calibri"/>
              <a:sym typeface="Calibri"/>
            </a:endParaRPr>
          </a:p>
        </p:txBody>
      </p:sp>
      <p:sp>
        <p:nvSpPr>
          <p:cNvPr id="560" name="Google Shape;560;p11"/>
          <p:cNvSpPr/>
          <p:nvPr/>
        </p:nvSpPr>
        <p:spPr>
          <a:xfrm>
            <a:off x="4867747" y="2203704"/>
            <a:ext cx="7131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1" i="0" lang="en-US" sz="1120" u="none" cap="none" strike="noStrike">
                <a:solidFill>
                  <a:srgbClr val="8B909C"/>
                </a:solidFill>
                <a:latin typeface="Calibri"/>
                <a:ea typeface="Calibri"/>
                <a:cs typeface="Calibri"/>
                <a:sym typeface="Calibri"/>
              </a:rPr>
              <a:t>TC ID</a:t>
            </a:r>
            <a:endParaRPr b="0" i="0" sz="1120" u="none" cap="none" strike="noStrike">
              <a:solidFill>
                <a:schemeClr val="dk1"/>
              </a:solidFill>
              <a:latin typeface="Calibri"/>
              <a:ea typeface="Calibri"/>
              <a:cs typeface="Calibri"/>
              <a:sym typeface="Calibri"/>
            </a:endParaRPr>
          </a:p>
        </p:txBody>
      </p:sp>
      <p:sp>
        <p:nvSpPr>
          <p:cNvPr id="561" name="Google Shape;561;p11"/>
          <p:cNvSpPr/>
          <p:nvPr/>
        </p:nvSpPr>
        <p:spPr>
          <a:xfrm>
            <a:off x="5785249" y="2203704"/>
            <a:ext cx="6402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1" i="0" lang="en-US" sz="1120" u="none" cap="none" strike="noStrike">
                <a:solidFill>
                  <a:srgbClr val="8B909C"/>
                </a:solidFill>
                <a:latin typeface="Calibri"/>
                <a:ea typeface="Calibri"/>
                <a:cs typeface="Calibri"/>
                <a:sym typeface="Calibri"/>
              </a:rPr>
              <a:t>Status</a:t>
            </a:r>
            <a:endParaRPr b="0" i="0" sz="1120" u="none" cap="none" strike="noStrike">
              <a:solidFill>
                <a:schemeClr val="dk1"/>
              </a:solidFill>
              <a:latin typeface="Calibri"/>
              <a:ea typeface="Calibri"/>
              <a:cs typeface="Calibri"/>
              <a:sym typeface="Calibri"/>
            </a:endParaRPr>
          </a:p>
        </p:txBody>
      </p:sp>
      <p:sp>
        <p:nvSpPr>
          <p:cNvPr id="562" name="Google Shape;562;p11"/>
          <p:cNvSpPr/>
          <p:nvPr/>
        </p:nvSpPr>
        <p:spPr>
          <a:xfrm>
            <a:off x="512085" y="2385685"/>
            <a:ext cx="6355200" cy="11100"/>
          </a:xfrm>
          <a:prstGeom prst="rect">
            <a:avLst/>
          </a:prstGeom>
          <a:solidFill>
            <a:srgbClr val="E4E7EE"/>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63" name="Google Shape;563;p11"/>
          <p:cNvSpPr/>
          <p:nvPr/>
        </p:nvSpPr>
        <p:spPr>
          <a:xfrm>
            <a:off x="768096" y="2478024"/>
            <a:ext cx="6464808" cy="676656"/>
          </a:xfrm>
          <a:prstGeom prst="rect">
            <a:avLst/>
          </a:prstGeom>
          <a:solidFill>
            <a:srgbClr val="F7F9FD"/>
          </a:solidFill>
          <a:ln cap="flat" cmpd="sng" w="12700">
            <a:solidFill>
              <a:srgbClr val="F7F9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64" name="Google Shape;564;p11"/>
          <p:cNvSpPr/>
          <p:nvPr/>
        </p:nvSpPr>
        <p:spPr>
          <a:xfrm>
            <a:off x="822960" y="2514600"/>
            <a:ext cx="621792"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E4FD0"/>
              </a:buClr>
              <a:buSzPts val="830"/>
              <a:buFont typeface="Calibri"/>
              <a:buNone/>
            </a:pPr>
            <a:r>
              <a:rPr b="1" i="0" lang="en-US" sz="1130" u="none" cap="none" strike="noStrike">
                <a:solidFill>
                  <a:srgbClr val="1E4FD0"/>
                </a:solidFill>
                <a:latin typeface="Calibri"/>
                <a:ea typeface="Calibri"/>
                <a:cs typeface="Calibri"/>
                <a:sym typeface="Calibri"/>
              </a:rPr>
              <a:t>BN-0</a:t>
            </a:r>
            <a:r>
              <a:rPr b="1" lang="en-US" sz="1130">
                <a:solidFill>
                  <a:srgbClr val="1E4FD0"/>
                </a:solidFill>
                <a:latin typeface="Calibri"/>
                <a:ea typeface="Calibri"/>
                <a:cs typeface="Calibri"/>
                <a:sym typeface="Calibri"/>
              </a:rPr>
              <a:t>2</a:t>
            </a:r>
            <a:endParaRPr b="0" i="0" sz="1130" u="none" cap="none" strike="noStrike">
              <a:solidFill>
                <a:schemeClr val="dk1"/>
              </a:solidFill>
              <a:latin typeface="Calibri"/>
              <a:ea typeface="Calibri"/>
              <a:cs typeface="Calibri"/>
              <a:sym typeface="Calibri"/>
            </a:endParaRPr>
          </a:p>
        </p:txBody>
      </p:sp>
      <p:sp>
        <p:nvSpPr>
          <p:cNvPr id="565" name="Google Shape;565;p11"/>
          <p:cNvSpPr/>
          <p:nvPr/>
        </p:nvSpPr>
        <p:spPr>
          <a:xfrm>
            <a:off x="1481328" y="2514600"/>
            <a:ext cx="694944"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E4FD0"/>
              </a:buClr>
              <a:buSzPts val="830"/>
              <a:buFont typeface="Calibri"/>
              <a:buNone/>
            </a:pPr>
            <a:r>
              <a:rPr b="1" i="0" lang="en-US" sz="1130" u="none" cap="none" strike="noStrike">
                <a:solidFill>
                  <a:srgbClr val="1E4FD0"/>
                </a:solidFill>
                <a:latin typeface="Calibri"/>
                <a:ea typeface="Calibri"/>
                <a:cs typeface="Calibri"/>
                <a:sym typeface="Calibri"/>
              </a:rPr>
              <a:t>BR-001</a:t>
            </a:r>
            <a:endParaRPr b="0" i="0" sz="1130" u="none" cap="none" strike="noStrike">
              <a:solidFill>
                <a:schemeClr val="dk1"/>
              </a:solidFill>
              <a:latin typeface="Calibri"/>
              <a:ea typeface="Calibri"/>
              <a:cs typeface="Calibri"/>
              <a:sym typeface="Calibri"/>
            </a:endParaRPr>
          </a:p>
        </p:txBody>
      </p:sp>
      <p:sp>
        <p:nvSpPr>
          <p:cNvPr id="566" name="Google Shape;566;p11"/>
          <p:cNvSpPr/>
          <p:nvPr/>
        </p:nvSpPr>
        <p:spPr>
          <a:xfrm>
            <a:off x="2212849" y="2514600"/>
            <a:ext cx="7131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1130">
                <a:solidFill>
                  <a:srgbClr val="6E7480"/>
                </a:solidFill>
                <a:latin typeface="Calibri"/>
                <a:ea typeface="Calibri"/>
                <a:cs typeface="Calibri"/>
                <a:sym typeface="Calibri"/>
              </a:rPr>
              <a:t>FR-ADM-07 </a:t>
            </a:r>
            <a:endParaRPr b="0" i="0" sz="1130" u="none" cap="none" strike="noStrike">
              <a:solidFill>
                <a:schemeClr val="dk1"/>
              </a:solidFill>
              <a:latin typeface="Calibri"/>
              <a:ea typeface="Calibri"/>
              <a:cs typeface="Calibri"/>
              <a:sym typeface="Calibri"/>
            </a:endParaRPr>
          </a:p>
        </p:txBody>
      </p:sp>
      <p:sp>
        <p:nvSpPr>
          <p:cNvPr id="567" name="Google Shape;567;p11"/>
          <p:cNvSpPr/>
          <p:nvPr/>
        </p:nvSpPr>
        <p:spPr>
          <a:xfrm>
            <a:off x="4874459" y="2505513"/>
            <a:ext cx="7131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b="0" i="0" lang="en-US" sz="1130" u="none" cap="none" strike="noStrike">
                <a:solidFill>
                  <a:srgbClr val="6E7480"/>
                </a:solidFill>
                <a:latin typeface="Calibri"/>
                <a:ea typeface="Calibri"/>
                <a:cs typeface="Calibri"/>
                <a:sym typeface="Calibri"/>
              </a:rPr>
              <a:t>TC-13</a:t>
            </a:r>
            <a:endParaRPr b="0" i="0" sz="1130" u="none" cap="none" strike="noStrike">
              <a:solidFill>
                <a:schemeClr val="dk1"/>
              </a:solidFill>
              <a:latin typeface="Calibri"/>
              <a:ea typeface="Calibri"/>
              <a:cs typeface="Calibri"/>
              <a:sym typeface="Calibri"/>
            </a:endParaRPr>
          </a:p>
        </p:txBody>
      </p:sp>
      <p:sp>
        <p:nvSpPr>
          <p:cNvPr id="568" name="Google Shape;568;p11"/>
          <p:cNvSpPr/>
          <p:nvPr/>
        </p:nvSpPr>
        <p:spPr>
          <a:xfrm>
            <a:off x="5791946" y="2514600"/>
            <a:ext cx="10218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F8A70"/>
              </a:buClr>
              <a:buSzPts val="830"/>
              <a:buFont typeface="Calibri"/>
              <a:buNone/>
            </a:pPr>
            <a:r>
              <a:rPr lang="en-US" sz="1130">
                <a:solidFill>
                  <a:srgbClr val="1F8A70"/>
                </a:solidFill>
                <a:latin typeface="Calibri"/>
                <a:ea typeface="Calibri"/>
                <a:cs typeface="Calibri"/>
                <a:sym typeface="Calibri"/>
              </a:rPr>
              <a:t>Əhatə olunub </a:t>
            </a:r>
            <a:endParaRPr b="0" i="0" sz="1130" u="none" cap="none" strike="noStrike">
              <a:solidFill>
                <a:schemeClr val="dk1"/>
              </a:solidFill>
              <a:latin typeface="Calibri"/>
              <a:ea typeface="Calibri"/>
              <a:cs typeface="Calibri"/>
              <a:sym typeface="Calibri"/>
            </a:endParaRPr>
          </a:p>
        </p:txBody>
      </p:sp>
      <p:sp>
        <p:nvSpPr>
          <p:cNvPr id="569" name="Google Shape;569;p11"/>
          <p:cNvSpPr/>
          <p:nvPr/>
        </p:nvSpPr>
        <p:spPr>
          <a:xfrm>
            <a:off x="822960" y="3227832"/>
            <a:ext cx="621792"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E4FD0"/>
              </a:buClr>
              <a:buSzPts val="830"/>
              <a:buFont typeface="Calibri"/>
              <a:buNone/>
            </a:pPr>
            <a:r>
              <a:rPr b="1" i="0" lang="en-US" sz="1130" u="none" cap="none" strike="noStrike">
                <a:solidFill>
                  <a:srgbClr val="1E4FD0"/>
                </a:solidFill>
                <a:latin typeface="Calibri"/>
                <a:ea typeface="Calibri"/>
                <a:cs typeface="Calibri"/>
                <a:sym typeface="Calibri"/>
              </a:rPr>
              <a:t>BN-01</a:t>
            </a:r>
            <a:endParaRPr b="0" i="0" sz="1130" u="none" cap="none" strike="noStrike">
              <a:solidFill>
                <a:schemeClr val="dk1"/>
              </a:solidFill>
              <a:latin typeface="Calibri"/>
              <a:ea typeface="Calibri"/>
              <a:cs typeface="Calibri"/>
              <a:sym typeface="Calibri"/>
            </a:endParaRPr>
          </a:p>
        </p:txBody>
      </p:sp>
      <p:sp>
        <p:nvSpPr>
          <p:cNvPr id="570" name="Google Shape;570;p11"/>
          <p:cNvSpPr/>
          <p:nvPr/>
        </p:nvSpPr>
        <p:spPr>
          <a:xfrm>
            <a:off x="1481328" y="3227832"/>
            <a:ext cx="694944"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E4FD0"/>
              </a:buClr>
              <a:buSzPts val="830"/>
              <a:buFont typeface="Calibri"/>
              <a:buNone/>
            </a:pPr>
            <a:r>
              <a:rPr b="1" i="0" lang="en-US" sz="1130" u="none" cap="none" strike="noStrike">
                <a:solidFill>
                  <a:srgbClr val="1E4FD0"/>
                </a:solidFill>
                <a:latin typeface="Calibri"/>
                <a:ea typeface="Calibri"/>
                <a:cs typeface="Calibri"/>
                <a:sym typeface="Calibri"/>
              </a:rPr>
              <a:t>BR-00</a:t>
            </a:r>
            <a:r>
              <a:rPr b="1" lang="en-US" sz="1130">
                <a:solidFill>
                  <a:srgbClr val="1E4FD0"/>
                </a:solidFill>
                <a:latin typeface="Calibri"/>
                <a:ea typeface="Calibri"/>
                <a:cs typeface="Calibri"/>
                <a:sym typeface="Calibri"/>
              </a:rPr>
              <a:t>3, BR-029</a:t>
            </a:r>
            <a:endParaRPr b="0" i="0" sz="1130" u="none" cap="none" strike="noStrike">
              <a:solidFill>
                <a:schemeClr val="dk1"/>
              </a:solidFill>
              <a:latin typeface="Calibri"/>
              <a:ea typeface="Calibri"/>
              <a:cs typeface="Calibri"/>
              <a:sym typeface="Calibri"/>
            </a:endParaRPr>
          </a:p>
        </p:txBody>
      </p:sp>
      <p:sp>
        <p:nvSpPr>
          <p:cNvPr id="571" name="Google Shape;571;p11"/>
          <p:cNvSpPr/>
          <p:nvPr/>
        </p:nvSpPr>
        <p:spPr>
          <a:xfrm>
            <a:off x="2212848" y="3227832"/>
            <a:ext cx="1883664"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1130">
                <a:solidFill>
                  <a:srgbClr val="6E7480"/>
                </a:solidFill>
                <a:latin typeface="Calibri"/>
                <a:ea typeface="Calibri"/>
                <a:cs typeface="Calibri"/>
                <a:sym typeface="Calibri"/>
              </a:rPr>
              <a:t>FR-ADM-04 </a:t>
            </a:r>
            <a:endParaRPr b="0" i="0" sz="1130" u="none" cap="none" strike="noStrike">
              <a:solidFill>
                <a:schemeClr val="dk1"/>
              </a:solidFill>
              <a:latin typeface="Calibri"/>
              <a:ea typeface="Calibri"/>
              <a:cs typeface="Calibri"/>
              <a:sym typeface="Calibri"/>
            </a:endParaRPr>
          </a:p>
        </p:txBody>
      </p:sp>
      <p:sp>
        <p:nvSpPr>
          <p:cNvPr id="572" name="Google Shape;572;p11"/>
          <p:cNvSpPr/>
          <p:nvPr/>
        </p:nvSpPr>
        <p:spPr>
          <a:xfrm>
            <a:off x="768096" y="3904488"/>
            <a:ext cx="6464808" cy="676656"/>
          </a:xfrm>
          <a:prstGeom prst="rect">
            <a:avLst/>
          </a:prstGeom>
          <a:solidFill>
            <a:srgbClr val="F7F9FD"/>
          </a:solidFill>
          <a:ln cap="flat" cmpd="sng" w="12700">
            <a:solidFill>
              <a:srgbClr val="F7F9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73" name="Google Shape;573;p11"/>
          <p:cNvSpPr/>
          <p:nvPr/>
        </p:nvSpPr>
        <p:spPr>
          <a:xfrm>
            <a:off x="822960" y="3941064"/>
            <a:ext cx="621792"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E4FD0"/>
              </a:buClr>
              <a:buSzPts val="830"/>
              <a:buFont typeface="Calibri"/>
              <a:buNone/>
            </a:pPr>
            <a:r>
              <a:rPr b="1" i="0" lang="en-US" sz="1130" u="none" cap="none" strike="noStrike">
                <a:solidFill>
                  <a:srgbClr val="1E4FD0"/>
                </a:solidFill>
                <a:latin typeface="Calibri"/>
                <a:ea typeface="Calibri"/>
                <a:cs typeface="Calibri"/>
                <a:sym typeface="Calibri"/>
              </a:rPr>
              <a:t>BN-01</a:t>
            </a:r>
            <a:endParaRPr b="0" i="0" sz="1130" u="none" cap="none" strike="noStrike">
              <a:solidFill>
                <a:schemeClr val="dk1"/>
              </a:solidFill>
              <a:latin typeface="Calibri"/>
              <a:ea typeface="Calibri"/>
              <a:cs typeface="Calibri"/>
              <a:sym typeface="Calibri"/>
            </a:endParaRPr>
          </a:p>
        </p:txBody>
      </p:sp>
      <p:sp>
        <p:nvSpPr>
          <p:cNvPr id="574" name="Google Shape;574;p11"/>
          <p:cNvSpPr/>
          <p:nvPr/>
        </p:nvSpPr>
        <p:spPr>
          <a:xfrm>
            <a:off x="1481328" y="3941064"/>
            <a:ext cx="694944"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E4FD0"/>
              </a:buClr>
              <a:buSzPts val="830"/>
              <a:buFont typeface="Calibri"/>
              <a:buNone/>
            </a:pPr>
            <a:r>
              <a:rPr b="1" i="0" lang="en-US" sz="1130" u="none" cap="none" strike="noStrike">
                <a:solidFill>
                  <a:srgbClr val="1E4FD0"/>
                </a:solidFill>
                <a:latin typeface="Calibri"/>
                <a:ea typeface="Calibri"/>
                <a:cs typeface="Calibri"/>
                <a:sym typeface="Calibri"/>
              </a:rPr>
              <a:t>BR-00</a:t>
            </a:r>
            <a:r>
              <a:rPr b="1" lang="en-US" sz="1130">
                <a:solidFill>
                  <a:srgbClr val="1E4FD0"/>
                </a:solidFill>
                <a:latin typeface="Calibri"/>
                <a:ea typeface="Calibri"/>
                <a:cs typeface="Calibri"/>
                <a:sym typeface="Calibri"/>
              </a:rPr>
              <a:t>5</a:t>
            </a:r>
            <a:endParaRPr b="0" i="0" sz="1130" u="none" cap="none" strike="noStrike">
              <a:solidFill>
                <a:schemeClr val="dk1"/>
              </a:solidFill>
              <a:latin typeface="Calibri"/>
              <a:ea typeface="Calibri"/>
              <a:cs typeface="Calibri"/>
              <a:sym typeface="Calibri"/>
            </a:endParaRPr>
          </a:p>
        </p:txBody>
      </p:sp>
      <p:sp>
        <p:nvSpPr>
          <p:cNvPr id="575" name="Google Shape;575;p11"/>
          <p:cNvSpPr/>
          <p:nvPr/>
        </p:nvSpPr>
        <p:spPr>
          <a:xfrm>
            <a:off x="2212848" y="3941064"/>
            <a:ext cx="1883664"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1130">
                <a:solidFill>
                  <a:srgbClr val="6E7480"/>
                </a:solidFill>
                <a:latin typeface="Calibri"/>
                <a:ea typeface="Calibri"/>
                <a:cs typeface="Calibri"/>
                <a:sym typeface="Calibri"/>
              </a:rPr>
              <a:t>FR-ADM-05 </a:t>
            </a:r>
            <a:endParaRPr b="0" i="0" sz="1130" u="none" cap="none" strike="noStrike">
              <a:solidFill>
                <a:schemeClr val="dk1"/>
              </a:solidFill>
              <a:latin typeface="Calibri"/>
              <a:ea typeface="Calibri"/>
              <a:cs typeface="Calibri"/>
              <a:sym typeface="Calibri"/>
            </a:endParaRPr>
          </a:p>
        </p:txBody>
      </p:sp>
      <p:sp>
        <p:nvSpPr>
          <p:cNvPr id="576" name="Google Shape;576;p11"/>
          <p:cNvSpPr/>
          <p:nvPr/>
        </p:nvSpPr>
        <p:spPr>
          <a:xfrm>
            <a:off x="822960" y="4654296"/>
            <a:ext cx="621792"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E4FD0"/>
              </a:buClr>
              <a:buSzPts val="830"/>
              <a:buFont typeface="Calibri"/>
              <a:buNone/>
            </a:pPr>
            <a:r>
              <a:rPr b="1" i="0" lang="en-US" sz="1130" u="none" cap="none" strike="noStrike">
                <a:solidFill>
                  <a:srgbClr val="1E4FD0"/>
                </a:solidFill>
                <a:latin typeface="Calibri"/>
                <a:ea typeface="Calibri"/>
                <a:cs typeface="Calibri"/>
                <a:sym typeface="Calibri"/>
              </a:rPr>
              <a:t>BN-01</a:t>
            </a:r>
            <a:endParaRPr b="0" i="0" sz="1130" u="none" cap="none" strike="noStrike">
              <a:solidFill>
                <a:schemeClr val="dk1"/>
              </a:solidFill>
              <a:latin typeface="Calibri"/>
              <a:ea typeface="Calibri"/>
              <a:cs typeface="Calibri"/>
              <a:sym typeface="Calibri"/>
            </a:endParaRPr>
          </a:p>
        </p:txBody>
      </p:sp>
      <p:sp>
        <p:nvSpPr>
          <p:cNvPr id="577" name="Google Shape;577;p11"/>
          <p:cNvSpPr/>
          <p:nvPr/>
        </p:nvSpPr>
        <p:spPr>
          <a:xfrm>
            <a:off x="1481328" y="4654296"/>
            <a:ext cx="694944"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E4FD0"/>
              </a:buClr>
              <a:buSzPts val="830"/>
              <a:buFont typeface="Calibri"/>
              <a:buNone/>
            </a:pPr>
            <a:r>
              <a:rPr b="1" i="0" lang="en-US" sz="1130" u="none" cap="none" strike="noStrike">
                <a:solidFill>
                  <a:srgbClr val="1E4FD0"/>
                </a:solidFill>
                <a:latin typeface="Calibri"/>
                <a:ea typeface="Calibri"/>
                <a:cs typeface="Calibri"/>
                <a:sym typeface="Calibri"/>
              </a:rPr>
              <a:t>BR-004, 009</a:t>
            </a:r>
            <a:endParaRPr b="0" i="0" sz="1130" u="none" cap="none" strike="noStrike">
              <a:solidFill>
                <a:schemeClr val="dk1"/>
              </a:solidFill>
              <a:latin typeface="Calibri"/>
              <a:ea typeface="Calibri"/>
              <a:cs typeface="Calibri"/>
              <a:sym typeface="Calibri"/>
            </a:endParaRPr>
          </a:p>
        </p:txBody>
      </p:sp>
      <p:sp>
        <p:nvSpPr>
          <p:cNvPr id="578" name="Google Shape;578;p11"/>
          <p:cNvSpPr/>
          <p:nvPr/>
        </p:nvSpPr>
        <p:spPr>
          <a:xfrm>
            <a:off x="2212848" y="4654296"/>
            <a:ext cx="1883664" cy="621792"/>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1130">
                <a:solidFill>
                  <a:srgbClr val="6E7480"/>
                </a:solidFill>
                <a:latin typeface="Calibri"/>
                <a:ea typeface="Calibri"/>
                <a:cs typeface="Calibri"/>
                <a:sym typeface="Calibri"/>
              </a:rPr>
              <a:t>FR-ADM-09 </a:t>
            </a:r>
            <a:endParaRPr b="0" i="0" sz="1130" u="none" cap="none" strike="noStrike">
              <a:solidFill>
                <a:schemeClr val="dk1"/>
              </a:solidFill>
              <a:latin typeface="Calibri"/>
              <a:ea typeface="Calibri"/>
              <a:cs typeface="Calibri"/>
              <a:sym typeface="Calibri"/>
            </a:endParaRPr>
          </a:p>
        </p:txBody>
      </p:sp>
      <p:sp>
        <p:nvSpPr>
          <p:cNvPr id="579" name="Google Shape;579;p11"/>
          <p:cNvSpPr/>
          <p:nvPr/>
        </p:nvSpPr>
        <p:spPr>
          <a:xfrm>
            <a:off x="822960" y="5458968"/>
            <a:ext cx="63550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80"/>
              <a:buFont typeface="Calibri"/>
              <a:buNone/>
            </a:pPr>
            <a:r>
              <a:t/>
            </a:r>
            <a:endParaRPr b="0" i="0" sz="1180" u="none" cap="none" strike="noStrike">
              <a:solidFill>
                <a:schemeClr val="dk1"/>
              </a:solidFill>
              <a:latin typeface="Calibri"/>
              <a:ea typeface="Calibri"/>
              <a:cs typeface="Calibri"/>
              <a:sym typeface="Calibri"/>
            </a:endParaRPr>
          </a:p>
        </p:txBody>
      </p:sp>
      <p:sp>
        <p:nvSpPr>
          <p:cNvPr id="580" name="Google Shape;580;p11"/>
          <p:cNvSpPr/>
          <p:nvPr/>
        </p:nvSpPr>
        <p:spPr>
          <a:xfrm>
            <a:off x="7626096" y="1417320"/>
            <a:ext cx="3925519" cy="4526280"/>
          </a:xfrm>
          <a:prstGeom prst="roundRect">
            <a:avLst>
              <a:gd fmla="val 1631"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81" name="Google Shape;581;p11"/>
          <p:cNvSpPr/>
          <p:nvPr/>
        </p:nvSpPr>
        <p:spPr>
          <a:xfrm>
            <a:off x="7808976" y="1545336"/>
            <a:ext cx="355975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350" u="none" cap="none" strike="noStrike">
                <a:solidFill>
                  <a:srgbClr val="232A46"/>
                </a:solidFill>
                <a:latin typeface="Arial"/>
                <a:ea typeface="Arial"/>
                <a:cs typeface="Arial"/>
                <a:sym typeface="Arial"/>
              </a:rPr>
              <a:t>Impact Example</a:t>
            </a:r>
            <a:endParaRPr b="0" i="0" sz="1350" u="none" cap="none" strike="noStrike">
              <a:solidFill>
                <a:schemeClr val="dk1"/>
              </a:solidFill>
              <a:latin typeface="Calibri"/>
              <a:ea typeface="Calibri"/>
              <a:cs typeface="Calibri"/>
              <a:sym typeface="Calibri"/>
            </a:endParaRPr>
          </a:p>
        </p:txBody>
      </p:sp>
      <p:sp>
        <p:nvSpPr>
          <p:cNvPr id="582" name="Google Shape;582;p11"/>
          <p:cNvSpPr/>
          <p:nvPr/>
        </p:nvSpPr>
        <p:spPr>
          <a:xfrm>
            <a:off x="7808976" y="1892808"/>
            <a:ext cx="3559759"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60"/>
              <a:buFont typeface="Calibri"/>
              <a:buNone/>
            </a:pPr>
            <a:r>
              <a:rPr b="1" i="0" lang="en-US" sz="1260" u="none" cap="none" strike="noStrike">
                <a:solidFill>
                  <a:srgbClr val="232A46"/>
                </a:solidFill>
                <a:latin typeface="Calibri"/>
                <a:ea typeface="Calibri"/>
                <a:cs typeface="Calibri"/>
                <a:sym typeface="Calibri"/>
              </a:rPr>
              <a:t>Əgər BR-001 (capacity qaydası) dəyişərsə:</a:t>
            </a:r>
            <a:endParaRPr b="0" i="0" sz="1260" u="none" cap="none" strike="noStrike">
              <a:solidFill>
                <a:schemeClr val="dk1"/>
              </a:solidFill>
              <a:latin typeface="Calibri"/>
              <a:ea typeface="Calibri"/>
              <a:cs typeface="Calibri"/>
              <a:sym typeface="Calibri"/>
            </a:endParaRPr>
          </a:p>
        </p:txBody>
      </p:sp>
      <p:sp>
        <p:nvSpPr>
          <p:cNvPr id="583" name="Google Shape;583;p11"/>
          <p:cNvSpPr/>
          <p:nvPr/>
        </p:nvSpPr>
        <p:spPr>
          <a:xfrm>
            <a:off x="7808976" y="2295144"/>
            <a:ext cx="32004" cy="438912"/>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84" name="Google Shape;584;p11"/>
          <p:cNvSpPr/>
          <p:nvPr/>
        </p:nvSpPr>
        <p:spPr>
          <a:xfrm>
            <a:off x="7955280" y="2258568"/>
            <a:ext cx="3395167"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60"/>
              <a:buFont typeface="Calibri"/>
              <a:buNone/>
            </a:pPr>
            <a:r>
              <a:rPr b="0" i="0" lang="en-US" sz="1160" u="none" cap="none" strike="noStrike">
                <a:solidFill>
                  <a:srgbClr val="8B909C"/>
                </a:solidFill>
                <a:latin typeface="Calibri"/>
                <a:ea typeface="Calibri"/>
                <a:cs typeface="Calibri"/>
                <a:sym typeface="Calibri"/>
              </a:rPr>
              <a:t>Requirement impacted</a:t>
            </a:r>
            <a:endParaRPr b="0" i="0" sz="1160" u="none" cap="none" strike="noStrike">
              <a:solidFill>
                <a:schemeClr val="dk1"/>
              </a:solidFill>
              <a:latin typeface="Calibri"/>
              <a:ea typeface="Calibri"/>
              <a:cs typeface="Calibri"/>
              <a:sym typeface="Calibri"/>
            </a:endParaRPr>
          </a:p>
        </p:txBody>
      </p:sp>
      <p:sp>
        <p:nvSpPr>
          <p:cNvPr id="585" name="Google Shape;585;p11"/>
          <p:cNvSpPr/>
          <p:nvPr/>
        </p:nvSpPr>
        <p:spPr>
          <a:xfrm>
            <a:off x="7955280" y="2459736"/>
            <a:ext cx="3395167" cy="3657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232A46"/>
              </a:buClr>
              <a:buSzPts val="939"/>
              <a:buFont typeface="Calibri"/>
              <a:buNone/>
            </a:pPr>
            <a:r>
              <a:rPr b="1" i="0" lang="en-US" sz="1240" u="none" cap="none" strike="noStrike">
                <a:solidFill>
                  <a:srgbClr val="232A46"/>
                </a:solidFill>
                <a:latin typeface="Calibri"/>
                <a:ea typeface="Calibri"/>
                <a:cs typeface="Calibri"/>
                <a:sym typeface="Calibri"/>
              </a:rPr>
              <a:t>FR-ADM-07</a:t>
            </a:r>
            <a:endParaRPr b="0" i="0" sz="1240" u="none" cap="none" strike="noStrike">
              <a:solidFill>
                <a:schemeClr val="dk1"/>
              </a:solidFill>
              <a:latin typeface="Calibri"/>
              <a:ea typeface="Calibri"/>
              <a:cs typeface="Calibri"/>
              <a:sym typeface="Calibri"/>
            </a:endParaRPr>
          </a:p>
        </p:txBody>
      </p:sp>
      <p:sp>
        <p:nvSpPr>
          <p:cNvPr id="586" name="Google Shape;586;p11"/>
          <p:cNvSpPr/>
          <p:nvPr/>
        </p:nvSpPr>
        <p:spPr>
          <a:xfrm>
            <a:off x="7808976" y="2898648"/>
            <a:ext cx="32004" cy="438912"/>
          </a:xfrm>
          <a:prstGeom prst="rect">
            <a:avLst/>
          </a:prstGeom>
          <a:solidFill>
            <a:srgbClr val="1F8A70"/>
          </a:solidFill>
          <a:ln cap="flat" cmpd="sng" w="12700">
            <a:solidFill>
              <a:srgbClr val="1F8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87" name="Google Shape;587;p11"/>
          <p:cNvSpPr/>
          <p:nvPr/>
        </p:nvSpPr>
        <p:spPr>
          <a:xfrm>
            <a:off x="7955280" y="2862072"/>
            <a:ext cx="3395167"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60"/>
              <a:buFont typeface="Calibri"/>
              <a:buNone/>
            </a:pPr>
            <a:r>
              <a:rPr b="0" i="0" lang="en-US" sz="1160" u="none" cap="none" strike="noStrike">
                <a:solidFill>
                  <a:srgbClr val="8B909C"/>
                </a:solidFill>
                <a:latin typeface="Calibri"/>
                <a:ea typeface="Calibri"/>
                <a:cs typeface="Calibri"/>
                <a:sym typeface="Calibri"/>
              </a:rPr>
              <a:t>API impacted</a:t>
            </a:r>
            <a:endParaRPr b="0" i="0" sz="1160" u="none" cap="none" strike="noStrike">
              <a:solidFill>
                <a:schemeClr val="dk1"/>
              </a:solidFill>
              <a:latin typeface="Calibri"/>
              <a:ea typeface="Calibri"/>
              <a:cs typeface="Calibri"/>
              <a:sym typeface="Calibri"/>
            </a:endParaRPr>
          </a:p>
        </p:txBody>
      </p:sp>
      <p:sp>
        <p:nvSpPr>
          <p:cNvPr id="588" name="Google Shape;588;p11"/>
          <p:cNvSpPr/>
          <p:nvPr/>
        </p:nvSpPr>
        <p:spPr>
          <a:xfrm>
            <a:off x="7955280" y="3063240"/>
            <a:ext cx="3395167" cy="3657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232A46"/>
              </a:buClr>
              <a:buSzPts val="939"/>
              <a:buFont typeface="Calibri"/>
              <a:buNone/>
            </a:pPr>
            <a:r>
              <a:rPr b="1" i="0" lang="en-US" sz="1240" u="none" cap="none" strike="noStrike">
                <a:solidFill>
                  <a:srgbClr val="232A46"/>
                </a:solidFill>
                <a:latin typeface="Calibri"/>
                <a:ea typeface="Calibri"/>
                <a:cs typeface="Calibri"/>
                <a:sym typeface="Calibri"/>
              </a:rPr>
              <a:t>POST /enrollments</a:t>
            </a:r>
            <a:endParaRPr b="0" i="0" sz="124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232A46"/>
              </a:buClr>
              <a:buSzPts val="939"/>
              <a:buFont typeface="Calibri"/>
              <a:buNone/>
            </a:pPr>
            <a:r>
              <a:rPr b="1" i="0" lang="en-US" sz="1240" u="none" cap="none" strike="noStrike">
                <a:solidFill>
                  <a:srgbClr val="232A46"/>
                </a:solidFill>
                <a:latin typeface="Calibri"/>
                <a:ea typeface="Calibri"/>
                <a:cs typeface="Calibri"/>
                <a:sym typeface="Calibri"/>
              </a:rPr>
              <a:t>PATCH /course_instances</a:t>
            </a:r>
            <a:endParaRPr b="0" i="0" sz="1240" u="none" cap="none" strike="noStrike">
              <a:solidFill>
                <a:schemeClr val="dk1"/>
              </a:solidFill>
              <a:latin typeface="Calibri"/>
              <a:ea typeface="Calibri"/>
              <a:cs typeface="Calibri"/>
              <a:sym typeface="Calibri"/>
            </a:endParaRPr>
          </a:p>
        </p:txBody>
      </p:sp>
      <p:sp>
        <p:nvSpPr>
          <p:cNvPr id="589" name="Google Shape;589;p11"/>
          <p:cNvSpPr/>
          <p:nvPr/>
        </p:nvSpPr>
        <p:spPr>
          <a:xfrm>
            <a:off x="7808976" y="3502152"/>
            <a:ext cx="32004" cy="438912"/>
          </a:xfrm>
          <a:prstGeom prst="rect">
            <a:avLst/>
          </a:prstGeom>
          <a:solidFill>
            <a:srgbClr val="7C6BF0"/>
          </a:solidFill>
          <a:ln cap="flat" cmpd="sng" w="12700">
            <a:solidFill>
              <a:srgbClr val="7C6B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90" name="Google Shape;590;p11"/>
          <p:cNvSpPr/>
          <p:nvPr/>
        </p:nvSpPr>
        <p:spPr>
          <a:xfrm>
            <a:off x="7955280" y="3465576"/>
            <a:ext cx="3395167"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60"/>
              <a:buFont typeface="Calibri"/>
              <a:buNone/>
            </a:pPr>
            <a:r>
              <a:rPr b="0" i="0" lang="en-US" sz="1160" u="none" cap="none" strike="noStrike">
                <a:solidFill>
                  <a:srgbClr val="8B909C"/>
                </a:solidFill>
                <a:latin typeface="Calibri"/>
                <a:ea typeface="Calibri"/>
                <a:cs typeface="Calibri"/>
                <a:sym typeface="Calibri"/>
              </a:rPr>
              <a:t>DB impacted</a:t>
            </a:r>
            <a:endParaRPr b="0" i="0" sz="1160" u="none" cap="none" strike="noStrike">
              <a:solidFill>
                <a:schemeClr val="dk1"/>
              </a:solidFill>
              <a:latin typeface="Calibri"/>
              <a:ea typeface="Calibri"/>
              <a:cs typeface="Calibri"/>
              <a:sym typeface="Calibri"/>
            </a:endParaRPr>
          </a:p>
        </p:txBody>
      </p:sp>
      <p:sp>
        <p:nvSpPr>
          <p:cNvPr id="591" name="Google Shape;591;p11"/>
          <p:cNvSpPr/>
          <p:nvPr/>
        </p:nvSpPr>
        <p:spPr>
          <a:xfrm>
            <a:off x="7955280" y="3666744"/>
            <a:ext cx="3395167" cy="3657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232A46"/>
              </a:buClr>
              <a:buSzPts val="939"/>
              <a:buFont typeface="Calibri"/>
              <a:buNone/>
            </a:pPr>
            <a:r>
              <a:rPr b="1" i="0" lang="en-US" sz="1240" u="none" cap="none" strike="noStrike">
                <a:solidFill>
                  <a:srgbClr val="232A46"/>
                </a:solidFill>
                <a:latin typeface="Calibri"/>
                <a:ea typeface="Calibri"/>
                <a:cs typeface="Calibri"/>
                <a:sym typeface="Calibri"/>
              </a:rPr>
              <a:t>COURSE_INSTANCE.capacity</a:t>
            </a:r>
            <a:endParaRPr b="0" i="0" sz="1240" u="none" cap="none" strike="noStrike">
              <a:solidFill>
                <a:schemeClr val="dk1"/>
              </a:solidFill>
              <a:latin typeface="Calibri"/>
              <a:ea typeface="Calibri"/>
              <a:cs typeface="Calibri"/>
              <a:sym typeface="Calibri"/>
            </a:endParaRPr>
          </a:p>
        </p:txBody>
      </p:sp>
      <p:sp>
        <p:nvSpPr>
          <p:cNvPr id="592" name="Google Shape;592;p11"/>
          <p:cNvSpPr/>
          <p:nvPr/>
        </p:nvSpPr>
        <p:spPr>
          <a:xfrm>
            <a:off x="7808976" y="4105656"/>
            <a:ext cx="32004" cy="438912"/>
          </a:xfrm>
          <a:prstGeom prst="rect">
            <a:avLst/>
          </a:prstGeom>
          <a:solidFill>
            <a:srgbClr val="B9770E"/>
          </a:solidFill>
          <a:ln cap="flat" cmpd="sng" w="12700">
            <a:solidFill>
              <a:srgbClr val="B9770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93" name="Google Shape;593;p11"/>
          <p:cNvSpPr/>
          <p:nvPr/>
        </p:nvSpPr>
        <p:spPr>
          <a:xfrm>
            <a:off x="7955280" y="4069080"/>
            <a:ext cx="3395167"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60"/>
              <a:buFont typeface="Calibri"/>
              <a:buNone/>
            </a:pPr>
            <a:r>
              <a:rPr b="0" i="0" lang="en-US" sz="1160" u="none" cap="none" strike="noStrike">
                <a:solidFill>
                  <a:srgbClr val="8B909C"/>
                </a:solidFill>
                <a:latin typeface="Calibri"/>
                <a:ea typeface="Calibri"/>
                <a:cs typeface="Calibri"/>
                <a:sym typeface="Calibri"/>
              </a:rPr>
              <a:t>Test impacted</a:t>
            </a:r>
            <a:endParaRPr b="0" i="0" sz="1160" u="none" cap="none" strike="noStrike">
              <a:solidFill>
                <a:schemeClr val="dk1"/>
              </a:solidFill>
              <a:latin typeface="Calibri"/>
              <a:ea typeface="Calibri"/>
              <a:cs typeface="Calibri"/>
              <a:sym typeface="Calibri"/>
            </a:endParaRPr>
          </a:p>
        </p:txBody>
      </p:sp>
      <p:sp>
        <p:nvSpPr>
          <p:cNvPr id="594" name="Google Shape;594;p11"/>
          <p:cNvSpPr/>
          <p:nvPr/>
        </p:nvSpPr>
        <p:spPr>
          <a:xfrm>
            <a:off x="7955280" y="4270248"/>
            <a:ext cx="3395167" cy="3657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232A46"/>
              </a:buClr>
              <a:buSzPts val="939"/>
              <a:buFont typeface="Calibri"/>
              <a:buNone/>
            </a:pPr>
            <a:r>
              <a:rPr b="1" i="0" lang="en-US" sz="1240" u="none" cap="none" strike="noStrike">
                <a:solidFill>
                  <a:srgbClr val="232A46"/>
                </a:solidFill>
                <a:latin typeface="Calibri"/>
                <a:ea typeface="Calibri"/>
                <a:cs typeface="Calibri"/>
                <a:sym typeface="Calibri"/>
              </a:rPr>
              <a:t>TC-13</a:t>
            </a:r>
            <a:endParaRPr b="0" i="0" sz="1240" u="none" cap="none" strike="noStrike">
              <a:solidFill>
                <a:schemeClr val="dk1"/>
              </a:solidFill>
              <a:latin typeface="Calibri"/>
              <a:ea typeface="Calibri"/>
              <a:cs typeface="Calibri"/>
              <a:sym typeface="Calibri"/>
            </a:endParaRPr>
          </a:p>
        </p:txBody>
      </p:sp>
      <p:sp>
        <p:nvSpPr>
          <p:cNvPr id="595" name="Google Shape;595;p11"/>
          <p:cNvSpPr/>
          <p:nvPr/>
        </p:nvSpPr>
        <p:spPr>
          <a:xfrm>
            <a:off x="7808976" y="4709160"/>
            <a:ext cx="32004" cy="438912"/>
          </a:xfrm>
          <a:prstGeom prst="rect">
            <a:avLst/>
          </a:prstGeom>
          <a:solidFill>
            <a:srgbClr val="1E4FD0"/>
          </a:solidFill>
          <a:ln cap="flat" cmpd="sng" w="12700">
            <a:solidFill>
              <a:srgbClr val="1E4F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96" name="Google Shape;596;p11"/>
          <p:cNvSpPr/>
          <p:nvPr/>
        </p:nvSpPr>
        <p:spPr>
          <a:xfrm>
            <a:off x="7955280" y="4672584"/>
            <a:ext cx="3395167"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60"/>
              <a:buFont typeface="Calibri"/>
              <a:buNone/>
            </a:pPr>
            <a:r>
              <a:rPr b="0" i="0" lang="en-US" sz="1160" u="none" cap="none" strike="noStrike">
                <a:solidFill>
                  <a:srgbClr val="8B909C"/>
                </a:solidFill>
                <a:latin typeface="Calibri"/>
                <a:ea typeface="Calibri"/>
                <a:cs typeface="Calibri"/>
                <a:sym typeface="Calibri"/>
              </a:rPr>
              <a:t>Code module</a:t>
            </a:r>
            <a:endParaRPr b="0" i="0" sz="1160" u="none" cap="none" strike="noStrike">
              <a:solidFill>
                <a:schemeClr val="dk1"/>
              </a:solidFill>
              <a:latin typeface="Calibri"/>
              <a:ea typeface="Calibri"/>
              <a:cs typeface="Calibri"/>
              <a:sym typeface="Calibri"/>
            </a:endParaRPr>
          </a:p>
        </p:txBody>
      </p:sp>
      <p:sp>
        <p:nvSpPr>
          <p:cNvPr id="597" name="Google Shape;597;p11"/>
          <p:cNvSpPr/>
          <p:nvPr/>
        </p:nvSpPr>
        <p:spPr>
          <a:xfrm>
            <a:off x="7955280" y="4873752"/>
            <a:ext cx="3395167" cy="3657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232A46"/>
              </a:buClr>
              <a:buSzPts val="939"/>
              <a:buFont typeface="Calibri"/>
              <a:buNone/>
            </a:pPr>
            <a:r>
              <a:rPr b="1" i="0" lang="en-US" sz="1240" u="none" cap="none" strike="noStrike">
                <a:solidFill>
                  <a:srgbClr val="232A46"/>
                </a:solidFill>
                <a:latin typeface="Calibri"/>
                <a:ea typeface="Calibri"/>
                <a:cs typeface="Calibri"/>
                <a:sym typeface="Calibri"/>
              </a:rPr>
              <a:t>MOD-COURSE-MGMT</a:t>
            </a:r>
            <a:endParaRPr b="0" i="0" sz="1240" u="none" cap="none" strike="noStrike">
              <a:solidFill>
                <a:schemeClr val="dk1"/>
              </a:solidFill>
              <a:latin typeface="Calibri"/>
              <a:ea typeface="Calibri"/>
              <a:cs typeface="Calibri"/>
              <a:sym typeface="Calibri"/>
            </a:endParaRPr>
          </a:p>
        </p:txBody>
      </p:sp>
      <p:sp>
        <p:nvSpPr>
          <p:cNvPr id="598" name="Google Shape;598;p11"/>
          <p:cNvSpPr/>
          <p:nvPr/>
        </p:nvSpPr>
        <p:spPr>
          <a:xfrm>
            <a:off x="7808976" y="5166360"/>
            <a:ext cx="3559759" cy="566928"/>
          </a:xfrm>
          <a:prstGeom prst="roundRect">
            <a:avLst>
              <a:gd fmla="val 9677" name="adj"/>
            </a:avLst>
          </a:prstGeom>
          <a:solidFill>
            <a:srgbClr val="E7EFFF"/>
          </a:solidFill>
          <a:ln cap="flat" cmpd="sng" w="12700">
            <a:solidFill>
              <a:srgbClr val="C9DA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99" name="Google Shape;599;p11"/>
          <p:cNvSpPr/>
          <p:nvPr/>
        </p:nvSpPr>
        <p:spPr>
          <a:xfrm>
            <a:off x="7936992" y="5166360"/>
            <a:ext cx="3303727"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4FD0"/>
              </a:buClr>
              <a:buSzPts val="860"/>
              <a:buFont typeface="Calibri"/>
              <a:buNone/>
            </a:pPr>
            <a:r>
              <a:rPr b="1" i="0" lang="en-US" sz="1160" u="none" cap="none" strike="noStrike">
                <a:solidFill>
                  <a:srgbClr val="1E4FD0"/>
                </a:solidFill>
                <a:latin typeface="Calibri"/>
                <a:ea typeface="Calibri"/>
                <a:cs typeface="Calibri"/>
                <a:sym typeface="Calibri"/>
              </a:rPr>
              <a:t>Bir qayda dəyişikliyinin təsiri tələbdən test case-ə qədər bir sətirdə izlənilir.</a:t>
            </a:r>
            <a:endParaRPr b="0" i="0" sz="1160" u="none" cap="none" strike="noStrike">
              <a:solidFill>
                <a:schemeClr val="dk1"/>
              </a:solidFill>
              <a:latin typeface="Calibri"/>
              <a:ea typeface="Calibri"/>
              <a:cs typeface="Calibri"/>
              <a:sym typeface="Calibri"/>
            </a:endParaRPr>
          </a:p>
        </p:txBody>
      </p:sp>
      <p:sp>
        <p:nvSpPr>
          <p:cNvPr id="600" name="Google Shape;600;p11"/>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1"/>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602" name="Google Shape;602;p11"/>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11</a:t>
            </a:r>
            <a:endParaRPr b="0" i="0" sz="850" u="none" cap="none" strike="noStrike">
              <a:solidFill>
                <a:schemeClr val="dk1"/>
              </a:solidFill>
              <a:latin typeface="Calibri"/>
              <a:ea typeface="Calibri"/>
              <a:cs typeface="Calibri"/>
              <a:sym typeface="Calibri"/>
            </a:endParaRPr>
          </a:p>
        </p:txBody>
      </p:sp>
      <p:sp>
        <p:nvSpPr>
          <p:cNvPr id="603" name="Google Shape;603;p11"/>
          <p:cNvSpPr/>
          <p:nvPr/>
        </p:nvSpPr>
        <p:spPr>
          <a:xfrm>
            <a:off x="5791952" y="3218650"/>
            <a:ext cx="14409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F8A70"/>
              </a:buClr>
              <a:buSzPts val="830"/>
              <a:buFont typeface="Calibri"/>
              <a:buNone/>
            </a:pPr>
            <a:r>
              <a:rPr lang="en-US" sz="1130">
                <a:solidFill>
                  <a:srgbClr val="1F8A70"/>
                </a:solidFill>
                <a:latin typeface="Calibri"/>
                <a:ea typeface="Calibri"/>
                <a:cs typeface="Calibri"/>
                <a:sym typeface="Calibri"/>
              </a:rPr>
              <a:t>Qismən əhatə olunub </a:t>
            </a:r>
            <a:endParaRPr b="0" i="0" sz="1130" u="none" cap="none" strike="noStrike">
              <a:solidFill>
                <a:schemeClr val="dk1"/>
              </a:solidFill>
              <a:latin typeface="Calibri"/>
              <a:ea typeface="Calibri"/>
              <a:cs typeface="Calibri"/>
              <a:sym typeface="Calibri"/>
            </a:endParaRPr>
          </a:p>
        </p:txBody>
      </p:sp>
      <p:sp>
        <p:nvSpPr>
          <p:cNvPr id="604" name="Google Shape;604;p11"/>
          <p:cNvSpPr/>
          <p:nvPr/>
        </p:nvSpPr>
        <p:spPr>
          <a:xfrm>
            <a:off x="5791952" y="3945588"/>
            <a:ext cx="14409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F8A70"/>
              </a:buClr>
              <a:buSzPts val="830"/>
              <a:buFont typeface="Calibri"/>
              <a:buNone/>
            </a:pPr>
            <a:r>
              <a:rPr lang="en-US" sz="1130">
                <a:solidFill>
                  <a:srgbClr val="1F8A70"/>
                </a:solidFill>
                <a:latin typeface="Calibri"/>
                <a:ea typeface="Calibri"/>
                <a:cs typeface="Calibri"/>
                <a:sym typeface="Calibri"/>
              </a:rPr>
              <a:t>Qismən əhatə olunub </a:t>
            </a:r>
            <a:endParaRPr b="0" i="0" sz="1130" u="none" cap="none" strike="noStrike">
              <a:solidFill>
                <a:schemeClr val="dk1"/>
              </a:solidFill>
              <a:latin typeface="Calibri"/>
              <a:ea typeface="Calibri"/>
              <a:cs typeface="Calibri"/>
              <a:sym typeface="Calibri"/>
            </a:endParaRPr>
          </a:p>
        </p:txBody>
      </p:sp>
      <p:sp>
        <p:nvSpPr>
          <p:cNvPr id="605" name="Google Shape;605;p11"/>
          <p:cNvSpPr/>
          <p:nvPr/>
        </p:nvSpPr>
        <p:spPr>
          <a:xfrm>
            <a:off x="5791952" y="4617650"/>
            <a:ext cx="14409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F8A70"/>
              </a:buClr>
              <a:buSzPts val="830"/>
              <a:buFont typeface="Calibri"/>
              <a:buNone/>
            </a:pPr>
            <a:r>
              <a:rPr lang="en-US" sz="1130">
                <a:solidFill>
                  <a:srgbClr val="1F8A70"/>
                </a:solidFill>
                <a:latin typeface="Calibri"/>
                <a:ea typeface="Calibri"/>
                <a:cs typeface="Calibri"/>
                <a:sym typeface="Calibri"/>
              </a:rPr>
              <a:t>TC hazırlanacq</a:t>
            </a:r>
            <a:r>
              <a:rPr lang="en-US" sz="1130">
                <a:solidFill>
                  <a:srgbClr val="1F8A70"/>
                </a:solidFill>
                <a:latin typeface="Calibri"/>
                <a:ea typeface="Calibri"/>
                <a:cs typeface="Calibri"/>
                <a:sym typeface="Calibri"/>
              </a:rPr>
              <a:t> </a:t>
            </a:r>
            <a:endParaRPr b="0" i="0" sz="1130" u="none" cap="none" strike="noStrike">
              <a:solidFill>
                <a:schemeClr val="dk1"/>
              </a:solidFill>
              <a:latin typeface="Calibri"/>
              <a:ea typeface="Calibri"/>
              <a:cs typeface="Calibri"/>
              <a:sym typeface="Calibri"/>
            </a:endParaRPr>
          </a:p>
        </p:txBody>
      </p:sp>
      <p:sp>
        <p:nvSpPr>
          <p:cNvPr id="606" name="Google Shape;606;p11"/>
          <p:cNvSpPr/>
          <p:nvPr/>
        </p:nvSpPr>
        <p:spPr>
          <a:xfrm>
            <a:off x="3117028" y="2203700"/>
            <a:ext cx="1667400" cy="23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09C"/>
              </a:buClr>
              <a:buSzPts val="820"/>
              <a:buFont typeface="Calibri"/>
              <a:buNone/>
            </a:pPr>
            <a:r>
              <a:rPr b="1" lang="en-US" sz="1120">
                <a:solidFill>
                  <a:srgbClr val="8B909C"/>
                </a:solidFill>
                <a:latin typeface="Calibri"/>
                <a:ea typeface="Calibri"/>
                <a:cs typeface="Calibri"/>
                <a:sym typeface="Calibri"/>
              </a:rPr>
              <a:t>FR ID Description </a:t>
            </a:r>
            <a:endParaRPr b="0" i="0" sz="1120" u="none" cap="none" strike="noStrike">
              <a:solidFill>
                <a:schemeClr val="dk1"/>
              </a:solidFill>
              <a:latin typeface="Calibri"/>
              <a:ea typeface="Calibri"/>
              <a:cs typeface="Calibri"/>
              <a:sym typeface="Calibri"/>
            </a:endParaRPr>
          </a:p>
        </p:txBody>
      </p:sp>
      <p:sp>
        <p:nvSpPr>
          <p:cNvPr id="607" name="Google Shape;607;p11"/>
          <p:cNvSpPr/>
          <p:nvPr/>
        </p:nvSpPr>
        <p:spPr>
          <a:xfrm>
            <a:off x="3117027" y="2514600"/>
            <a:ext cx="16674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800">
                <a:solidFill>
                  <a:srgbClr val="6E7480"/>
                </a:solidFill>
                <a:latin typeface="Calibri"/>
                <a:ea typeface="Calibri"/>
                <a:cs typeface="Calibri"/>
                <a:sym typeface="Calibri"/>
              </a:rPr>
              <a:t>Sistem administratora course instance capacity-sinin mövcud aktiv enrollment sayından aşağı dəyərə endirilməsinə imkan verməməlidir.</a:t>
            </a:r>
            <a:endParaRPr b="0" i="0" sz="800" u="none" cap="none" strike="noStrike">
              <a:solidFill>
                <a:schemeClr val="dk1"/>
              </a:solidFill>
              <a:latin typeface="Calibri"/>
              <a:ea typeface="Calibri"/>
              <a:cs typeface="Calibri"/>
              <a:sym typeface="Calibri"/>
            </a:endParaRPr>
          </a:p>
        </p:txBody>
      </p:sp>
      <p:sp>
        <p:nvSpPr>
          <p:cNvPr id="608" name="Google Shape;608;p11"/>
          <p:cNvSpPr/>
          <p:nvPr/>
        </p:nvSpPr>
        <p:spPr>
          <a:xfrm>
            <a:off x="3117027" y="3218638"/>
            <a:ext cx="16674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800">
                <a:solidFill>
                  <a:srgbClr val="6E7480"/>
                </a:solidFill>
                <a:latin typeface="Calibri"/>
                <a:ea typeface="Calibri"/>
                <a:cs typeface="Calibri"/>
                <a:sym typeface="Calibri"/>
              </a:rPr>
              <a:t>Sistem administratora müəllimin konkret course instance/session-a təyinatını yaratmaq və ləğv etmək imkanı verməlidir.</a:t>
            </a:r>
            <a:endParaRPr b="0" i="0" sz="800" u="none" cap="none" strike="noStrike">
              <a:solidFill>
                <a:schemeClr val="dk1"/>
              </a:solidFill>
              <a:latin typeface="Calibri"/>
              <a:ea typeface="Calibri"/>
              <a:cs typeface="Calibri"/>
              <a:sym typeface="Calibri"/>
            </a:endParaRPr>
          </a:p>
        </p:txBody>
      </p:sp>
      <p:sp>
        <p:nvSpPr>
          <p:cNvPr id="609" name="Google Shape;609;p11"/>
          <p:cNvSpPr/>
          <p:nvPr/>
        </p:nvSpPr>
        <p:spPr>
          <a:xfrm>
            <a:off x="3117027" y="3936463"/>
            <a:ext cx="16674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800">
                <a:solidFill>
                  <a:srgbClr val="6E7480"/>
                </a:solidFill>
                <a:latin typeface="Calibri"/>
                <a:ea typeface="Calibri"/>
                <a:cs typeface="Calibri"/>
                <a:sym typeface="Calibri"/>
              </a:rPr>
              <a:t>Sistem administratora kurs yaratmaq, redaktə etmək, silmək və ya CANCELLED statusuna keçirmək imkanı verməlidir.</a:t>
            </a:r>
            <a:endParaRPr b="0" i="0" sz="800" u="none" cap="none" strike="noStrike">
              <a:solidFill>
                <a:schemeClr val="dk1"/>
              </a:solidFill>
              <a:latin typeface="Calibri"/>
              <a:ea typeface="Calibri"/>
              <a:cs typeface="Calibri"/>
              <a:sym typeface="Calibri"/>
            </a:endParaRPr>
          </a:p>
        </p:txBody>
      </p:sp>
      <p:sp>
        <p:nvSpPr>
          <p:cNvPr id="610" name="Google Shape;610;p11"/>
          <p:cNvSpPr/>
          <p:nvPr/>
        </p:nvSpPr>
        <p:spPr>
          <a:xfrm>
            <a:off x="3117027" y="4636013"/>
            <a:ext cx="16674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800">
                <a:solidFill>
                  <a:srgbClr val="6E7480"/>
                </a:solidFill>
                <a:latin typeface="Calibri"/>
                <a:ea typeface="Calibri"/>
                <a:cs typeface="Calibri"/>
                <a:sym typeface="Calibri"/>
              </a:rPr>
              <a:t>Sistem administratora kurs üçün prerequisite təyin etmək imkanı verməlidir.</a:t>
            </a:r>
            <a:endParaRPr b="0" i="0" sz="800" u="none" cap="none" strike="noStrike">
              <a:solidFill>
                <a:schemeClr val="dk1"/>
              </a:solidFill>
              <a:latin typeface="Calibri"/>
              <a:ea typeface="Calibri"/>
              <a:cs typeface="Calibri"/>
              <a:sym typeface="Calibri"/>
            </a:endParaRPr>
          </a:p>
        </p:txBody>
      </p:sp>
      <p:sp>
        <p:nvSpPr>
          <p:cNvPr id="611" name="Google Shape;611;p11"/>
          <p:cNvSpPr/>
          <p:nvPr/>
        </p:nvSpPr>
        <p:spPr>
          <a:xfrm>
            <a:off x="4874459" y="3218625"/>
            <a:ext cx="7131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1130">
                <a:solidFill>
                  <a:srgbClr val="6E7480"/>
                </a:solidFill>
                <a:latin typeface="Calibri"/>
                <a:ea typeface="Calibri"/>
                <a:cs typeface="Calibri"/>
                <a:sym typeface="Calibri"/>
              </a:rPr>
              <a:t>TC-13, TC-41 </a:t>
            </a:r>
            <a:endParaRPr b="0" i="0" sz="1130" u="none" cap="none" strike="noStrike">
              <a:solidFill>
                <a:schemeClr val="dk1"/>
              </a:solidFill>
              <a:latin typeface="Calibri"/>
              <a:ea typeface="Calibri"/>
              <a:cs typeface="Calibri"/>
              <a:sym typeface="Calibri"/>
            </a:endParaRPr>
          </a:p>
        </p:txBody>
      </p:sp>
      <p:sp>
        <p:nvSpPr>
          <p:cNvPr id="612" name="Google Shape;612;p11"/>
          <p:cNvSpPr/>
          <p:nvPr/>
        </p:nvSpPr>
        <p:spPr>
          <a:xfrm>
            <a:off x="4874459" y="3945588"/>
            <a:ext cx="7131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1130">
                <a:solidFill>
                  <a:srgbClr val="6E7480"/>
                </a:solidFill>
                <a:latin typeface="Calibri"/>
                <a:ea typeface="Calibri"/>
                <a:cs typeface="Calibri"/>
                <a:sym typeface="Calibri"/>
              </a:rPr>
              <a:t>TC-12 </a:t>
            </a:r>
            <a:endParaRPr b="0" i="0" sz="1130" u="none" cap="none" strike="noStrike">
              <a:solidFill>
                <a:schemeClr val="dk1"/>
              </a:solidFill>
              <a:latin typeface="Calibri"/>
              <a:ea typeface="Calibri"/>
              <a:cs typeface="Calibri"/>
              <a:sym typeface="Calibri"/>
            </a:endParaRPr>
          </a:p>
        </p:txBody>
      </p:sp>
      <p:sp>
        <p:nvSpPr>
          <p:cNvPr id="613" name="Google Shape;613;p11"/>
          <p:cNvSpPr/>
          <p:nvPr/>
        </p:nvSpPr>
        <p:spPr>
          <a:xfrm>
            <a:off x="4874449" y="4645125"/>
            <a:ext cx="817800" cy="6219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6E7480"/>
              </a:buClr>
              <a:buSzPts val="830"/>
              <a:buFont typeface="Calibri"/>
              <a:buNone/>
            </a:pPr>
            <a:r>
              <a:rPr lang="en-US" sz="1130">
                <a:solidFill>
                  <a:srgbClr val="6E7480"/>
                </a:solidFill>
                <a:latin typeface="Calibri"/>
                <a:ea typeface="Calibri"/>
                <a:cs typeface="Calibri"/>
                <a:sym typeface="Calibri"/>
              </a:rPr>
              <a:t>Planlaşdırılıb </a:t>
            </a:r>
            <a:endParaRPr b="0" i="0" sz="113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C"/>
        </a:solidFill>
      </p:bgPr>
    </p:bg>
    <p:spTree>
      <p:nvGrpSpPr>
        <p:cNvPr id="618" name="Shape 618"/>
        <p:cNvGrpSpPr/>
        <p:nvPr/>
      </p:nvGrpSpPr>
      <p:grpSpPr>
        <a:xfrm>
          <a:off x="0" y="0"/>
          <a:ext cx="0" cy="0"/>
          <a:chOff x="0" y="0"/>
          <a:chExt cx="0" cy="0"/>
        </a:xfrm>
      </p:grpSpPr>
      <p:sp>
        <p:nvSpPr>
          <p:cNvPr id="619" name="Google Shape;619;p12"/>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2"/>
          <p:cNvSpPr/>
          <p:nvPr/>
        </p:nvSpPr>
        <p:spPr>
          <a:xfrm>
            <a:off x="640080" y="402336"/>
            <a:ext cx="10911535"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2500"/>
              <a:buFont typeface="Arial"/>
              <a:buNone/>
            </a:pPr>
            <a:r>
              <a:rPr b="1" i="0" lang="en-US" sz="2500" u="none" cap="none" strike="noStrike">
                <a:solidFill>
                  <a:srgbClr val="232A46"/>
                </a:solidFill>
                <a:latin typeface="Arial"/>
                <a:ea typeface="Arial"/>
                <a:cs typeface="Arial"/>
                <a:sym typeface="Arial"/>
              </a:rPr>
              <a:t>14 — Final Outcome &amp; Business Value</a:t>
            </a:r>
            <a:endParaRPr b="0" i="0" sz="2500" u="none" cap="none" strike="noStrike">
              <a:solidFill>
                <a:schemeClr val="dk1"/>
              </a:solidFill>
              <a:latin typeface="Calibri"/>
              <a:ea typeface="Calibri"/>
              <a:cs typeface="Calibri"/>
              <a:sym typeface="Calibri"/>
            </a:endParaRPr>
          </a:p>
        </p:txBody>
      </p:sp>
      <p:sp>
        <p:nvSpPr>
          <p:cNvPr id="621" name="Google Shape;621;p12"/>
          <p:cNvSpPr/>
          <p:nvPr/>
        </p:nvSpPr>
        <p:spPr>
          <a:xfrm>
            <a:off x="640080" y="914400"/>
            <a:ext cx="109115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09C"/>
              </a:buClr>
              <a:buSzPts val="1200"/>
              <a:buFont typeface="Calibri"/>
              <a:buNone/>
            </a:pPr>
            <a:r>
              <a:rPr b="0" i="0" lang="en-US" sz="1200" u="none" cap="none" strike="noStrike">
                <a:solidFill>
                  <a:srgbClr val="8B909C"/>
                </a:solidFill>
                <a:latin typeface="Calibri"/>
                <a:ea typeface="Calibri"/>
                <a:cs typeface="Calibri"/>
                <a:sym typeface="Calibri"/>
              </a:rPr>
              <a:t>AS-IS-dən TO-BE-yə nə dəyişdi və həll niyə dəyərlidir.</a:t>
            </a:r>
            <a:endParaRPr b="0" i="0" sz="1200" u="none" cap="none" strike="noStrike">
              <a:solidFill>
                <a:schemeClr val="dk1"/>
              </a:solidFill>
              <a:latin typeface="Calibri"/>
              <a:ea typeface="Calibri"/>
              <a:cs typeface="Calibri"/>
              <a:sym typeface="Calibri"/>
            </a:endParaRPr>
          </a:p>
        </p:txBody>
      </p:sp>
      <p:sp>
        <p:nvSpPr>
          <p:cNvPr id="622" name="Google Shape;622;p12"/>
          <p:cNvSpPr/>
          <p:nvPr/>
        </p:nvSpPr>
        <p:spPr>
          <a:xfrm>
            <a:off x="630942" y="1385320"/>
            <a:ext cx="3456300" cy="452640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3" name="Google Shape;623;p12"/>
          <p:cNvSpPr/>
          <p:nvPr/>
        </p:nvSpPr>
        <p:spPr>
          <a:xfrm>
            <a:off x="822960"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Before</a:t>
            </a:r>
            <a:endParaRPr b="0" i="0" sz="1250" u="none" cap="none" strike="noStrike">
              <a:solidFill>
                <a:schemeClr val="dk1"/>
              </a:solidFill>
              <a:latin typeface="Calibri"/>
              <a:ea typeface="Calibri"/>
              <a:cs typeface="Calibri"/>
              <a:sym typeface="Calibri"/>
            </a:endParaRPr>
          </a:p>
        </p:txBody>
      </p:sp>
      <p:sp>
        <p:nvSpPr>
          <p:cNvPr id="624" name="Google Shape;624;p12"/>
          <p:cNvSpPr/>
          <p:nvPr/>
        </p:nvSpPr>
        <p:spPr>
          <a:xfrm>
            <a:off x="822960" y="1856232"/>
            <a:ext cx="786384" cy="210312"/>
          </a:xfrm>
          <a:prstGeom prst="roundRect">
            <a:avLst>
              <a:gd fmla="val 21739" name="adj"/>
            </a:avLst>
          </a:prstGeom>
          <a:solidFill>
            <a:srgbClr val="F0F1F5"/>
          </a:solidFill>
          <a:ln cap="flat" cmpd="sng" w="12700">
            <a:solidFill>
              <a:srgbClr val="E0E2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5" name="Google Shape;625;p12"/>
          <p:cNvSpPr/>
          <p:nvPr/>
        </p:nvSpPr>
        <p:spPr>
          <a:xfrm>
            <a:off x="822960" y="1856232"/>
            <a:ext cx="78638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480"/>
              </a:buClr>
              <a:buSzPts val="760"/>
              <a:buFont typeface="Calibri"/>
              <a:buNone/>
            </a:pPr>
            <a:r>
              <a:rPr b="1" i="0" lang="en-US" sz="960" u="none" cap="none" strike="noStrike">
                <a:solidFill>
                  <a:srgbClr val="6E7480"/>
                </a:solidFill>
                <a:latin typeface="Calibri"/>
                <a:ea typeface="Calibri"/>
                <a:cs typeface="Calibri"/>
                <a:sym typeface="Calibri"/>
              </a:rPr>
              <a:t>AS-IS</a:t>
            </a:r>
            <a:endParaRPr b="0" i="0" sz="960" u="none" cap="none" strike="noStrike">
              <a:solidFill>
                <a:schemeClr val="dk1"/>
              </a:solidFill>
              <a:latin typeface="Calibri"/>
              <a:ea typeface="Calibri"/>
              <a:cs typeface="Calibri"/>
              <a:sym typeface="Calibri"/>
            </a:endParaRPr>
          </a:p>
        </p:txBody>
      </p:sp>
      <p:sp>
        <p:nvSpPr>
          <p:cNvPr id="626" name="Google Shape;626;p12"/>
          <p:cNvSpPr/>
          <p:nvPr/>
        </p:nvSpPr>
        <p:spPr>
          <a:xfrm>
            <a:off x="822960" y="2240280"/>
            <a:ext cx="3072384"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60"/>
              <a:buFont typeface="Calibri"/>
              <a:buNone/>
            </a:pPr>
            <a:r>
              <a:rPr b="1" i="0" lang="en-US" sz="1160" u="none" cap="none" strike="noStrike">
                <a:solidFill>
                  <a:srgbClr val="232A46"/>
                </a:solidFill>
                <a:latin typeface="Calibri"/>
                <a:ea typeface="Calibri"/>
                <a:cs typeface="Calibri"/>
                <a:sym typeface="Calibri"/>
              </a:rPr>
              <a:t>Parçalanmış məlumat</a:t>
            </a:r>
            <a:endParaRPr b="0" i="0" sz="1160" u="none" cap="none" strike="noStrike">
              <a:solidFill>
                <a:schemeClr val="dk1"/>
              </a:solidFill>
              <a:latin typeface="Calibri"/>
              <a:ea typeface="Calibri"/>
              <a:cs typeface="Calibri"/>
              <a:sym typeface="Calibri"/>
            </a:endParaRPr>
          </a:p>
        </p:txBody>
      </p:sp>
      <p:sp>
        <p:nvSpPr>
          <p:cNvPr id="627" name="Google Shape;627;p12"/>
          <p:cNvSpPr/>
          <p:nvPr/>
        </p:nvSpPr>
        <p:spPr>
          <a:xfrm>
            <a:off x="822960" y="2478024"/>
            <a:ext cx="3072384"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Excel faylları, WhatsApp və e-mail — vahid mənbə yoxdur</a:t>
            </a:r>
            <a:endParaRPr b="0" i="0" sz="1100" u="none" cap="none" strike="noStrike">
              <a:solidFill>
                <a:schemeClr val="dk1"/>
              </a:solidFill>
              <a:latin typeface="Calibri"/>
              <a:ea typeface="Calibri"/>
              <a:cs typeface="Calibri"/>
              <a:sym typeface="Calibri"/>
            </a:endParaRPr>
          </a:p>
        </p:txBody>
      </p:sp>
      <p:sp>
        <p:nvSpPr>
          <p:cNvPr id="628" name="Google Shape;628;p12"/>
          <p:cNvSpPr/>
          <p:nvPr/>
        </p:nvSpPr>
        <p:spPr>
          <a:xfrm>
            <a:off x="822960" y="3172968"/>
            <a:ext cx="3072384"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60"/>
              <a:buFont typeface="Calibri"/>
              <a:buNone/>
            </a:pPr>
            <a:r>
              <a:rPr b="1" i="0" lang="en-US" sz="1160" u="none" cap="none" strike="noStrike">
                <a:solidFill>
                  <a:srgbClr val="232A46"/>
                </a:solidFill>
                <a:latin typeface="Calibri"/>
                <a:ea typeface="Calibri"/>
                <a:cs typeface="Calibri"/>
                <a:sym typeface="Calibri"/>
              </a:rPr>
              <a:t>Manual validasiya</a:t>
            </a:r>
            <a:endParaRPr b="0" i="0" sz="1160" u="none" cap="none" strike="noStrike">
              <a:solidFill>
                <a:schemeClr val="dk1"/>
              </a:solidFill>
              <a:latin typeface="Calibri"/>
              <a:ea typeface="Calibri"/>
              <a:cs typeface="Calibri"/>
              <a:sym typeface="Calibri"/>
            </a:endParaRPr>
          </a:p>
        </p:txBody>
      </p:sp>
      <p:sp>
        <p:nvSpPr>
          <p:cNvPr id="629" name="Google Shape;629;p12"/>
          <p:cNvSpPr/>
          <p:nvPr/>
        </p:nvSpPr>
        <p:spPr>
          <a:xfrm>
            <a:off x="822960" y="3410712"/>
            <a:ext cx="3072384"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Capacity və prerequisite əl ilə yoxlanılır</a:t>
            </a:r>
            <a:endParaRPr b="0" i="0" sz="1100" u="none" cap="none" strike="noStrike">
              <a:solidFill>
                <a:schemeClr val="dk1"/>
              </a:solidFill>
              <a:latin typeface="Calibri"/>
              <a:ea typeface="Calibri"/>
              <a:cs typeface="Calibri"/>
              <a:sym typeface="Calibri"/>
            </a:endParaRPr>
          </a:p>
        </p:txBody>
      </p:sp>
      <p:sp>
        <p:nvSpPr>
          <p:cNvPr id="630" name="Google Shape;630;p12"/>
          <p:cNvSpPr/>
          <p:nvPr/>
        </p:nvSpPr>
        <p:spPr>
          <a:xfrm>
            <a:off x="822960" y="4105656"/>
            <a:ext cx="3072384"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60"/>
              <a:buFont typeface="Calibri"/>
              <a:buNone/>
            </a:pPr>
            <a:r>
              <a:rPr b="1" i="0" lang="en-US" sz="1160" u="none" cap="none" strike="noStrike">
                <a:solidFill>
                  <a:srgbClr val="232A46"/>
                </a:solidFill>
                <a:latin typeface="Calibri"/>
                <a:ea typeface="Calibri"/>
                <a:cs typeface="Calibri"/>
                <a:sym typeface="Calibri"/>
              </a:rPr>
              <a:t>Manual sertifikatlaşdırma</a:t>
            </a:r>
            <a:endParaRPr b="0" i="0" sz="1160" u="none" cap="none" strike="noStrike">
              <a:solidFill>
                <a:schemeClr val="dk1"/>
              </a:solidFill>
              <a:latin typeface="Calibri"/>
              <a:ea typeface="Calibri"/>
              <a:cs typeface="Calibri"/>
              <a:sym typeface="Calibri"/>
            </a:endParaRPr>
          </a:p>
        </p:txBody>
      </p:sp>
      <p:sp>
        <p:nvSpPr>
          <p:cNvPr id="631" name="Google Shape;631;p12"/>
          <p:cNvSpPr/>
          <p:nvPr/>
        </p:nvSpPr>
        <p:spPr>
          <a:xfrm>
            <a:off x="822960" y="4343400"/>
            <a:ext cx="3072384"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Uyğunluq fayllar müqayisə edilərək hesablanır</a:t>
            </a:r>
            <a:endParaRPr b="0" i="0" sz="1100" u="none" cap="none" strike="noStrike">
              <a:solidFill>
                <a:schemeClr val="dk1"/>
              </a:solidFill>
              <a:latin typeface="Calibri"/>
              <a:ea typeface="Calibri"/>
              <a:cs typeface="Calibri"/>
              <a:sym typeface="Calibri"/>
            </a:endParaRPr>
          </a:p>
        </p:txBody>
      </p:sp>
      <p:sp>
        <p:nvSpPr>
          <p:cNvPr id="632" name="Google Shape;632;p12"/>
          <p:cNvSpPr/>
          <p:nvPr/>
        </p:nvSpPr>
        <p:spPr>
          <a:xfrm>
            <a:off x="822960" y="5038344"/>
            <a:ext cx="3072384"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2A46"/>
              </a:buClr>
              <a:buSzPts val="960"/>
              <a:buFont typeface="Calibri"/>
              <a:buNone/>
            </a:pPr>
            <a:r>
              <a:rPr b="1" i="0" lang="en-US" sz="1160" u="none" cap="none" strike="noStrike">
                <a:solidFill>
                  <a:srgbClr val="232A46"/>
                </a:solidFill>
                <a:latin typeface="Calibri"/>
                <a:ea typeface="Calibri"/>
                <a:cs typeface="Calibri"/>
                <a:sym typeface="Calibri"/>
              </a:rPr>
              <a:t>Status görünürlüyü yoxdur</a:t>
            </a:r>
            <a:endParaRPr b="0" i="0" sz="1160" u="none" cap="none" strike="noStrike">
              <a:solidFill>
                <a:schemeClr val="dk1"/>
              </a:solidFill>
              <a:latin typeface="Calibri"/>
              <a:ea typeface="Calibri"/>
              <a:cs typeface="Calibri"/>
              <a:sym typeface="Calibri"/>
            </a:endParaRPr>
          </a:p>
        </p:txBody>
      </p:sp>
      <p:sp>
        <p:nvSpPr>
          <p:cNvPr id="633" name="Google Shape;633;p12"/>
          <p:cNvSpPr/>
          <p:nvPr/>
        </p:nvSpPr>
        <p:spPr>
          <a:xfrm>
            <a:off x="822960" y="5276088"/>
            <a:ext cx="3072384"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Tələbə hər məlumat üçün administratora müraciət edir</a:t>
            </a:r>
            <a:endParaRPr b="0" i="0" sz="1100" u="none" cap="none" strike="noStrike">
              <a:solidFill>
                <a:schemeClr val="dk1"/>
              </a:solidFill>
              <a:latin typeface="Calibri"/>
              <a:ea typeface="Calibri"/>
              <a:cs typeface="Calibri"/>
              <a:sym typeface="Calibri"/>
            </a:endParaRPr>
          </a:p>
        </p:txBody>
      </p:sp>
      <p:sp>
        <p:nvSpPr>
          <p:cNvPr id="634" name="Google Shape;634;p12"/>
          <p:cNvSpPr/>
          <p:nvPr/>
        </p:nvSpPr>
        <p:spPr>
          <a:xfrm>
            <a:off x="4361688"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5" name="Google Shape;635;p12"/>
          <p:cNvSpPr/>
          <p:nvPr/>
        </p:nvSpPr>
        <p:spPr>
          <a:xfrm>
            <a:off x="4544568"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After</a:t>
            </a:r>
            <a:endParaRPr b="0" i="0" sz="1250" u="none" cap="none" strike="noStrike">
              <a:solidFill>
                <a:schemeClr val="dk1"/>
              </a:solidFill>
              <a:latin typeface="Calibri"/>
              <a:ea typeface="Calibri"/>
              <a:cs typeface="Calibri"/>
              <a:sym typeface="Calibri"/>
            </a:endParaRPr>
          </a:p>
        </p:txBody>
      </p:sp>
      <p:sp>
        <p:nvSpPr>
          <p:cNvPr id="636" name="Google Shape;636;p12"/>
          <p:cNvSpPr/>
          <p:nvPr/>
        </p:nvSpPr>
        <p:spPr>
          <a:xfrm>
            <a:off x="4544568" y="1856232"/>
            <a:ext cx="786384" cy="210312"/>
          </a:xfrm>
          <a:prstGeom prst="roundRect">
            <a:avLst>
              <a:gd fmla="val 21739" name="adj"/>
            </a:avLst>
          </a:prstGeom>
          <a:solidFill>
            <a:srgbClr val="F2F5FB"/>
          </a:solidFill>
          <a:ln cap="flat" cmpd="sng" w="12700">
            <a:solidFill>
              <a:srgbClr val="DDE4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7" name="Google Shape;637;p12"/>
          <p:cNvSpPr/>
          <p:nvPr/>
        </p:nvSpPr>
        <p:spPr>
          <a:xfrm>
            <a:off x="4544568" y="1856232"/>
            <a:ext cx="786384"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4FD0"/>
              </a:buClr>
              <a:buSzPts val="760"/>
              <a:buFont typeface="Calibri"/>
              <a:buNone/>
            </a:pPr>
            <a:r>
              <a:rPr b="1" i="0" lang="en-US" sz="960" u="none" cap="none" strike="noStrike">
                <a:solidFill>
                  <a:srgbClr val="1E4FD0"/>
                </a:solidFill>
                <a:latin typeface="Calibri"/>
                <a:ea typeface="Calibri"/>
                <a:cs typeface="Calibri"/>
                <a:sym typeface="Calibri"/>
              </a:rPr>
              <a:t>TO-BE</a:t>
            </a:r>
            <a:endParaRPr b="0" i="0" sz="960" u="none" cap="none" strike="noStrike">
              <a:solidFill>
                <a:schemeClr val="dk1"/>
              </a:solidFill>
              <a:latin typeface="Calibri"/>
              <a:ea typeface="Calibri"/>
              <a:cs typeface="Calibri"/>
              <a:sym typeface="Calibri"/>
            </a:endParaRPr>
          </a:p>
        </p:txBody>
      </p:sp>
      <p:sp>
        <p:nvSpPr>
          <p:cNvPr id="638" name="Google Shape;638;p12"/>
          <p:cNvSpPr/>
          <p:nvPr/>
        </p:nvSpPr>
        <p:spPr>
          <a:xfrm>
            <a:off x="4544568" y="2240280"/>
            <a:ext cx="3072384"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4FD0"/>
              </a:buClr>
              <a:buSzPts val="960"/>
              <a:buFont typeface="Calibri"/>
              <a:buNone/>
            </a:pPr>
            <a:r>
              <a:rPr b="1" i="0" lang="en-US" sz="1160" u="none" cap="none" strike="noStrike">
                <a:solidFill>
                  <a:srgbClr val="1E4FD0"/>
                </a:solidFill>
                <a:latin typeface="Calibri"/>
                <a:ea typeface="Calibri"/>
                <a:cs typeface="Calibri"/>
                <a:sym typeface="Calibri"/>
              </a:rPr>
              <a:t>Vahid məlumat bazası</a:t>
            </a:r>
            <a:endParaRPr b="0" i="0" sz="1160" u="none" cap="none" strike="noStrike">
              <a:solidFill>
                <a:schemeClr val="dk1"/>
              </a:solidFill>
              <a:latin typeface="Calibri"/>
              <a:ea typeface="Calibri"/>
              <a:cs typeface="Calibri"/>
              <a:sym typeface="Calibri"/>
            </a:endParaRPr>
          </a:p>
        </p:txBody>
      </p:sp>
      <p:sp>
        <p:nvSpPr>
          <p:cNvPr id="639" name="Google Shape;639;p12"/>
          <p:cNvSpPr/>
          <p:nvPr/>
        </p:nvSpPr>
        <p:spPr>
          <a:xfrm>
            <a:off x="4544568" y="2478024"/>
            <a:ext cx="3072384"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Bütün proseslər mərkəzləşdirilmiş relational bazada</a:t>
            </a:r>
            <a:endParaRPr b="0" i="0" sz="1100" u="none" cap="none" strike="noStrike">
              <a:solidFill>
                <a:schemeClr val="dk1"/>
              </a:solidFill>
              <a:latin typeface="Calibri"/>
              <a:ea typeface="Calibri"/>
              <a:cs typeface="Calibri"/>
              <a:sym typeface="Calibri"/>
            </a:endParaRPr>
          </a:p>
        </p:txBody>
      </p:sp>
      <p:sp>
        <p:nvSpPr>
          <p:cNvPr id="640" name="Google Shape;640;p12"/>
          <p:cNvSpPr/>
          <p:nvPr/>
        </p:nvSpPr>
        <p:spPr>
          <a:xfrm>
            <a:off x="4544568" y="3172968"/>
            <a:ext cx="3072384"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4FD0"/>
              </a:buClr>
              <a:buSzPts val="960"/>
              <a:buFont typeface="Calibri"/>
              <a:buNone/>
            </a:pPr>
            <a:r>
              <a:rPr b="1" i="0" lang="en-US" sz="1160" u="none" cap="none" strike="noStrike">
                <a:solidFill>
                  <a:srgbClr val="1E4FD0"/>
                </a:solidFill>
                <a:latin typeface="Calibri"/>
                <a:ea typeface="Calibri"/>
                <a:cs typeface="Calibri"/>
                <a:sym typeface="Calibri"/>
              </a:rPr>
              <a:t>Avtomatik validasiya</a:t>
            </a:r>
            <a:endParaRPr b="0" i="0" sz="1160" u="none" cap="none" strike="noStrike">
              <a:solidFill>
                <a:schemeClr val="dk1"/>
              </a:solidFill>
              <a:latin typeface="Calibri"/>
              <a:ea typeface="Calibri"/>
              <a:cs typeface="Calibri"/>
              <a:sym typeface="Calibri"/>
            </a:endParaRPr>
          </a:p>
        </p:txBody>
      </p:sp>
      <p:sp>
        <p:nvSpPr>
          <p:cNvPr id="641" name="Google Shape;641;p12"/>
          <p:cNvSpPr/>
          <p:nvPr/>
        </p:nvSpPr>
        <p:spPr>
          <a:xfrm>
            <a:off x="4544568" y="3410712"/>
            <a:ext cx="3072384"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Registration window, capacity, duplicate və prerequisite</a:t>
            </a:r>
            <a:endParaRPr b="0" i="0" sz="1100" u="none" cap="none" strike="noStrike">
              <a:solidFill>
                <a:schemeClr val="dk1"/>
              </a:solidFill>
              <a:latin typeface="Calibri"/>
              <a:ea typeface="Calibri"/>
              <a:cs typeface="Calibri"/>
              <a:sym typeface="Calibri"/>
            </a:endParaRPr>
          </a:p>
        </p:txBody>
      </p:sp>
      <p:sp>
        <p:nvSpPr>
          <p:cNvPr id="642" name="Google Shape;642;p12"/>
          <p:cNvSpPr/>
          <p:nvPr/>
        </p:nvSpPr>
        <p:spPr>
          <a:xfrm>
            <a:off x="4544568" y="4105656"/>
            <a:ext cx="3072384"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4FD0"/>
              </a:buClr>
              <a:buSzPts val="960"/>
              <a:buFont typeface="Calibri"/>
              <a:buNone/>
            </a:pPr>
            <a:r>
              <a:rPr b="1" i="0" lang="en-US" sz="1160" u="none" cap="none" strike="noStrike">
                <a:solidFill>
                  <a:srgbClr val="1E4FD0"/>
                </a:solidFill>
                <a:latin typeface="Calibri"/>
                <a:ea typeface="Calibri"/>
                <a:cs typeface="Calibri"/>
                <a:sym typeface="Calibri"/>
              </a:rPr>
              <a:t>Avtomatik sertifikatlaşdırma</a:t>
            </a:r>
            <a:endParaRPr b="0" i="0" sz="1160" u="none" cap="none" strike="noStrike">
              <a:solidFill>
                <a:schemeClr val="dk1"/>
              </a:solidFill>
              <a:latin typeface="Calibri"/>
              <a:ea typeface="Calibri"/>
              <a:cs typeface="Calibri"/>
              <a:sym typeface="Calibri"/>
            </a:endParaRPr>
          </a:p>
        </p:txBody>
      </p:sp>
      <p:sp>
        <p:nvSpPr>
          <p:cNvPr id="643" name="Google Shape;643;p12"/>
          <p:cNvSpPr/>
          <p:nvPr/>
        </p:nvSpPr>
        <p:spPr>
          <a:xfrm>
            <a:off x="4544568" y="4343400"/>
            <a:ext cx="3072384"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Eligibility hesablanır, e-certificate verification code ilə verilir</a:t>
            </a:r>
            <a:endParaRPr b="0" i="0" sz="1100" u="none" cap="none" strike="noStrike">
              <a:solidFill>
                <a:schemeClr val="dk1"/>
              </a:solidFill>
              <a:latin typeface="Calibri"/>
              <a:ea typeface="Calibri"/>
              <a:cs typeface="Calibri"/>
              <a:sym typeface="Calibri"/>
            </a:endParaRPr>
          </a:p>
        </p:txBody>
      </p:sp>
      <p:sp>
        <p:nvSpPr>
          <p:cNvPr id="644" name="Google Shape;644;p12"/>
          <p:cNvSpPr/>
          <p:nvPr/>
        </p:nvSpPr>
        <p:spPr>
          <a:xfrm>
            <a:off x="4544568" y="5038344"/>
            <a:ext cx="3072384"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4FD0"/>
              </a:buClr>
              <a:buSzPts val="960"/>
              <a:buFont typeface="Calibri"/>
              <a:buNone/>
            </a:pPr>
            <a:r>
              <a:rPr b="1" i="0" lang="en-US" sz="1160" u="none" cap="none" strike="noStrike">
                <a:solidFill>
                  <a:srgbClr val="1E4FD0"/>
                </a:solidFill>
                <a:latin typeface="Calibri"/>
                <a:ea typeface="Calibri"/>
                <a:cs typeface="Calibri"/>
                <a:sym typeface="Calibri"/>
              </a:rPr>
              <a:t>Self-service tracking</a:t>
            </a:r>
            <a:endParaRPr b="0" i="0" sz="1160" u="none" cap="none" strike="noStrike">
              <a:solidFill>
                <a:schemeClr val="dk1"/>
              </a:solidFill>
              <a:latin typeface="Calibri"/>
              <a:ea typeface="Calibri"/>
              <a:cs typeface="Calibri"/>
              <a:sym typeface="Calibri"/>
            </a:endParaRPr>
          </a:p>
        </p:txBody>
      </p:sp>
      <p:sp>
        <p:nvSpPr>
          <p:cNvPr id="645" name="Google Shape;645;p12"/>
          <p:cNvSpPr/>
          <p:nvPr/>
        </p:nvSpPr>
        <p:spPr>
          <a:xfrm>
            <a:off x="4544568" y="5276088"/>
            <a:ext cx="3072384"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480"/>
              </a:buClr>
              <a:buSzPts val="900"/>
              <a:buFont typeface="Calibri"/>
              <a:buNone/>
            </a:pPr>
            <a:r>
              <a:rPr b="0" i="0" lang="en-US" sz="1100" u="none" cap="none" strike="noStrike">
                <a:solidFill>
                  <a:srgbClr val="6E7480"/>
                </a:solidFill>
                <a:latin typeface="Calibri"/>
                <a:ea typeface="Calibri"/>
                <a:cs typeface="Calibri"/>
                <a:sym typeface="Calibri"/>
              </a:rPr>
              <a:t>Tələbə enrollment, attendance, nəticə və sertifikatı özü izləyir</a:t>
            </a:r>
            <a:endParaRPr b="0" i="0" sz="1100" u="none" cap="none" strike="noStrike">
              <a:solidFill>
                <a:schemeClr val="dk1"/>
              </a:solidFill>
              <a:latin typeface="Calibri"/>
              <a:ea typeface="Calibri"/>
              <a:cs typeface="Calibri"/>
              <a:sym typeface="Calibri"/>
            </a:endParaRPr>
          </a:p>
        </p:txBody>
      </p:sp>
      <p:sp>
        <p:nvSpPr>
          <p:cNvPr id="646" name="Google Shape;646;p12"/>
          <p:cNvSpPr/>
          <p:nvPr/>
        </p:nvSpPr>
        <p:spPr>
          <a:xfrm>
            <a:off x="8083296" y="1417320"/>
            <a:ext cx="3456432" cy="4526280"/>
          </a:xfrm>
          <a:prstGeom prst="roundRect">
            <a:avLst>
              <a:gd fmla="val 1852" name="adj"/>
            </a:avLst>
          </a:prstGeom>
          <a:solidFill>
            <a:srgbClr val="FFFFFF"/>
          </a:solidFill>
          <a:ln cap="flat" cmpd="sng" w="12700">
            <a:solidFill>
              <a:srgbClr val="E4E7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7" name="Google Shape;647;p12"/>
          <p:cNvSpPr/>
          <p:nvPr/>
        </p:nvSpPr>
        <p:spPr>
          <a:xfrm>
            <a:off x="8266176" y="1545336"/>
            <a:ext cx="30906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A46"/>
              </a:buClr>
              <a:buSzPts val="1050"/>
              <a:buFont typeface="Arial"/>
              <a:buNone/>
            </a:pPr>
            <a:r>
              <a:rPr b="1" i="0" lang="en-US" sz="1250" u="none" cap="none" strike="noStrike">
                <a:solidFill>
                  <a:srgbClr val="232A46"/>
                </a:solidFill>
                <a:latin typeface="Arial"/>
                <a:ea typeface="Arial"/>
                <a:cs typeface="Arial"/>
                <a:sym typeface="Arial"/>
              </a:rPr>
              <a:t>Business Value</a:t>
            </a:r>
            <a:endParaRPr b="0" i="0" sz="1250" u="none" cap="none" strike="noStrike">
              <a:solidFill>
                <a:schemeClr val="dk1"/>
              </a:solidFill>
              <a:latin typeface="Calibri"/>
              <a:ea typeface="Calibri"/>
              <a:cs typeface="Calibri"/>
              <a:sym typeface="Calibri"/>
            </a:endParaRPr>
          </a:p>
        </p:txBody>
      </p:sp>
      <p:sp>
        <p:nvSpPr>
          <p:cNvPr id="648" name="Google Shape;648;p12"/>
          <p:cNvSpPr/>
          <p:nvPr/>
        </p:nvSpPr>
        <p:spPr>
          <a:xfrm>
            <a:off x="8266176" y="1892808"/>
            <a:ext cx="3072384" cy="2560320"/>
          </a:xfrm>
          <a:prstGeom prst="rect">
            <a:avLst/>
          </a:prstGeom>
          <a:noFill/>
          <a:ln>
            <a:noFill/>
          </a:ln>
        </p:spPr>
        <p:txBody>
          <a:bodyPr anchorCtr="0" anchor="t" bIns="0" lIns="0" spcFirstLastPara="1" rIns="0" wrap="square" tIns="0">
            <a:noAutofit/>
          </a:bodyPr>
          <a:lstStyle/>
          <a:p>
            <a:pPr indent="-152400" lvl="0" marL="152400" marR="0" rtl="0" algn="l">
              <a:lnSpc>
                <a:spcPct val="100000"/>
              </a:lnSpc>
              <a:spcBef>
                <a:spcPts val="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Manual əməliyyat həcminin və məlumat təkrarlarının azalması</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6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Qeydiyyat və sertifikatlaşdırma proseslərinin sürətlənməsi</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6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Biznes qaydalarına uyğunluğun sistem səviyyəsində təmin olunması</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6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İnsan səhvi riskinin azalması</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6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Vahid məlumat bazası və proses şəffaflığı</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6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Tələbə üçün self-service çıxış və real vaxt statusu</a:t>
            </a:r>
            <a:endParaRPr b="0" i="0" sz="1140" u="none" cap="none" strike="noStrike">
              <a:solidFill>
                <a:schemeClr val="dk1"/>
              </a:solidFill>
              <a:latin typeface="Calibri"/>
              <a:ea typeface="Calibri"/>
              <a:cs typeface="Calibri"/>
              <a:sym typeface="Calibri"/>
            </a:endParaRPr>
          </a:p>
          <a:p>
            <a:pPr indent="-152400" lvl="0" marL="152400" marR="0" rtl="0" algn="l">
              <a:lnSpc>
                <a:spcPct val="100000"/>
              </a:lnSpc>
              <a:spcBef>
                <a:spcPts val="600"/>
              </a:spcBef>
              <a:spcAft>
                <a:spcPts val="0"/>
              </a:spcAft>
              <a:buClr>
                <a:srgbClr val="6E7480"/>
              </a:buClr>
              <a:buSzPts val="1139"/>
              <a:buFont typeface="Calibri"/>
              <a:buChar char="•"/>
            </a:pPr>
            <a:r>
              <a:rPr b="0" i="0" lang="en-US" sz="1140" u="none" cap="none" strike="noStrike">
                <a:solidFill>
                  <a:srgbClr val="6E7480"/>
                </a:solidFill>
                <a:latin typeface="Calibri"/>
                <a:ea typeface="Calibri"/>
                <a:cs typeface="Calibri"/>
                <a:sym typeface="Calibri"/>
              </a:rPr>
              <a:t>Audit imkanının artması və hesabatların sürətlənməsi</a:t>
            </a:r>
            <a:endParaRPr b="0" i="0" sz="1140" u="none" cap="none" strike="noStrike">
              <a:solidFill>
                <a:schemeClr val="dk1"/>
              </a:solidFill>
              <a:latin typeface="Calibri"/>
              <a:ea typeface="Calibri"/>
              <a:cs typeface="Calibri"/>
              <a:sym typeface="Calibri"/>
            </a:endParaRPr>
          </a:p>
        </p:txBody>
      </p:sp>
      <p:sp>
        <p:nvSpPr>
          <p:cNvPr id="649" name="Google Shape;649;p12"/>
          <p:cNvSpPr/>
          <p:nvPr/>
        </p:nvSpPr>
        <p:spPr>
          <a:xfrm>
            <a:off x="8266176" y="4581144"/>
            <a:ext cx="3072384" cy="1097280"/>
          </a:xfrm>
          <a:prstGeom prst="roundRect">
            <a:avLst>
              <a:gd fmla="val 5000" name="adj"/>
            </a:avLst>
          </a:prstGeom>
          <a:solidFill>
            <a:srgbClr val="232A46"/>
          </a:solidFill>
          <a:ln cap="flat" cmpd="sng" w="12700">
            <a:solidFill>
              <a:srgbClr val="232A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0" name="Google Shape;650;p12"/>
          <p:cNvSpPr/>
          <p:nvPr/>
        </p:nvSpPr>
        <p:spPr>
          <a:xfrm>
            <a:off x="8430768" y="4581144"/>
            <a:ext cx="2743200" cy="10972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FFFFFF"/>
              </a:buClr>
              <a:buSzPts val="980"/>
              <a:buFont typeface="Calibri"/>
              <a:buNone/>
            </a:pPr>
            <a:r>
              <a:rPr b="1" i="0" lang="en-US" sz="1180" u="none" cap="none" strike="noStrike">
                <a:solidFill>
                  <a:srgbClr val="FFFFFF"/>
                </a:solidFill>
                <a:latin typeface="Calibri"/>
                <a:ea typeface="Calibri"/>
                <a:cs typeface="Calibri"/>
                <a:sym typeface="Calibri"/>
              </a:rPr>
              <a:t>SmartEdu parçalanmış manual kurs idarəetməsini mərkəzləşdirilmiş, avtomatlaşdırılmış və izlənilə bilən rəqəmsal platformaya çevirir.</a:t>
            </a:r>
            <a:endParaRPr b="0" i="0" sz="1180" u="none" cap="none" strike="noStrike">
              <a:solidFill>
                <a:schemeClr val="dk1"/>
              </a:solidFill>
              <a:latin typeface="Calibri"/>
              <a:ea typeface="Calibri"/>
              <a:cs typeface="Calibri"/>
              <a:sym typeface="Calibri"/>
            </a:endParaRPr>
          </a:p>
        </p:txBody>
      </p:sp>
      <p:sp>
        <p:nvSpPr>
          <p:cNvPr id="651" name="Google Shape;651;p12"/>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12"/>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653" name="Google Shape;653;p12"/>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12</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F"/>
        </a:solidFill>
      </p:bgPr>
    </p:bg>
    <p:spTree>
      <p:nvGrpSpPr>
        <p:cNvPr id="658" name="Shape 658"/>
        <p:cNvGrpSpPr/>
        <p:nvPr/>
      </p:nvGrpSpPr>
      <p:grpSpPr>
        <a:xfrm>
          <a:off x="0" y="0"/>
          <a:ext cx="0" cy="0"/>
          <a:chOff x="0" y="0"/>
          <a:chExt cx="0" cy="0"/>
        </a:xfrm>
      </p:grpSpPr>
      <p:sp>
        <p:nvSpPr>
          <p:cNvPr id="659" name="Google Shape;659;p13"/>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3"/>
          <p:cNvSpPr/>
          <p:nvPr/>
        </p:nvSpPr>
        <p:spPr>
          <a:xfrm>
            <a:off x="0" y="0"/>
            <a:ext cx="12191695" cy="13716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13"/>
          <p:cNvSpPr/>
          <p:nvPr/>
        </p:nvSpPr>
        <p:spPr>
          <a:xfrm>
            <a:off x="0" y="2514600"/>
            <a:ext cx="12191695"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A46"/>
              </a:buClr>
              <a:buSzPts val="4600"/>
              <a:buFont typeface="Arial"/>
              <a:buNone/>
            </a:pPr>
            <a:r>
              <a:rPr b="1" i="0" lang="en-US" sz="4600" u="none" cap="none" strike="noStrike">
                <a:solidFill>
                  <a:srgbClr val="232A46"/>
                </a:solidFill>
                <a:latin typeface="Arial"/>
                <a:ea typeface="Arial"/>
                <a:cs typeface="Arial"/>
                <a:sym typeface="Arial"/>
              </a:rPr>
              <a:t>Q &amp; A</a:t>
            </a:r>
            <a:endParaRPr b="0" i="0" sz="4600" u="none" cap="none" strike="noStrike">
              <a:solidFill>
                <a:schemeClr val="dk1"/>
              </a:solidFill>
              <a:latin typeface="Calibri"/>
              <a:ea typeface="Calibri"/>
              <a:cs typeface="Calibri"/>
              <a:sym typeface="Calibri"/>
            </a:endParaRPr>
          </a:p>
        </p:txBody>
      </p:sp>
      <p:sp>
        <p:nvSpPr>
          <p:cNvPr id="662" name="Google Shape;662;p13"/>
          <p:cNvSpPr/>
          <p:nvPr/>
        </p:nvSpPr>
        <p:spPr>
          <a:xfrm>
            <a:off x="0" y="3474720"/>
            <a:ext cx="12191695"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6BF0"/>
              </a:buClr>
              <a:buSzPts val="1500"/>
              <a:buFont typeface="Calibri"/>
              <a:buNone/>
            </a:pPr>
            <a:r>
              <a:rPr b="0" i="0" lang="en-US" sz="1500" u="none" cap="none" strike="noStrike">
                <a:solidFill>
                  <a:srgbClr val="7C6BF0"/>
                </a:solidFill>
                <a:latin typeface="Calibri"/>
                <a:ea typeface="Calibri"/>
                <a:cs typeface="Calibri"/>
                <a:sym typeface="Calibri"/>
              </a:rPr>
              <a:t>SmartEdu — Digital Course &amp; Certification Management Platform</a:t>
            </a:r>
            <a:endParaRPr b="0" i="0" sz="1500" u="none" cap="none" strike="noStrike">
              <a:solidFill>
                <a:schemeClr val="dk1"/>
              </a:solidFill>
              <a:latin typeface="Calibri"/>
              <a:ea typeface="Calibri"/>
              <a:cs typeface="Calibri"/>
              <a:sym typeface="Calibri"/>
            </a:endParaRPr>
          </a:p>
        </p:txBody>
      </p:sp>
      <p:sp>
        <p:nvSpPr>
          <p:cNvPr id="663" name="Google Shape;663;p13"/>
          <p:cNvSpPr/>
          <p:nvPr/>
        </p:nvSpPr>
        <p:spPr>
          <a:xfrm>
            <a:off x="0" y="3931920"/>
            <a:ext cx="12191695"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909C"/>
              </a:buClr>
              <a:buSzPts val="1150"/>
              <a:buFont typeface="Calibri"/>
              <a:buNone/>
            </a:pPr>
            <a:r>
              <a:rPr b="0" i="0" lang="en-US" sz="1150" u="none" cap="none" strike="noStrike">
                <a:solidFill>
                  <a:srgbClr val="8B909C"/>
                </a:solidFill>
                <a:latin typeface="Calibri"/>
                <a:ea typeface="Calibri"/>
                <a:cs typeface="Calibri"/>
                <a:sym typeface="Calibri"/>
              </a:rPr>
              <a:t>Elmira Məmmədzadə  ·  Aysel Abbasəliyeva  ·  Vüsalə Həsənzadə  ·  Alimə Kərimova</a:t>
            </a:r>
            <a:endParaRPr b="0" i="0" sz="1150" u="none" cap="none" strike="noStrike">
              <a:solidFill>
                <a:schemeClr val="dk1"/>
              </a:solidFill>
              <a:latin typeface="Calibri"/>
              <a:ea typeface="Calibri"/>
              <a:cs typeface="Calibri"/>
              <a:sym typeface="Calibri"/>
            </a:endParaRPr>
          </a:p>
        </p:txBody>
      </p:sp>
      <p:sp>
        <p:nvSpPr>
          <p:cNvPr id="664" name="Google Shape;664;p13"/>
          <p:cNvSpPr/>
          <p:nvPr/>
        </p:nvSpPr>
        <p:spPr>
          <a:xfrm>
            <a:off x="512064" y="6419088"/>
            <a:ext cx="11167567" cy="10973"/>
          </a:xfrm>
          <a:prstGeom prst="rect">
            <a:avLst/>
          </a:prstGeom>
          <a:solidFill>
            <a:srgbClr val="D9DADE"/>
          </a:solidFill>
          <a:ln cap="flat" cmpd="sng" w="12700">
            <a:solidFill>
              <a:srgbClr val="D9DA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13"/>
          <p:cNvSpPr/>
          <p:nvPr/>
        </p:nvSpPr>
        <p:spPr>
          <a:xfrm>
            <a:off x="640080" y="6492240"/>
            <a:ext cx="6400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SmartEdu — ITBA Final Project Defense</a:t>
            </a:r>
            <a:endParaRPr b="0" i="0" sz="850" u="none" cap="none" strike="noStrike">
              <a:solidFill>
                <a:schemeClr val="dk1"/>
              </a:solidFill>
              <a:latin typeface="Calibri"/>
              <a:ea typeface="Calibri"/>
              <a:cs typeface="Calibri"/>
              <a:sym typeface="Calibri"/>
            </a:endParaRPr>
          </a:p>
        </p:txBody>
      </p:sp>
      <p:sp>
        <p:nvSpPr>
          <p:cNvPr id="666" name="Google Shape;666;p13"/>
          <p:cNvSpPr/>
          <p:nvPr/>
        </p:nvSpPr>
        <p:spPr>
          <a:xfrm>
            <a:off x="10820095" y="6492240"/>
            <a:ext cx="73152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A4"/>
              </a:buClr>
              <a:buSzPts val="850"/>
              <a:buFont typeface="Calibri"/>
              <a:buNone/>
            </a:pPr>
            <a:r>
              <a:rPr b="0" i="0" lang="en-US" sz="850" u="none" cap="none" strike="noStrike">
                <a:solidFill>
                  <a:srgbClr val="9A9AA4"/>
                </a:solidFill>
                <a:latin typeface="Calibri"/>
                <a:ea typeface="Calibri"/>
                <a:cs typeface="Calibri"/>
                <a:sym typeface="Calibri"/>
              </a:rPr>
              <a:t>13</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2026-08-16T09:35:33Z</dcterms:created>
  <dc:creator>SmartEdu Project Team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1033-12.1.26035.26035</vt:lpwstr>
  </property>
  <property fmtid="{D5CDD505-2E9C-101B-9397-08002B2CF9AE}" pid="3" name="ICV">
    <vt:lpwstr>D886FC651C481E7E6584816AAA23B593_42</vt:lpwstr>
  </property>
</Properties>
</file>